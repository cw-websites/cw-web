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6" r:id="rId5"/>
    <p:sldId id="261" r:id="rId6"/>
    <p:sldId id="267" r:id="rId7"/>
    <p:sldId id="262" r:id="rId8"/>
    <p:sldId id="268" r:id="rId9"/>
    <p:sldId id="264" r:id="rId10"/>
    <p:sldId id="269" r:id="rId11"/>
    <p:sldId id="259" r:id="rId12"/>
    <p:sldId id="265"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072E"/>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75" d="100"/>
          <a:sy n="75" d="100"/>
        </p:scale>
        <p:origin x="85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3FCC1-36C3-8F5F-A2E9-3BC0E112AF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A094B8-DEBF-9F30-0248-2079843260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2373B6-5A88-3101-36ED-BE21BAEEAEEA}"/>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84A9536B-E709-5C4A-89F0-D0E16A9E33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9F65E-296F-C756-0CB0-BDBAD6FC00DC}"/>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2220420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99F08-96F4-F971-8B6B-F3CC4B6C9D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5EED5C-FA0E-D559-26C7-CFDB284C16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4A768B-29C3-364F-EC61-5608247813F2}"/>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FBE14D58-EBD9-0420-EDC5-C2C4371C4E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C6E5E-9CBB-BC0C-BB8C-0B92D7D24E44}"/>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1241319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A4025-0846-E445-EACA-296CC059FD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3567AE-EF1E-483D-0D34-095B9E6280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5AD04C-570D-4B77-C3EE-E681B989C695}"/>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3B2EC635-AFE5-6686-9955-1B00551A88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563562-9C5C-EE77-099B-343301BCB39E}"/>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557206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4EAB-F196-A31D-039E-358B6B260D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E725C-8DC4-FCD0-DABA-91F520F554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BF0F90-F178-C40C-755F-10F159A3E3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8A8331-B360-9756-1740-47B8195E031B}"/>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6" name="Footer Placeholder 5">
            <a:extLst>
              <a:ext uri="{FF2B5EF4-FFF2-40B4-BE49-F238E27FC236}">
                <a16:creationId xmlns:a16="http://schemas.microsoft.com/office/drawing/2014/main" id="{F8BACBCC-59D0-D5CD-04A8-43CB5C9BEA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C6E972-0098-CFEE-6B3D-EEBCB9A55AA2}"/>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195017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67F2-8195-BA81-AB08-422AB18A11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7ED8C2-06DD-319B-6172-C88F07178E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42497A-8497-2117-F006-11360A2D1C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AF7A0F-C4D3-9AF6-B11F-CAC24D9475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82D186-3561-BC47-8C45-9061CED7A2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79FD08-5081-A253-E505-B60D2D78DDD3}"/>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8" name="Footer Placeholder 7">
            <a:extLst>
              <a:ext uri="{FF2B5EF4-FFF2-40B4-BE49-F238E27FC236}">
                <a16:creationId xmlns:a16="http://schemas.microsoft.com/office/drawing/2014/main" id="{0FC41223-2B43-FE78-CBA5-D4A76587BD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DCEA3D-D885-C011-9DF0-77CAEC369BE6}"/>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3965400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DCFA8-7F1E-C219-06A4-9FB78DE6D9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619F88-0D1E-F8D4-F0F1-4D10CCA0F01B}"/>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4" name="Footer Placeholder 3">
            <a:extLst>
              <a:ext uri="{FF2B5EF4-FFF2-40B4-BE49-F238E27FC236}">
                <a16:creationId xmlns:a16="http://schemas.microsoft.com/office/drawing/2014/main" id="{4E29143B-6DC6-348A-4534-F17FACDD9C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194672-1E64-5E39-BFCA-C9A80D21FF48}"/>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413232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9DB9A-6C4D-372D-D82D-2CC60457BEF7}"/>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3" name="Footer Placeholder 2">
            <a:extLst>
              <a:ext uri="{FF2B5EF4-FFF2-40B4-BE49-F238E27FC236}">
                <a16:creationId xmlns:a16="http://schemas.microsoft.com/office/drawing/2014/main" id="{F1D12E0C-910C-0D9F-B1EC-6E004E0F60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59E1BD-8C59-D466-926C-7F83031607C8}"/>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1270063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44587-D9F7-4E6B-5C2D-FD56F29D8D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F0B906-D213-7AF9-1CC9-63946CF507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FADC9-E22E-ED21-7863-30972EAB31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FC8B30-E8F8-5976-2814-00AFAFA67A81}"/>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6" name="Footer Placeholder 5">
            <a:extLst>
              <a:ext uri="{FF2B5EF4-FFF2-40B4-BE49-F238E27FC236}">
                <a16:creationId xmlns:a16="http://schemas.microsoft.com/office/drawing/2014/main" id="{B1A5B938-3CA1-C9EA-F281-14EC24FD02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D53D3A-7D6C-D757-7FB1-4C4F5A26CCE4}"/>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2620305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B90FD-945D-78E7-EF61-38C592E1CA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5EE2B-2831-FE68-B4E7-F27855382B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CEC64F-C47D-8111-30B0-763A452F2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C46EA3-80A9-2482-2CB9-DC594D7EC729}"/>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6" name="Footer Placeholder 5">
            <a:extLst>
              <a:ext uri="{FF2B5EF4-FFF2-40B4-BE49-F238E27FC236}">
                <a16:creationId xmlns:a16="http://schemas.microsoft.com/office/drawing/2014/main" id="{DDAA08A5-57AD-8B81-2FC2-469339997E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8DDC1C-8C2D-FB7E-C517-06D72435802F}"/>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3199438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809D-4889-7948-8C56-E4527C5205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8E32C3-539E-62C3-DE69-9C6EB5EA52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0E86B-7D57-CCD7-81FE-CFB919FE1006}"/>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D6237891-2CD3-0812-D9DB-FB8B1EB05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80BE11-AC47-77D0-F8B9-507AF426D243}"/>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3195539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9B3A89-72DF-D6C7-6EAF-E0D206DAAB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8B935E-0D9A-5C41-1238-C7A0C795B5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59422C-53DB-80C4-DABE-3ACE7466FA01}"/>
              </a:ext>
            </a:extLst>
          </p:cNvPr>
          <p:cNvSpPr>
            <a:spLocks noGrp="1"/>
          </p:cNvSpPr>
          <p:nvPr>
            <p:ph type="dt" sz="half" idx="10"/>
          </p:nvPr>
        </p:nvSpPr>
        <p:spPr/>
        <p:txBody>
          <a:body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0D1961FC-0D4E-F641-0BE9-AD345CC4E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BA98BC-9963-7F3A-A315-A2C5BDA278D9}"/>
              </a:ext>
            </a:extLst>
          </p:cNvPr>
          <p:cNvSpPr>
            <a:spLocks noGrp="1"/>
          </p:cNvSpPr>
          <p:nvPr>
            <p:ph type="sldNum" sz="quarter" idx="12"/>
          </p:nvPr>
        </p:nvSpPr>
        <p:spPr/>
        <p:txBody>
          <a:bodyPr/>
          <a:lstStyle/>
          <a:p>
            <a:fld id="{488CCF63-9F8E-46AB-81C5-6F9D4FB72EAB}" type="slidenum">
              <a:rPr lang="en-US" smtClean="0"/>
              <a:t>‹#›</a:t>
            </a:fld>
            <a:endParaRPr lang="en-US"/>
          </a:p>
        </p:txBody>
      </p:sp>
    </p:spTree>
    <p:extLst>
      <p:ext uri="{BB962C8B-B14F-4D97-AF65-F5344CB8AC3E}">
        <p14:creationId xmlns:p14="http://schemas.microsoft.com/office/powerpoint/2010/main" val="1641722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D12EA4-0143-FA4A-48D4-3AE95DA899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1770A9-B745-520A-980E-2FD079AB21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FCC785-D10D-C7C8-120A-1788EDC89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F68677-444F-4730-9631-04C5970A7714}" type="datetimeFigureOut">
              <a:rPr lang="en-US" smtClean="0"/>
              <a:t>4/23/2026</a:t>
            </a:fld>
            <a:endParaRPr lang="en-US"/>
          </a:p>
        </p:txBody>
      </p:sp>
      <p:sp>
        <p:nvSpPr>
          <p:cNvPr id="5" name="Footer Placeholder 4">
            <a:extLst>
              <a:ext uri="{FF2B5EF4-FFF2-40B4-BE49-F238E27FC236}">
                <a16:creationId xmlns:a16="http://schemas.microsoft.com/office/drawing/2014/main" id="{D6F24BB4-7F9C-0CFD-BABC-2243ED983D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A89502F-AC52-C35C-AEAC-C967BA4C31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8CCF63-9F8E-46AB-81C5-6F9D4FB72EAB}" type="slidenum">
              <a:rPr lang="en-US" smtClean="0"/>
              <a:t>‹#›</a:t>
            </a:fld>
            <a:endParaRPr lang="en-US"/>
          </a:p>
        </p:txBody>
      </p:sp>
    </p:spTree>
    <p:extLst>
      <p:ext uri="{BB962C8B-B14F-4D97-AF65-F5344CB8AC3E}">
        <p14:creationId xmlns:p14="http://schemas.microsoft.com/office/powerpoint/2010/main" val="1745874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jpeg"/><Relationship Id="rId7" Type="http://schemas.openxmlformats.org/officeDocument/2006/relationships/image" Target="../media/image13.png"/><Relationship Id="rId12"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11.png"/><Relationship Id="rId10"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286;p42">
            <a:extLst>
              <a:ext uri="{FF2B5EF4-FFF2-40B4-BE49-F238E27FC236}">
                <a16:creationId xmlns:a16="http://schemas.microsoft.com/office/drawing/2014/main" id="{F9807DBC-72AA-52CD-CA28-F53FA12DD58E}"/>
              </a:ext>
            </a:extLst>
          </p:cNvPr>
          <p:cNvPicPr preferRelativeResize="0"/>
          <p:nvPr/>
        </p:nvPicPr>
        <p:blipFill rotWithShape="1">
          <a:blip r:embed="rId2">
            <a:alphaModFix/>
          </a:blip>
          <a:srcRect/>
          <a:stretch/>
        </p:blipFill>
        <p:spPr>
          <a:xfrm>
            <a:off x="410994" y="434503"/>
            <a:ext cx="2874524" cy="467314"/>
          </a:xfrm>
          <a:prstGeom prst="rect">
            <a:avLst/>
          </a:prstGeom>
          <a:noFill/>
          <a:ln>
            <a:noFill/>
          </a:ln>
        </p:spPr>
      </p:pic>
      <p:sp>
        <p:nvSpPr>
          <p:cNvPr id="5" name="TextBox 4">
            <a:extLst>
              <a:ext uri="{FF2B5EF4-FFF2-40B4-BE49-F238E27FC236}">
                <a16:creationId xmlns:a16="http://schemas.microsoft.com/office/drawing/2014/main" id="{241799D1-4153-20D8-74FF-6423D9B21A01}"/>
              </a:ext>
            </a:extLst>
          </p:cNvPr>
          <p:cNvSpPr txBox="1"/>
          <p:nvPr/>
        </p:nvSpPr>
        <p:spPr>
          <a:xfrm>
            <a:off x="2708599" y="2348249"/>
            <a:ext cx="6774803" cy="707886"/>
          </a:xfrm>
          <a:prstGeom prst="rect">
            <a:avLst/>
          </a:prstGeom>
          <a:noFill/>
        </p:spPr>
        <p:txBody>
          <a:bodyPr wrap="none" rtlCol="0">
            <a:spAutoFit/>
          </a:bodyPr>
          <a:lstStyle/>
          <a:p>
            <a:r>
              <a:rPr lang="en-US" sz="4000" b="1" dirty="0"/>
              <a:t>Market Optimizing Solutions</a:t>
            </a:r>
          </a:p>
        </p:txBody>
      </p:sp>
      <p:sp>
        <p:nvSpPr>
          <p:cNvPr id="6" name="TextBox 5">
            <a:extLst>
              <a:ext uri="{FF2B5EF4-FFF2-40B4-BE49-F238E27FC236}">
                <a16:creationId xmlns:a16="http://schemas.microsoft.com/office/drawing/2014/main" id="{47357A35-1CAB-2588-ED5B-85754BC79DEB}"/>
              </a:ext>
            </a:extLst>
          </p:cNvPr>
          <p:cNvSpPr txBox="1"/>
          <p:nvPr/>
        </p:nvSpPr>
        <p:spPr>
          <a:xfrm>
            <a:off x="3269008" y="3059668"/>
            <a:ext cx="5653984" cy="369332"/>
          </a:xfrm>
          <a:prstGeom prst="rect">
            <a:avLst/>
          </a:prstGeom>
          <a:noFill/>
        </p:spPr>
        <p:txBody>
          <a:bodyPr wrap="none" rtlCol="0">
            <a:spAutoFit/>
          </a:bodyPr>
          <a:lstStyle/>
          <a:p>
            <a:r>
              <a:rPr lang="en-US" dirty="0"/>
              <a:t>Platforms to scale margin and increase revenue velocity</a:t>
            </a:r>
          </a:p>
        </p:txBody>
      </p:sp>
      <p:sp>
        <p:nvSpPr>
          <p:cNvPr id="12" name="TextBox 11">
            <a:extLst>
              <a:ext uri="{FF2B5EF4-FFF2-40B4-BE49-F238E27FC236}">
                <a16:creationId xmlns:a16="http://schemas.microsoft.com/office/drawing/2014/main" id="{B4D920B3-21E9-91E4-ED9F-A6056A88FF3B}"/>
              </a:ext>
            </a:extLst>
          </p:cNvPr>
          <p:cNvSpPr txBox="1"/>
          <p:nvPr/>
        </p:nvSpPr>
        <p:spPr>
          <a:xfrm>
            <a:off x="7597193" y="563263"/>
            <a:ext cx="4108753" cy="338554"/>
          </a:xfrm>
          <a:prstGeom prst="rect">
            <a:avLst/>
          </a:prstGeom>
          <a:noFill/>
        </p:spPr>
        <p:txBody>
          <a:bodyPr wrap="none" rtlCol="0">
            <a:spAutoFit/>
          </a:bodyPr>
          <a:lstStyle/>
          <a:p>
            <a:r>
              <a:rPr lang="en-US" sz="1600" dirty="0"/>
              <a:t>Capabilities | Platforms | Approach | Contact</a:t>
            </a:r>
          </a:p>
        </p:txBody>
      </p:sp>
      <p:sp>
        <p:nvSpPr>
          <p:cNvPr id="13" name="TextBox 12">
            <a:extLst>
              <a:ext uri="{FF2B5EF4-FFF2-40B4-BE49-F238E27FC236}">
                <a16:creationId xmlns:a16="http://schemas.microsoft.com/office/drawing/2014/main" id="{14B409E7-5C28-E0A8-5A4A-A5367B644389}"/>
              </a:ext>
            </a:extLst>
          </p:cNvPr>
          <p:cNvSpPr txBox="1"/>
          <p:nvPr/>
        </p:nvSpPr>
        <p:spPr>
          <a:xfrm>
            <a:off x="1083062" y="776626"/>
            <a:ext cx="1869423" cy="253916"/>
          </a:xfrm>
          <a:prstGeom prst="rect">
            <a:avLst/>
          </a:prstGeom>
          <a:noFill/>
        </p:spPr>
        <p:txBody>
          <a:bodyPr wrap="square" rtlCol="0">
            <a:spAutoFit/>
          </a:bodyPr>
          <a:lstStyle/>
          <a:p>
            <a:r>
              <a:rPr lang="en-US" sz="1050" dirty="0">
                <a:solidFill>
                  <a:schemeClr val="accent4"/>
                </a:solidFill>
              </a:rPr>
              <a:t>achieve breakthrough results</a:t>
            </a:r>
          </a:p>
        </p:txBody>
      </p:sp>
      <p:sp>
        <p:nvSpPr>
          <p:cNvPr id="14" name="TextBox 13">
            <a:extLst>
              <a:ext uri="{FF2B5EF4-FFF2-40B4-BE49-F238E27FC236}">
                <a16:creationId xmlns:a16="http://schemas.microsoft.com/office/drawing/2014/main" id="{E4BC294A-EB70-2838-1F11-8E9BB82DE902}"/>
              </a:ext>
            </a:extLst>
          </p:cNvPr>
          <p:cNvSpPr txBox="1"/>
          <p:nvPr/>
        </p:nvSpPr>
        <p:spPr>
          <a:xfrm>
            <a:off x="3266091" y="4739054"/>
            <a:ext cx="5659819" cy="307777"/>
          </a:xfrm>
          <a:prstGeom prst="rect">
            <a:avLst/>
          </a:prstGeom>
          <a:noFill/>
        </p:spPr>
        <p:txBody>
          <a:bodyPr wrap="none" rtlCol="0">
            <a:spAutoFit/>
          </a:bodyPr>
          <a:lstStyle/>
          <a:p>
            <a:pPr algn="ctr"/>
            <a:r>
              <a:rPr lang="en-US" sz="1400" dirty="0"/>
              <a:t>Companies | Business Lines | Programs | New Ventures | Whole Markets</a:t>
            </a:r>
          </a:p>
        </p:txBody>
      </p:sp>
    </p:spTree>
    <p:extLst>
      <p:ext uri="{BB962C8B-B14F-4D97-AF65-F5344CB8AC3E}">
        <p14:creationId xmlns:p14="http://schemas.microsoft.com/office/powerpoint/2010/main" val="2210836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85A419-01D5-2B03-9CD2-1198FD5E3423}"/>
              </a:ext>
            </a:extLst>
          </p:cNvPr>
          <p:cNvSpPr txBox="1"/>
          <p:nvPr/>
        </p:nvSpPr>
        <p:spPr>
          <a:xfrm>
            <a:off x="1421939" y="2637699"/>
            <a:ext cx="1552092" cy="369332"/>
          </a:xfrm>
          <a:prstGeom prst="rect">
            <a:avLst/>
          </a:prstGeom>
          <a:noFill/>
        </p:spPr>
        <p:txBody>
          <a:bodyPr wrap="none" rtlCol="0">
            <a:spAutoFit/>
          </a:bodyPr>
          <a:lstStyle/>
          <a:p>
            <a:pPr algn="ctr"/>
            <a:r>
              <a:rPr lang="en-US" dirty="0"/>
              <a:t>Streamlinings</a:t>
            </a:r>
          </a:p>
        </p:txBody>
      </p:sp>
      <p:sp>
        <p:nvSpPr>
          <p:cNvPr id="3" name="TextBox 2">
            <a:extLst>
              <a:ext uri="{FF2B5EF4-FFF2-40B4-BE49-F238E27FC236}">
                <a16:creationId xmlns:a16="http://schemas.microsoft.com/office/drawing/2014/main" id="{EAB6014E-4D92-7F0A-650B-0FC312FCF2E1}"/>
              </a:ext>
            </a:extLst>
          </p:cNvPr>
          <p:cNvSpPr txBox="1"/>
          <p:nvPr/>
        </p:nvSpPr>
        <p:spPr>
          <a:xfrm>
            <a:off x="5173557" y="2637699"/>
            <a:ext cx="1631344" cy="369332"/>
          </a:xfrm>
          <a:prstGeom prst="rect">
            <a:avLst/>
          </a:prstGeom>
          <a:noFill/>
        </p:spPr>
        <p:txBody>
          <a:bodyPr wrap="none" rtlCol="0">
            <a:spAutoFit/>
          </a:bodyPr>
          <a:lstStyle/>
          <a:p>
            <a:pPr algn="ctr"/>
            <a:r>
              <a:rPr lang="en-US" dirty="0"/>
              <a:t>User Proofings</a:t>
            </a:r>
          </a:p>
        </p:txBody>
      </p:sp>
      <p:sp>
        <p:nvSpPr>
          <p:cNvPr id="4" name="TextBox 3">
            <a:extLst>
              <a:ext uri="{FF2B5EF4-FFF2-40B4-BE49-F238E27FC236}">
                <a16:creationId xmlns:a16="http://schemas.microsoft.com/office/drawing/2014/main" id="{2774539D-F247-58E6-0590-E88EB5F80993}"/>
              </a:ext>
            </a:extLst>
          </p:cNvPr>
          <p:cNvSpPr txBox="1"/>
          <p:nvPr/>
        </p:nvSpPr>
        <p:spPr>
          <a:xfrm>
            <a:off x="8739200" y="4184338"/>
            <a:ext cx="1751506" cy="369332"/>
          </a:xfrm>
          <a:prstGeom prst="rect">
            <a:avLst/>
          </a:prstGeom>
          <a:noFill/>
        </p:spPr>
        <p:txBody>
          <a:bodyPr wrap="none" rtlCol="0">
            <a:spAutoFit/>
          </a:bodyPr>
          <a:lstStyle/>
          <a:p>
            <a:pPr algn="ctr"/>
            <a:r>
              <a:rPr lang="en-US" dirty="0"/>
              <a:t>Value Rewirings</a:t>
            </a:r>
          </a:p>
        </p:txBody>
      </p:sp>
      <p:sp>
        <p:nvSpPr>
          <p:cNvPr id="5" name="TextBox 4">
            <a:extLst>
              <a:ext uri="{FF2B5EF4-FFF2-40B4-BE49-F238E27FC236}">
                <a16:creationId xmlns:a16="http://schemas.microsoft.com/office/drawing/2014/main" id="{DD0E204D-5818-0824-3536-2ED9E4045847}"/>
              </a:ext>
            </a:extLst>
          </p:cNvPr>
          <p:cNvSpPr txBox="1"/>
          <p:nvPr/>
        </p:nvSpPr>
        <p:spPr>
          <a:xfrm>
            <a:off x="8450081" y="3384992"/>
            <a:ext cx="2329740" cy="369332"/>
          </a:xfrm>
          <a:prstGeom prst="rect">
            <a:avLst/>
          </a:prstGeom>
          <a:noFill/>
        </p:spPr>
        <p:txBody>
          <a:bodyPr wrap="none" rtlCol="0">
            <a:spAutoFit/>
          </a:bodyPr>
          <a:lstStyle/>
          <a:p>
            <a:pPr algn="ctr"/>
            <a:r>
              <a:rPr lang="en-US" dirty="0"/>
              <a:t>Expectation Shapings</a:t>
            </a:r>
          </a:p>
        </p:txBody>
      </p:sp>
      <p:sp>
        <p:nvSpPr>
          <p:cNvPr id="6" name="TextBox 5">
            <a:extLst>
              <a:ext uri="{FF2B5EF4-FFF2-40B4-BE49-F238E27FC236}">
                <a16:creationId xmlns:a16="http://schemas.microsoft.com/office/drawing/2014/main" id="{745A61A4-12FF-B98E-1488-A61BB476FDA5}"/>
              </a:ext>
            </a:extLst>
          </p:cNvPr>
          <p:cNvSpPr txBox="1"/>
          <p:nvPr/>
        </p:nvSpPr>
        <p:spPr>
          <a:xfrm>
            <a:off x="1102046" y="3384992"/>
            <a:ext cx="2191882" cy="369332"/>
          </a:xfrm>
          <a:prstGeom prst="rect">
            <a:avLst/>
          </a:prstGeom>
          <a:noFill/>
        </p:spPr>
        <p:txBody>
          <a:bodyPr wrap="none" rtlCol="0">
            <a:spAutoFit/>
          </a:bodyPr>
          <a:lstStyle/>
          <a:p>
            <a:pPr algn="ctr"/>
            <a:r>
              <a:rPr lang="en-US" dirty="0"/>
              <a:t>Nuanced Workflows</a:t>
            </a:r>
          </a:p>
        </p:txBody>
      </p:sp>
      <p:sp>
        <p:nvSpPr>
          <p:cNvPr id="7" name="TextBox 6">
            <a:extLst>
              <a:ext uri="{FF2B5EF4-FFF2-40B4-BE49-F238E27FC236}">
                <a16:creationId xmlns:a16="http://schemas.microsoft.com/office/drawing/2014/main" id="{E3ED7B7B-5A00-772B-D5E2-C69CDAC0292C}"/>
              </a:ext>
            </a:extLst>
          </p:cNvPr>
          <p:cNvSpPr txBox="1"/>
          <p:nvPr/>
        </p:nvSpPr>
        <p:spPr>
          <a:xfrm>
            <a:off x="4019207" y="1934177"/>
            <a:ext cx="3940054" cy="369332"/>
          </a:xfrm>
          <a:prstGeom prst="rect">
            <a:avLst/>
          </a:prstGeom>
          <a:noFill/>
        </p:spPr>
        <p:txBody>
          <a:bodyPr wrap="none" rtlCol="0">
            <a:spAutoFit/>
          </a:bodyPr>
          <a:lstStyle/>
          <a:p>
            <a:pPr algn="ctr"/>
            <a:r>
              <a:rPr lang="en-US" dirty="0"/>
              <a:t>Accountable Permissions/Procedures</a:t>
            </a:r>
          </a:p>
        </p:txBody>
      </p:sp>
      <p:sp>
        <p:nvSpPr>
          <p:cNvPr id="8" name="TextBox 7">
            <a:extLst>
              <a:ext uri="{FF2B5EF4-FFF2-40B4-BE49-F238E27FC236}">
                <a16:creationId xmlns:a16="http://schemas.microsoft.com/office/drawing/2014/main" id="{9F60C922-9019-DC29-1042-42C0CC7F0324}"/>
              </a:ext>
            </a:extLst>
          </p:cNvPr>
          <p:cNvSpPr txBox="1"/>
          <p:nvPr/>
        </p:nvSpPr>
        <p:spPr>
          <a:xfrm>
            <a:off x="8328156" y="2637699"/>
            <a:ext cx="2573590" cy="369332"/>
          </a:xfrm>
          <a:prstGeom prst="rect">
            <a:avLst/>
          </a:prstGeom>
          <a:noFill/>
        </p:spPr>
        <p:txBody>
          <a:bodyPr wrap="none" rtlCol="0">
            <a:spAutoFit/>
          </a:bodyPr>
          <a:lstStyle/>
          <a:p>
            <a:pPr algn="ctr"/>
            <a:r>
              <a:rPr lang="en-US" dirty="0"/>
              <a:t>Functional Automations</a:t>
            </a:r>
          </a:p>
        </p:txBody>
      </p:sp>
      <p:sp>
        <p:nvSpPr>
          <p:cNvPr id="9" name="TextBox 8">
            <a:extLst>
              <a:ext uri="{FF2B5EF4-FFF2-40B4-BE49-F238E27FC236}">
                <a16:creationId xmlns:a16="http://schemas.microsoft.com/office/drawing/2014/main" id="{FCB30EC9-5DD5-1074-C02A-FC9FD52EA019}"/>
              </a:ext>
            </a:extLst>
          </p:cNvPr>
          <p:cNvSpPr txBox="1"/>
          <p:nvPr/>
        </p:nvSpPr>
        <p:spPr>
          <a:xfrm>
            <a:off x="8592812" y="1186508"/>
            <a:ext cx="2044278" cy="369332"/>
          </a:xfrm>
          <a:prstGeom prst="rect">
            <a:avLst/>
          </a:prstGeom>
          <a:noFill/>
        </p:spPr>
        <p:txBody>
          <a:bodyPr wrap="none" rtlCol="0">
            <a:spAutoFit/>
          </a:bodyPr>
          <a:lstStyle/>
          <a:p>
            <a:pPr algn="ctr"/>
            <a:r>
              <a:rPr lang="en-US" dirty="0"/>
              <a:t>Event-Rule Models</a:t>
            </a:r>
          </a:p>
        </p:txBody>
      </p:sp>
      <p:sp>
        <p:nvSpPr>
          <p:cNvPr id="10" name="TextBox 9">
            <a:extLst>
              <a:ext uri="{FF2B5EF4-FFF2-40B4-BE49-F238E27FC236}">
                <a16:creationId xmlns:a16="http://schemas.microsoft.com/office/drawing/2014/main" id="{037DC9DE-18B7-83E4-F4E8-509E2ACC6A82}"/>
              </a:ext>
            </a:extLst>
          </p:cNvPr>
          <p:cNvSpPr txBox="1"/>
          <p:nvPr/>
        </p:nvSpPr>
        <p:spPr>
          <a:xfrm>
            <a:off x="728127" y="4961255"/>
            <a:ext cx="2939716" cy="369332"/>
          </a:xfrm>
          <a:prstGeom prst="rect">
            <a:avLst/>
          </a:prstGeom>
          <a:noFill/>
        </p:spPr>
        <p:txBody>
          <a:bodyPr wrap="none" rtlCol="0">
            <a:spAutoFit/>
          </a:bodyPr>
          <a:lstStyle/>
          <a:p>
            <a:pPr algn="ctr"/>
            <a:r>
              <a:rPr lang="en-US" dirty="0"/>
              <a:t>Market Steering Innovations</a:t>
            </a:r>
          </a:p>
        </p:txBody>
      </p:sp>
      <p:sp>
        <p:nvSpPr>
          <p:cNvPr id="11" name="TextBox 10">
            <a:extLst>
              <a:ext uri="{FF2B5EF4-FFF2-40B4-BE49-F238E27FC236}">
                <a16:creationId xmlns:a16="http://schemas.microsoft.com/office/drawing/2014/main" id="{02648530-5958-109E-125D-1D7BBCBFAF7B}"/>
              </a:ext>
            </a:extLst>
          </p:cNvPr>
          <p:cNvSpPr txBox="1"/>
          <p:nvPr/>
        </p:nvSpPr>
        <p:spPr>
          <a:xfrm>
            <a:off x="8813835" y="4961255"/>
            <a:ext cx="1602233" cy="369332"/>
          </a:xfrm>
          <a:prstGeom prst="rect">
            <a:avLst/>
          </a:prstGeom>
          <a:noFill/>
        </p:spPr>
        <p:txBody>
          <a:bodyPr wrap="none" rtlCol="0">
            <a:spAutoFit/>
          </a:bodyPr>
          <a:lstStyle/>
          <a:p>
            <a:pPr algn="ctr"/>
            <a:r>
              <a:rPr lang="en-US" dirty="0"/>
              <a:t>KPIs/Analytics</a:t>
            </a:r>
          </a:p>
        </p:txBody>
      </p:sp>
      <p:sp>
        <p:nvSpPr>
          <p:cNvPr id="12" name="TextBox 11">
            <a:extLst>
              <a:ext uri="{FF2B5EF4-FFF2-40B4-BE49-F238E27FC236}">
                <a16:creationId xmlns:a16="http://schemas.microsoft.com/office/drawing/2014/main" id="{C4FD9B24-A0E0-686F-2B7B-9E4EF5AE6A04}"/>
              </a:ext>
            </a:extLst>
          </p:cNvPr>
          <p:cNvSpPr txBox="1"/>
          <p:nvPr/>
        </p:nvSpPr>
        <p:spPr>
          <a:xfrm>
            <a:off x="4858407" y="4961255"/>
            <a:ext cx="2261645" cy="369332"/>
          </a:xfrm>
          <a:prstGeom prst="rect">
            <a:avLst/>
          </a:prstGeom>
          <a:noFill/>
        </p:spPr>
        <p:txBody>
          <a:bodyPr wrap="none" rtlCol="0">
            <a:spAutoFit/>
          </a:bodyPr>
          <a:lstStyle/>
          <a:p>
            <a:pPr algn="ctr"/>
            <a:r>
              <a:rPr lang="en-US" dirty="0"/>
              <a:t>Systems Integrations</a:t>
            </a:r>
          </a:p>
        </p:txBody>
      </p:sp>
      <p:sp>
        <p:nvSpPr>
          <p:cNvPr id="13" name="TextBox 12">
            <a:extLst>
              <a:ext uri="{FF2B5EF4-FFF2-40B4-BE49-F238E27FC236}">
                <a16:creationId xmlns:a16="http://schemas.microsoft.com/office/drawing/2014/main" id="{21303EDD-305C-2FA2-82A3-179A43B0D71E}"/>
              </a:ext>
            </a:extLst>
          </p:cNvPr>
          <p:cNvSpPr txBox="1"/>
          <p:nvPr/>
        </p:nvSpPr>
        <p:spPr>
          <a:xfrm>
            <a:off x="4665982" y="1186508"/>
            <a:ext cx="2646494" cy="369332"/>
          </a:xfrm>
          <a:prstGeom prst="rect">
            <a:avLst/>
          </a:prstGeom>
          <a:noFill/>
        </p:spPr>
        <p:txBody>
          <a:bodyPr wrap="none" rtlCol="0">
            <a:spAutoFit/>
          </a:bodyPr>
          <a:lstStyle/>
          <a:p>
            <a:pPr algn="ctr"/>
            <a:r>
              <a:rPr lang="en-US" dirty="0"/>
              <a:t>Process Transformations</a:t>
            </a:r>
          </a:p>
        </p:txBody>
      </p:sp>
      <p:sp>
        <p:nvSpPr>
          <p:cNvPr id="14" name="TextBox 13">
            <a:extLst>
              <a:ext uri="{FF2B5EF4-FFF2-40B4-BE49-F238E27FC236}">
                <a16:creationId xmlns:a16="http://schemas.microsoft.com/office/drawing/2014/main" id="{CC806D9C-904C-D265-41B9-79BB56C2D538}"/>
              </a:ext>
            </a:extLst>
          </p:cNvPr>
          <p:cNvSpPr txBox="1"/>
          <p:nvPr/>
        </p:nvSpPr>
        <p:spPr>
          <a:xfrm>
            <a:off x="1152827" y="1186508"/>
            <a:ext cx="2090316" cy="369332"/>
          </a:xfrm>
          <a:prstGeom prst="rect">
            <a:avLst/>
          </a:prstGeom>
          <a:noFill/>
        </p:spPr>
        <p:txBody>
          <a:bodyPr wrap="none" rtlCol="0">
            <a:spAutoFit/>
          </a:bodyPr>
          <a:lstStyle/>
          <a:p>
            <a:pPr algn="ctr"/>
            <a:r>
              <a:rPr lang="en-US" dirty="0"/>
              <a:t>Zero-Trust Controls</a:t>
            </a:r>
          </a:p>
        </p:txBody>
      </p:sp>
      <p:sp>
        <p:nvSpPr>
          <p:cNvPr id="15" name="TextBox 14">
            <a:extLst>
              <a:ext uri="{FF2B5EF4-FFF2-40B4-BE49-F238E27FC236}">
                <a16:creationId xmlns:a16="http://schemas.microsoft.com/office/drawing/2014/main" id="{B783671A-B608-30CC-7ABB-C61712D35EA7}"/>
              </a:ext>
            </a:extLst>
          </p:cNvPr>
          <p:cNvSpPr txBox="1"/>
          <p:nvPr/>
        </p:nvSpPr>
        <p:spPr>
          <a:xfrm>
            <a:off x="1262922" y="4184338"/>
            <a:ext cx="1870127" cy="369332"/>
          </a:xfrm>
          <a:prstGeom prst="rect">
            <a:avLst/>
          </a:prstGeom>
          <a:noFill/>
        </p:spPr>
        <p:txBody>
          <a:bodyPr wrap="none" rtlCol="0">
            <a:spAutoFit/>
          </a:bodyPr>
          <a:lstStyle/>
          <a:p>
            <a:pPr algn="ctr"/>
            <a:r>
              <a:rPr lang="en-US" dirty="0"/>
              <a:t>Loss Preventions</a:t>
            </a:r>
          </a:p>
        </p:txBody>
      </p:sp>
      <p:sp>
        <p:nvSpPr>
          <p:cNvPr id="16" name="TextBox 15">
            <a:extLst>
              <a:ext uri="{FF2B5EF4-FFF2-40B4-BE49-F238E27FC236}">
                <a16:creationId xmlns:a16="http://schemas.microsoft.com/office/drawing/2014/main" id="{C064E60E-57AC-FC8B-7A01-4F91020B3524}"/>
              </a:ext>
            </a:extLst>
          </p:cNvPr>
          <p:cNvSpPr txBox="1"/>
          <p:nvPr/>
        </p:nvSpPr>
        <p:spPr>
          <a:xfrm>
            <a:off x="4555632" y="3384992"/>
            <a:ext cx="2867195" cy="369332"/>
          </a:xfrm>
          <a:prstGeom prst="rect">
            <a:avLst/>
          </a:prstGeom>
          <a:noFill/>
        </p:spPr>
        <p:txBody>
          <a:bodyPr wrap="none" rtlCol="0">
            <a:spAutoFit/>
          </a:bodyPr>
          <a:lstStyle/>
          <a:p>
            <a:pPr algn="ctr"/>
            <a:r>
              <a:rPr lang="en-US" dirty="0"/>
              <a:t>Market/Service Expansions</a:t>
            </a:r>
          </a:p>
        </p:txBody>
      </p:sp>
      <p:sp>
        <p:nvSpPr>
          <p:cNvPr id="17" name="TextBox 16">
            <a:extLst>
              <a:ext uri="{FF2B5EF4-FFF2-40B4-BE49-F238E27FC236}">
                <a16:creationId xmlns:a16="http://schemas.microsoft.com/office/drawing/2014/main" id="{227A63A8-B6FA-2639-B6E5-75CF561D8E4F}"/>
              </a:ext>
            </a:extLst>
          </p:cNvPr>
          <p:cNvSpPr txBox="1"/>
          <p:nvPr/>
        </p:nvSpPr>
        <p:spPr>
          <a:xfrm>
            <a:off x="4785085" y="4184338"/>
            <a:ext cx="2408288" cy="369332"/>
          </a:xfrm>
          <a:prstGeom prst="rect">
            <a:avLst/>
          </a:prstGeom>
          <a:noFill/>
        </p:spPr>
        <p:txBody>
          <a:bodyPr wrap="none" rtlCol="0">
            <a:spAutoFit/>
          </a:bodyPr>
          <a:lstStyle/>
          <a:p>
            <a:pPr algn="ctr"/>
            <a:r>
              <a:rPr lang="en-US" dirty="0"/>
              <a:t>Customer Integrations</a:t>
            </a:r>
          </a:p>
        </p:txBody>
      </p:sp>
      <p:sp>
        <p:nvSpPr>
          <p:cNvPr id="18" name="TextBox 17">
            <a:extLst>
              <a:ext uri="{FF2B5EF4-FFF2-40B4-BE49-F238E27FC236}">
                <a16:creationId xmlns:a16="http://schemas.microsoft.com/office/drawing/2014/main" id="{899BCE9E-C5E9-6BA8-BEBE-CD087DF143DA}"/>
              </a:ext>
            </a:extLst>
          </p:cNvPr>
          <p:cNvSpPr txBox="1"/>
          <p:nvPr/>
        </p:nvSpPr>
        <p:spPr>
          <a:xfrm>
            <a:off x="8190010" y="1934177"/>
            <a:ext cx="2849883" cy="369332"/>
          </a:xfrm>
          <a:prstGeom prst="rect">
            <a:avLst/>
          </a:prstGeom>
          <a:noFill/>
        </p:spPr>
        <p:txBody>
          <a:bodyPr wrap="none" rtlCol="0">
            <a:spAutoFit/>
          </a:bodyPr>
          <a:lstStyle/>
          <a:p>
            <a:pPr algn="ctr"/>
            <a:r>
              <a:rPr lang="en-US" dirty="0"/>
              <a:t>Compliance Enforcements</a:t>
            </a:r>
          </a:p>
        </p:txBody>
      </p:sp>
      <p:sp>
        <p:nvSpPr>
          <p:cNvPr id="25" name="TextBox 24">
            <a:extLst>
              <a:ext uri="{FF2B5EF4-FFF2-40B4-BE49-F238E27FC236}">
                <a16:creationId xmlns:a16="http://schemas.microsoft.com/office/drawing/2014/main" id="{AE065807-7EF4-7008-71E8-B9D336C38F27}"/>
              </a:ext>
            </a:extLst>
          </p:cNvPr>
          <p:cNvSpPr txBox="1"/>
          <p:nvPr/>
        </p:nvSpPr>
        <p:spPr>
          <a:xfrm>
            <a:off x="379841" y="316504"/>
            <a:ext cx="4278992" cy="369332"/>
          </a:xfrm>
          <a:prstGeom prst="rect">
            <a:avLst/>
          </a:prstGeom>
          <a:noFill/>
        </p:spPr>
        <p:txBody>
          <a:bodyPr wrap="none" rtlCol="0">
            <a:spAutoFit/>
          </a:bodyPr>
          <a:lstStyle/>
          <a:p>
            <a:r>
              <a:rPr lang="en-US" dirty="0">
                <a:solidFill>
                  <a:schemeClr val="accent2"/>
                </a:solidFill>
              </a:rPr>
              <a:t>Capabilities </a:t>
            </a:r>
            <a:r>
              <a:rPr lang="en-US" dirty="0"/>
              <a:t>| Optimizations-as-a-Service</a:t>
            </a:r>
          </a:p>
        </p:txBody>
      </p:sp>
      <p:sp>
        <p:nvSpPr>
          <p:cNvPr id="26" name="TextBox 25">
            <a:extLst>
              <a:ext uri="{FF2B5EF4-FFF2-40B4-BE49-F238E27FC236}">
                <a16:creationId xmlns:a16="http://schemas.microsoft.com/office/drawing/2014/main" id="{87B47C3A-639F-4811-4EA8-BDDE32E9FDA8}"/>
              </a:ext>
            </a:extLst>
          </p:cNvPr>
          <p:cNvSpPr txBox="1"/>
          <p:nvPr/>
        </p:nvSpPr>
        <p:spPr>
          <a:xfrm>
            <a:off x="907440" y="1934177"/>
            <a:ext cx="2581091" cy="369332"/>
          </a:xfrm>
          <a:prstGeom prst="rect">
            <a:avLst/>
          </a:prstGeom>
          <a:noFill/>
        </p:spPr>
        <p:txBody>
          <a:bodyPr wrap="none" rtlCol="0">
            <a:spAutoFit/>
          </a:bodyPr>
          <a:lstStyle/>
          <a:p>
            <a:pPr algn="ctr"/>
            <a:r>
              <a:rPr lang="en-US" dirty="0"/>
              <a:t>Dynamic Configurations</a:t>
            </a:r>
          </a:p>
        </p:txBody>
      </p:sp>
    </p:spTree>
    <p:extLst>
      <p:ext uri="{BB962C8B-B14F-4D97-AF65-F5344CB8AC3E}">
        <p14:creationId xmlns:p14="http://schemas.microsoft.com/office/powerpoint/2010/main" val="3268302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A3D61-AA2C-F8FA-A7CF-7B91598E14BE}"/>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782D3354-18CB-18E8-A80E-BE38CB73F5D4}"/>
              </a:ext>
            </a:extLst>
          </p:cNvPr>
          <p:cNvGrpSpPr/>
          <p:nvPr/>
        </p:nvGrpSpPr>
        <p:grpSpPr>
          <a:xfrm>
            <a:off x="2497015" y="1060951"/>
            <a:ext cx="5886175" cy="5156507"/>
            <a:chOff x="2195464" y="1197503"/>
            <a:chExt cx="5825932" cy="4998985"/>
          </a:xfrm>
        </p:grpSpPr>
        <p:pic>
          <p:nvPicPr>
            <p:cNvPr id="31" name="Picture 30">
              <a:extLst>
                <a:ext uri="{FF2B5EF4-FFF2-40B4-BE49-F238E27FC236}">
                  <a16:creationId xmlns:a16="http://schemas.microsoft.com/office/drawing/2014/main" id="{32BF685E-C8C8-6BA9-D6B5-1B36A91071BC}"/>
                </a:ext>
              </a:extLst>
            </p:cNvPr>
            <p:cNvPicPr>
              <a:picLocks noChangeAspect="1"/>
            </p:cNvPicPr>
            <p:nvPr/>
          </p:nvPicPr>
          <p:blipFill>
            <a:blip r:embed="rId2"/>
            <a:stretch>
              <a:fillRect/>
            </a:stretch>
          </p:blipFill>
          <p:spPr>
            <a:xfrm>
              <a:off x="2195464" y="1197503"/>
              <a:ext cx="5825932" cy="4998985"/>
            </a:xfrm>
            <a:prstGeom prst="rect">
              <a:avLst/>
            </a:prstGeom>
          </p:spPr>
        </p:pic>
        <p:sp>
          <p:nvSpPr>
            <p:cNvPr id="32" name="Rectangle 31">
              <a:extLst>
                <a:ext uri="{FF2B5EF4-FFF2-40B4-BE49-F238E27FC236}">
                  <a16:creationId xmlns:a16="http://schemas.microsoft.com/office/drawing/2014/main" id="{05123B85-0DBF-2796-77E3-23BA35F55B87}"/>
                </a:ext>
              </a:extLst>
            </p:cNvPr>
            <p:cNvSpPr/>
            <p:nvPr/>
          </p:nvSpPr>
          <p:spPr>
            <a:xfrm>
              <a:off x="5252720" y="1257268"/>
              <a:ext cx="701040" cy="1651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Rectangle: Rounded Corners 33">
            <a:extLst>
              <a:ext uri="{FF2B5EF4-FFF2-40B4-BE49-F238E27FC236}">
                <a16:creationId xmlns:a16="http://schemas.microsoft.com/office/drawing/2014/main" id="{58D63318-187D-4CDB-4590-E152A255F9B5}"/>
              </a:ext>
            </a:extLst>
          </p:cNvPr>
          <p:cNvSpPr/>
          <p:nvPr/>
        </p:nvSpPr>
        <p:spPr>
          <a:xfrm>
            <a:off x="5767913" y="3193936"/>
            <a:ext cx="5048647" cy="2449990"/>
          </a:xfrm>
          <a:prstGeom prst="roundRect">
            <a:avLst>
              <a:gd name="adj" fmla="val 2312"/>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B072017-6F39-AA6B-325F-5C5EECD3412C}"/>
              </a:ext>
            </a:extLst>
          </p:cNvPr>
          <p:cNvSpPr txBox="1"/>
          <p:nvPr/>
        </p:nvSpPr>
        <p:spPr>
          <a:xfrm>
            <a:off x="622055" y="316496"/>
            <a:ext cx="8671414" cy="369332"/>
          </a:xfrm>
          <a:prstGeom prst="rect">
            <a:avLst/>
          </a:prstGeom>
          <a:noFill/>
        </p:spPr>
        <p:txBody>
          <a:bodyPr wrap="square">
            <a:spAutoFit/>
          </a:bodyPr>
          <a:lstStyle/>
          <a:p>
            <a:r>
              <a:rPr lang="en-US" sz="1800" b="1" dirty="0">
                <a:solidFill>
                  <a:schemeClr val="accent6">
                    <a:lumMod val="75000"/>
                  </a:schemeClr>
                </a:solidFill>
              </a:rPr>
              <a:t>Breakthroughs Delivered </a:t>
            </a:r>
            <a:r>
              <a:rPr lang="en-US" sz="1800" dirty="0">
                <a:solidFill>
                  <a:schemeClr val="accent6">
                    <a:lumMod val="75000"/>
                  </a:schemeClr>
                </a:solidFill>
              </a:rPr>
              <a:t>| </a:t>
            </a:r>
            <a:r>
              <a:rPr lang="en-US" dirty="0">
                <a:solidFill>
                  <a:schemeClr val="accent6">
                    <a:lumMod val="75000"/>
                  </a:schemeClr>
                </a:solidFill>
              </a:rPr>
              <a:t>Market Optimization - ATM Access Management </a:t>
            </a:r>
            <a:endParaRPr lang="en-US" sz="1800" dirty="0">
              <a:solidFill>
                <a:schemeClr val="accent6">
                  <a:lumMod val="75000"/>
                </a:schemeClr>
              </a:solidFill>
            </a:endParaRPr>
          </a:p>
        </p:txBody>
      </p:sp>
      <p:pic>
        <p:nvPicPr>
          <p:cNvPr id="12" name="Picture 11">
            <a:extLst>
              <a:ext uri="{FF2B5EF4-FFF2-40B4-BE49-F238E27FC236}">
                <a16:creationId xmlns:a16="http://schemas.microsoft.com/office/drawing/2014/main" id="{BC0D41B7-6198-9FEB-EC89-C2E899D06421}"/>
              </a:ext>
            </a:extLst>
          </p:cNvPr>
          <p:cNvPicPr>
            <a:picLocks noChangeAspect="1"/>
          </p:cNvPicPr>
          <p:nvPr/>
        </p:nvPicPr>
        <p:blipFill>
          <a:blip r:embed="rId3"/>
          <a:stretch>
            <a:fillRect/>
          </a:stretch>
        </p:blipFill>
        <p:spPr>
          <a:xfrm>
            <a:off x="6022728" y="4907014"/>
            <a:ext cx="2322289" cy="445058"/>
          </a:xfrm>
          <a:prstGeom prst="rect">
            <a:avLst/>
          </a:prstGeom>
        </p:spPr>
      </p:pic>
      <p:grpSp>
        <p:nvGrpSpPr>
          <p:cNvPr id="21" name="Group 20">
            <a:extLst>
              <a:ext uri="{FF2B5EF4-FFF2-40B4-BE49-F238E27FC236}">
                <a16:creationId xmlns:a16="http://schemas.microsoft.com/office/drawing/2014/main" id="{91F975E4-D748-E781-D3CC-76E1732E7465}"/>
              </a:ext>
            </a:extLst>
          </p:cNvPr>
          <p:cNvGrpSpPr/>
          <p:nvPr/>
        </p:nvGrpSpPr>
        <p:grpSpPr>
          <a:xfrm>
            <a:off x="1607073" y="1417079"/>
            <a:ext cx="2217581" cy="4575624"/>
            <a:chOff x="746947" y="972322"/>
            <a:chExt cx="2581338" cy="5326178"/>
          </a:xfrm>
        </p:grpSpPr>
        <p:pic>
          <p:nvPicPr>
            <p:cNvPr id="1026" name="Picture 2" descr="Vector Modern smartphone isolated. Mobile phone with blank screen. Cell ...">
              <a:extLst>
                <a:ext uri="{FF2B5EF4-FFF2-40B4-BE49-F238E27FC236}">
                  <a16:creationId xmlns:a16="http://schemas.microsoft.com/office/drawing/2014/main" id="{D5CAD7F7-ADB6-802A-CB6A-A1CF344F96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675" t="6155" r="28615" b="5721"/>
            <a:stretch>
              <a:fillRect/>
            </a:stretch>
          </p:blipFill>
          <p:spPr bwMode="auto">
            <a:xfrm>
              <a:off x="746947" y="972322"/>
              <a:ext cx="2581338" cy="532617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06855B3-7506-8788-4746-3A630F5A71EB}"/>
                </a:ext>
              </a:extLst>
            </p:cNvPr>
            <p:cNvPicPr>
              <a:picLocks noChangeAspect="1"/>
            </p:cNvPicPr>
            <p:nvPr/>
          </p:nvPicPr>
          <p:blipFill>
            <a:blip r:embed="rId5"/>
            <a:stretch>
              <a:fillRect/>
            </a:stretch>
          </p:blipFill>
          <p:spPr>
            <a:xfrm>
              <a:off x="923451" y="1387336"/>
              <a:ext cx="2278484" cy="4529328"/>
            </a:xfrm>
            <a:prstGeom prst="rect">
              <a:avLst/>
            </a:prstGeom>
          </p:spPr>
        </p:pic>
        <p:pic>
          <p:nvPicPr>
            <p:cNvPr id="19" name="Picture 18">
              <a:extLst>
                <a:ext uri="{FF2B5EF4-FFF2-40B4-BE49-F238E27FC236}">
                  <a16:creationId xmlns:a16="http://schemas.microsoft.com/office/drawing/2014/main" id="{4060B6CC-5B6D-7EDF-659C-F2CB0D2D0628}"/>
                </a:ext>
              </a:extLst>
            </p:cNvPr>
            <p:cNvPicPr>
              <a:picLocks noChangeAspect="1"/>
            </p:cNvPicPr>
            <p:nvPr/>
          </p:nvPicPr>
          <p:blipFill>
            <a:blip r:embed="rId6">
              <a:extLst>
                <a:ext uri="{28A0092B-C50C-407E-A947-70E740481C1C}">
                  <a14:useLocalDpi xmlns:a14="http://schemas.microsoft.com/office/drawing/2010/main" val="0"/>
                </a:ext>
              </a:extLst>
            </a:blip>
            <a:srcRect t="42432" b="35823"/>
            <a:stretch>
              <a:fillRect/>
            </a:stretch>
          </p:blipFill>
          <p:spPr>
            <a:xfrm>
              <a:off x="965196" y="3413629"/>
              <a:ext cx="2166258" cy="1079488"/>
            </a:xfrm>
            <a:prstGeom prst="rect">
              <a:avLst/>
            </a:prstGeom>
          </p:spPr>
        </p:pic>
        <p:sp>
          <p:nvSpPr>
            <p:cNvPr id="20" name="Rectangle 19">
              <a:extLst>
                <a:ext uri="{FF2B5EF4-FFF2-40B4-BE49-F238E27FC236}">
                  <a16:creationId xmlns:a16="http://schemas.microsoft.com/office/drawing/2014/main" id="{39D42386-D7FB-66CD-E34A-303D6B053952}"/>
                </a:ext>
              </a:extLst>
            </p:cNvPr>
            <p:cNvSpPr/>
            <p:nvPr/>
          </p:nvSpPr>
          <p:spPr>
            <a:xfrm>
              <a:off x="965196" y="4475533"/>
              <a:ext cx="2236739" cy="295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75F020FF-4CF6-EC48-7402-041321852CD9}"/>
                </a:ext>
              </a:extLst>
            </p:cNvPr>
            <p:cNvPicPr>
              <a:picLocks noChangeAspect="1"/>
            </p:cNvPicPr>
            <p:nvPr/>
          </p:nvPicPr>
          <p:blipFill>
            <a:blip r:embed="rId5"/>
            <a:srcRect t="64846" b="23457"/>
            <a:stretch>
              <a:fillRect/>
            </a:stretch>
          </p:blipFill>
          <p:spPr>
            <a:xfrm>
              <a:off x="933686" y="4537205"/>
              <a:ext cx="2236739" cy="529770"/>
            </a:xfrm>
            <a:prstGeom prst="rect">
              <a:avLst/>
            </a:prstGeom>
          </p:spPr>
        </p:pic>
      </p:grpSp>
      <p:grpSp>
        <p:nvGrpSpPr>
          <p:cNvPr id="35" name="Group 34">
            <a:extLst>
              <a:ext uri="{FF2B5EF4-FFF2-40B4-BE49-F238E27FC236}">
                <a16:creationId xmlns:a16="http://schemas.microsoft.com/office/drawing/2014/main" id="{4797DF3E-B129-C6B3-2025-85361D9DD062}"/>
              </a:ext>
            </a:extLst>
          </p:cNvPr>
          <p:cNvGrpSpPr/>
          <p:nvPr/>
        </p:nvGrpSpPr>
        <p:grpSpPr>
          <a:xfrm>
            <a:off x="1193556" y="4934722"/>
            <a:ext cx="3063013" cy="535132"/>
            <a:chOff x="626142" y="4491246"/>
            <a:chExt cx="3063013" cy="535132"/>
          </a:xfrm>
        </p:grpSpPr>
        <p:sp>
          <p:nvSpPr>
            <p:cNvPr id="14" name="Rounded Rectangle 17">
              <a:extLst>
                <a:ext uri="{FF2B5EF4-FFF2-40B4-BE49-F238E27FC236}">
                  <a16:creationId xmlns:a16="http://schemas.microsoft.com/office/drawing/2014/main" id="{752F5ED8-598E-3CD2-2458-54FB1140AA96}"/>
                </a:ext>
              </a:extLst>
            </p:cNvPr>
            <p:cNvSpPr/>
            <p:nvPr/>
          </p:nvSpPr>
          <p:spPr>
            <a:xfrm>
              <a:off x="626142" y="4491246"/>
              <a:ext cx="3063013" cy="535132"/>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457200"/>
              <a:r>
                <a:rPr lang="en-US" b="1" dirty="0"/>
                <a:t>Secured Self Dispatch</a:t>
              </a:r>
            </a:p>
          </p:txBody>
        </p:sp>
        <p:grpSp>
          <p:nvGrpSpPr>
            <p:cNvPr id="15" name="Group 14">
              <a:extLst>
                <a:ext uri="{FF2B5EF4-FFF2-40B4-BE49-F238E27FC236}">
                  <a16:creationId xmlns:a16="http://schemas.microsoft.com/office/drawing/2014/main" id="{B3E8EC98-D638-B916-226E-9C1B4CF14D85}"/>
                </a:ext>
              </a:extLst>
            </p:cNvPr>
            <p:cNvGrpSpPr/>
            <p:nvPr/>
          </p:nvGrpSpPr>
          <p:grpSpPr>
            <a:xfrm>
              <a:off x="705864" y="4554306"/>
              <a:ext cx="425274" cy="425275"/>
              <a:chOff x="1806966" y="4525395"/>
              <a:chExt cx="1188166" cy="1188168"/>
            </a:xfrm>
          </p:grpSpPr>
          <p:sp>
            <p:nvSpPr>
              <p:cNvPr id="16" name="Oval 15">
                <a:extLst>
                  <a:ext uri="{FF2B5EF4-FFF2-40B4-BE49-F238E27FC236}">
                    <a16:creationId xmlns:a16="http://schemas.microsoft.com/office/drawing/2014/main" id="{849018ED-A736-B28F-9700-6CBCDD757D99}"/>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17" name="Picture 16">
                <a:extLst>
                  <a:ext uri="{FF2B5EF4-FFF2-40B4-BE49-F238E27FC236}">
                    <a16:creationId xmlns:a16="http://schemas.microsoft.com/office/drawing/2014/main" id="{D134FB21-D7FC-90B6-0724-E752E1B9031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06966" y="4525395"/>
                <a:ext cx="1188166" cy="1188168"/>
              </a:xfrm>
              <a:prstGeom prst="rect">
                <a:avLst/>
              </a:prstGeom>
            </p:spPr>
          </p:pic>
        </p:grpSp>
      </p:grpSp>
      <p:sp>
        <p:nvSpPr>
          <p:cNvPr id="23" name="Rectangle: Rounded Corners 22">
            <a:extLst>
              <a:ext uri="{FF2B5EF4-FFF2-40B4-BE49-F238E27FC236}">
                <a16:creationId xmlns:a16="http://schemas.microsoft.com/office/drawing/2014/main" id="{CE329088-93F4-6500-87DD-A65326E83BD3}"/>
              </a:ext>
            </a:extLst>
          </p:cNvPr>
          <p:cNvSpPr/>
          <p:nvPr/>
        </p:nvSpPr>
        <p:spPr>
          <a:xfrm>
            <a:off x="8665781" y="5419006"/>
            <a:ext cx="2434598" cy="4053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Schedule Demo</a:t>
            </a:r>
          </a:p>
        </p:txBody>
      </p:sp>
      <p:sp>
        <p:nvSpPr>
          <p:cNvPr id="3" name="TextBox 2">
            <a:extLst>
              <a:ext uri="{FF2B5EF4-FFF2-40B4-BE49-F238E27FC236}">
                <a16:creationId xmlns:a16="http://schemas.microsoft.com/office/drawing/2014/main" id="{6529AFE0-77EB-483A-532B-256D43402512}"/>
              </a:ext>
            </a:extLst>
          </p:cNvPr>
          <p:cNvSpPr txBox="1"/>
          <p:nvPr/>
        </p:nvSpPr>
        <p:spPr>
          <a:xfrm>
            <a:off x="6022728" y="3840959"/>
            <a:ext cx="3731791" cy="931024"/>
          </a:xfrm>
          <a:prstGeom prst="rect">
            <a:avLst/>
          </a:prstGeom>
          <a:noFill/>
        </p:spPr>
        <p:txBody>
          <a:bodyPr wrap="none" rtlCol="0">
            <a:spAutoFit/>
          </a:bodyPr>
          <a:lstStyle/>
          <a:p>
            <a:r>
              <a:rPr lang="en-US" sz="1600" b="1" dirty="0"/>
              <a:t>Secured ATM Lock Access Automation</a:t>
            </a:r>
          </a:p>
          <a:p>
            <a:r>
              <a:rPr lang="en-US" sz="1400" b="1" dirty="0"/>
              <a:t>Cross-Platform (Kaba, S&amp;G, Intergard)</a:t>
            </a:r>
          </a:p>
          <a:p>
            <a:endParaRPr lang="en-US" sz="1050" b="1" dirty="0"/>
          </a:p>
          <a:p>
            <a:r>
              <a:rPr lang="en-US" sz="1400" b="1" dirty="0">
                <a:solidFill>
                  <a:schemeClr val="accent6">
                    <a:lumMod val="75000"/>
                  </a:schemeClr>
                </a:solidFill>
              </a:rPr>
              <a:t>500K+/mo </a:t>
            </a:r>
            <a:r>
              <a:rPr lang="en-US" sz="1400" dirty="0"/>
              <a:t>Secured ATM Opens/Closes</a:t>
            </a:r>
          </a:p>
        </p:txBody>
      </p:sp>
      <p:pic>
        <p:nvPicPr>
          <p:cNvPr id="22" name="Picture 21">
            <a:extLst>
              <a:ext uri="{FF2B5EF4-FFF2-40B4-BE49-F238E27FC236}">
                <a16:creationId xmlns:a16="http://schemas.microsoft.com/office/drawing/2014/main" id="{BE564FEF-B7AB-5FB8-116D-9E31DE6D18D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73807" y="3260870"/>
            <a:ext cx="3589962" cy="587706"/>
          </a:xfrm>
          <a:prstGeom prst="rect">
            <a:avLst/>
          </a:prstGeom>
        </p:spPr>
      </p:pic>
      <p:sp>
        <p:nvSpPr>
          <p:cNvPr id="36" name="Rectangle: Rounded Corners 35">
            <a:extLst>
              <a:ext uri="{FF2B5EF4-FFF2-40B4-BE49-F238E27FC236}">
                <a16:creationId xmlns:a16="http://schemas.microsoft.com/office/drawing/2014/main" id="{CDF2BDD4-D4A5-38C1-542F-E6A9C5C8A937}"/>
              </a:ext>
            </a:extLst>
          </p:cNvPr>
          <p:cNvSpPr/>
          <p:nvPr/>
        </p:nvSpPr>
        <p:spPr>
          <a:xfrm>
            <a:off x="9423475" y="2667754"/>
            <a:ext cx="1393085" cy="4053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Visit Site</a:t>
            </a:r>
          </a:p>
        </p:txBody>
      </p:sp>
    </p:spTree>
    <p:extLst>
      <p:ext uri="{BB962C8B-B14F-4D97-AF65-F5344CB8AC3E}">
        <p14:creationId xmlns:p14="http://schemas.microsoft.com/office/powerpoint/2010/main" val="769864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F399BC-8E49-C5C0-94A0-33133B862263}"/>
              </a:ext>
            </a:extLst>
          </p:cNvPr>
          <p:cNvSpPr txBox="1"/>
          <p:nvPr/>
        </p:nvSpPr>
        <p:spPr>
          <a:xfrm>
            <a:off x="764930" y="1441938"/>
            <a:ext cx="10337317" cy="2554545"/>
          </a:xfrm>
          <a:prstGeom prst="rect">
            <a:avLst/>
          </a:prstGeom>
          <a:noFill/>
        </p:spPr>
        <p:txBody>
          <a:bodyPr wrap="none" rtlCol="0">
            <a:spAutoFit/>
          </a:bodyPr>
          <a:lstStyle/>
          <a:p>
            <a:r>
              <a:rPr lang="en-US" sz="1600" b="1" dirty="0"/>
              <a:t>Challenge:</a:t>
            </a:r>
          </a:p>
          <a:p>
            <a:r>
              <a:rPr lang="en-US" sz="1600" dirty="0"/>
              <a:t>Securely automate permitted ATM lock access requests directly from authorized field technicians and cash loaders</a:t>
            </a:r>
          </a:p>
          <a:p>
            <a:endParaRPr lang="en-US" sz="1600" dirty="0"/>
          </a:p>
          <a:p>
            <a:endParaRPr lang="en-US" sz="1600" dirty="0"/>
          </a:p>
          <a:p>
            <a:r>
              <a:rPr lang="en-US" sz="1600" b="1" dirty="0"/>
              <a:t>Target:</a:t>
            </a:r>
          </a:p>
          <a:p>
            <a:r>
              <a:rPr lang="en-US" sz="1600" dirty="0"/>
              <a:t>Reduce manpower requirements to staff dispatch support operations while preserving fully security and auditability</a:t>
            </a:r>
          </a:p>
          <a:p>
            <a:endParaRPr lang="en-US" sz="1600" dirty="0"/>
          </a:p>
          <a:p>
            <a:endParaRPr lang="en-US" sz="1600" dirty="0"/>
          </a:p>
          <a:p>
            <a:r>
              <a:rPr lang="en-US" sz="1600" b="1" dirty="0"/>
              <a:t>Outcome:</a:t>
            </a:r>
          </a:p>
          <a:p>
            <a:r>
              <a:rPr lang="en-US" sz="1600" dirty="0"/>
              <a:t>Cross-ATM-lock-system-platform offloading 95%+ of routine daily manual dispatching costs</a:t>
            </a:r>
          </a:p>
        </p:txBody>
      </p:sp>
      <p:pic>
        <p:nvPicPr>
          <p:cNvPr id="3" name="Picture 2">
            <a:extLst>
              <a:ext uri="{FF2B5EF4-FFF2-40B4-BE49-F238E27FC236}">
                <a16:creationId xmlns:a16="http://schemas.microsoft.com/office/drawing/2014/main" id="{BBF5E74B-AD32-AB16-FE25-2865B3356B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27" y="593870"/>
            <a:ext cx="3589962" cy="587706"/>
          </a:xfrm>
          <a:prstGeom prst="rect">
            <a:avLst/>
          </a:prstGeom>
        </p:spPr>
      </p:pic>
    </p:spTree>
    <p:extLst>
      <p:ext uri="{BB962C8B-B14F-4D97-AF65-F5344CB8AC3E}">
        <p14:creationId xmlns:p14="http://schemas.microsoft.com/office/powerpoint/2010/main" val="3221609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D6CD5-1090-2A66-FFE6-C7699173A690}"/>
            </a:ext>
          </a:extLst>
        </p:cNvPr>
        <p:cNvGrpSpPr/>
        <p:nvPr/>
      </p:nvGrpSpPr>
      <p:grpSpPr>
        <a:xfrm>
          <a:off x="0" y="0"/>
          <a:ext cx="0" cy="0"/>
          <a:chOff x="0" y="0"/>
          <a:chExt cx="0" cy="0"/>
        </a:xfrm>
      </p:grpSpPr>
      <p:pic>
        <p:nvPicPr>
          <p:cNvPr id="52" name="Picture 51">
            <a:extLst>
              <a:ext uri="{FF2B5EF4-FFF2-40B4-BE49-F238E27FC236}">
                <a16:creationId xmlns:a16="http://schemas.microsoft.com/office/drawing/2014/main" id="{7A5A1706-BB0B-32C3-3DE7-DFFB27FC1E22}"/>
              </a:ext>
            </a:extLst>
          </p:cNvPr>
          <p:cNvPicPr>
            <a:picLocks noChangeAspect="1"/>
          </p:cNvPicPr>
          <p:nvPr/>
        </p:nvPicPr>
        <p:blipFill>
          <a:blip r:embed="rId2"/>
          <a:stretch>
            <a:fillRect/>
          </a:stretch>
        </p:blipFill>
        <p:spPr>
          <a:xfrm>
            <a:off x="2234384" y="937260"/>
            <a:ext cx="6057852" cy="5502550"/>
          </a:xfrm>
          <a:prstGeom prst="rect">
            <a:avLst/>
          </a:prstGeom>
        </p:spPr>
      </p:pic>
      <p:sp>
        <p:nvSpPr>
          <p:cNvPr id="4" name="TextBox 3">
            <a:extLst>
              <a:ext uri="{FF2B5EF4-FFF2-40B4-BE49-F238E27FC236}">
                <a16:creationId xmlns:a16="http://schemas.microsoft.com/office/drawing/2014/main" id="{C0ABCBDD-935F-E855-4781-798D8CDDA70A}"/>
              </a:ext>
            </a:extLst>
          </p:cNvPr>
          <p:cNvSpPr txBox="1"/>
          <p:nvPr/>
        </p:nvSpPr>
        <p:spPr>
          <a:xfrm>
            <a:off x="622055" y="316496"/>
            <a:ext cx="9752867" cy="369332"/>
          </a:xfrm>
          <a:prstGeom prst="rect">
            <a:avLst/>
          </a:prstGeom>
          <a:noFill/>
        </p:spPr>
        <p:txBody>
          <a:bodyPr wrap="square">
            <a:spAutoFit/>
          </a:bodyPr>
          <a:lstStyle/>
          <a:p>
            <a:r>
              <a:rPr lang="en-US" sz="1800" b="1" dirty="0">
                <a:solidFill>
                  <a:schemeClr val="accent6">
                    <a:lumMod val="75000"/>
                  </a:schemeClr>
                </a:solidFill>
              </a:rPr>
              <a:t>Breakthroughs Delivered </a:t>
            </a:r>
            <a:r>
              <a:rPr lang="en-US" sz="1800" dirty="0">
                <a:solidFill>
                  <a:schemeClr val="accent6">
                    <a:lumMod val="75000"/>
                  </a:schemeClr>
                </a:solidFill>
              </a:rPr>
              <a:t>| Company Optimization – CIT/ATM/FLM Cash Operations/Logistics</a:t>
            </a:r>
          </a:p>
        </p:txBody>
      </p:sp>
      <p:grpSp>
        <p:nvGrpSpPr>
          <p:cNvPr id="42" name="Group 41">
            <a:extLst>
              <a:ext uri="{FF2B5EF4-FFF2-40B4-BE49-F238E27FC236}">
                <a16:creationId xmlns:a16="http://schemas.microsoft.com/office/drawing/2014/main" id="{2F3CA3D9-F2E5-C4CF-FA6F-4FB348DB9E04}"/>
              </a:ext>
            </a:extLst>
          </p:cNvPr>
          <p:cNvGrpSpPr/>
          <p:nvPr/>
        </p:nvGrpSpPr>
        <p:grpSpPr>
          <a:xfrm>
            <a:off x="655084" y="1597322"/>
            <a:ext cx="2932177" cy="4988384"/>
            <a:chOff x="450332" y="972322"/>
            <a:chExt cx="3299134" cy="5612672"/>
          </a:xfrm>
        </p:grpSpPr>
        <p:pic>
          <p:nvPicPr>
            <p:cNvPr id="1026" name="Picture 2" descr="Vector Modern smartphone isolated. Mobile phone with blank screen. Cell ...">
              <a:extLst>
                <a:ext uri="{FF2B5EF4-FFF2-40B4-BE49-F238E27FC236}">
                  <a16:creationId xmlns:a16="http://schemas.microsoft.com/office/drawing/2014/main" id="{C1257D9C-68D9-36E5-69ED-1D9A8972D9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675" t="6155" r="28635" b="5721"/>
            <a:stretch>
              <a:fillRect/>
            </a:stretch>
          </p:blipFill>
          <p:spPr bwMode="auto">
            <a:xfrm>
              <a:off x="746947" y="972322"/>
              <a:ext cx="2580104" cy="532617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5EA34984-055E-B918-31C3-0FDA0705BCAA}"/>
                </a:ext>
              </a:extLst>
            </p:cNvPr>
            <p:cNvGrpSpPr/>
            <p:nvPr/>
          </p:nvGrpSpPr>
          <p:grpSpPr>
            <a:xfrm>
              <a:off x="922850" y="1380515"/>
              <a:ext cx="2278000" cy="4756620"/>
              <a:chOff x="2814677" y="1377694"/>
              <a:chExt cx="2219363" cy="4634183"/>
            </a:xfrm>
          </p:grpSpPr>
          <p:pic>
            <p:nvPicPr>
              <p:cNvPr id="7" name="Picture 6">
                <a:extLst>
                  <a:ext uri="{FF2B5EF4-FFF2-40B4-BE49-F238E27FC236}">
                    <a16:creationId xmlns:a16="http://schemas.microsoft.com/office/drawing/2014/main" id="{34A52E76-BB8F-35DE-6A61-6137138D71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4678" y="1377694"/>
                <a:ext cx="2219362" cy="4438723"/>
              </a:xfrm>
              <a:prstGeom prst="rect">
                <a:avLst/>
              </a:prstGeom>
            </p:spPr>
          </p:pic>
          <p:pic>
            <p:nvPicPr>
              <p:cNvPr id="8" name="Picture 7">
                <a:extLst>
                  <a:ext uri="{FF2B5EF4-FFF2-40B4-BE49-F238E27FC236}">
                    <a16:creationId xmlns:a16="http://schemas.microsoft.com/office/drawing/2014/main" id="{94F2ECF0-959E-B8DD-CC74-715F759FA2F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0004"/>
              <a:stretch/>
            </p:blipFill>
            <p:spPr>
              <a:xfrm>
                <a:off x="2814677" y="4650110"/>
                <a:ext cx="2219362" cy="1361767"/>
              </a:xfrm>
              <a:prstGeom prst="rect">
                <a:avLst/>
              </a:prstGeom>
              <a:ln>
                <a:noFill/>
              </a:ln>
            </p:spPr>
          </p:pic>
          <p:grpSp>
            <p:nvGrpSpPr>
              <p:cNvPr id="10" name="Group 9">
                <a:extLst>
                  <a:ext uri="{FF2B5EF4-FFF2-40B4-BE49-F238E27FC236}">
                    <a16:creationId xmlns:a16="http://schemas.microsoft.com/office/drawing/2014/main" id="{86C12A9D-D8DA-DDD1-8D91-2BEBA28319EC}"/>
                  </a:ext>
                </a:extLst>
              </p:cNvPr>
              <p:cNvGrpSpPr/>
              <p:nvPr/>
            </p:nvGrpSpPr>
            <p:grpSpPr>
              <a:xfrm>
                <a:off x="3715680" y="4207368"/>
                <a:ext cx="516012" cy="87630"/>
                <a:chOff x="4105705" y="4200525"/>
                <a:chExt cx="516012" cy="87630"/>
              </a:xfrm>
            </p:grpSpPr>
            <p:pic>
              <p:nvPicPr>
                <p:cNvPr id="11" name="Picture 10">
                  <a:extLst>
                    <a:ext uri="{FF2B5EF4-FFF2-40B4-BE49-F238E27FC236}">
                      <a16:creationId xmlns:a16="http://schemas.microsoft.com/office/drawing/2014/main" id="{60E72A2C-7BC7-7611-BA48-A2C82E34E86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41007" t="57612" r="41416" b="40800"/>
                <a:stretch/>
              </p:blipFill>
              <p:spPr>
                <a:xfrm>
                  <a:off x="4105705" y="4200525"/>
                  <a:ext cx="390095" cy="70485"/>
                </a:xfrm>
                <a:prstGeom prst="rect">
                  <a:avLst/>
                </a:prstGeom>
              </p:spPr>
            </p:pic>
            <p:pic>
              <p:nvPicPr>
                <p:cNvPr id="24" name="Picture 23">
                  <a:extLst>
                    <a:ext uri="{FF2B5EF4-FFF2-40B4-BE49-F238E27FC236}">
                      <a16:creationId xmlns:a16="http://schemas.microsoft.com/office/drawing/2014/main" id="{6DFCBD39-DBAF-AF77-4357-17E2635E744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60901" t="57655" r="36075" b="40542"/>
                <a:stretch/>
              </p:blipFill>
              <p:spPr>
                <a:xfrm>
                  <a:off x="4495800" y="4208146"/>
                  <a:ext cx="67105" cy="80009"/>
                </a:xfrm>
                <a:prstGeom prst="rect">
                  <a:avLst/>
                </a:prstGeom>
              </p:spPr>
            </p:pic>
            <p:pic>
              <p:nvPicPr>
                <p:cNvPr id="25" name="Picture 24">
                  <a:extLst>
                    <a:ext uri="{FF2B5EF4-FFF2-40B4-BE49-F238E27FC236}">
                      <a16:creationId xmlns:a16="http://schemas.microsoft.com/office/drawing/2014/main" id="{206D3506-61D4-0B1A-C7EB-950E9726853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60901" t="57655" r="36075" b="40542"/>
                <a:stretch/>
              </p:blipFill>
              <p:spPr>
                <a:xfrm>
                  <a:off x="4554612" y="4208146"/>
                  <a:ext cx="67105" cy="80009"/>
                </a:xfrm>
                <a:prstGeom prst="rect">
                  <a:avLst/>
                </a:prstGeom>
              </p:spPr>
            </p:pic>
          </p:grpSp>
        </p:grpSp>
        <p:grpSp>
          <p:nvGrpSpPr>
            <p:cNvPr id="13" name="Group 12">
              <a:extLst>
                <a:ext uri="{FF2B5EF4-FFF2-40B4-BE49-F238E27FC236}">
                  <a16:creationId xmlns:a16="http://schemas.microsoft.com/office/drawing/2014/main" id="{BD5C4BEE-906C-82FA-1B95-16D5DF5D6F24}"/>
                </a:ext>
              </a:extLst>
            </p:cNvPr>
            <p:cNvGrpSpPr/>
            <p:nvPr/>
          </p:nvGrpSpPr>
          <p:grpSpPr>
            <a:xfrm>
              <a:off x="450332" y="5962083"/>
              <a:ext cx="3299134" cy="622911"/>
              <a:chOff x="1917353" y="3770354"/>
              <a:chExt cx="4260177" cy="804366"/>
            </a:xfrm>
          </p:grpSpPr>
          <p:sp>
            <p:nvSpPr>
              <p:cNvPr id="14" name="Rounded Rectangle 17">
                <a:extLst>
                  <a:ext uri="{FF2B5EF4-FFF2-40B4-BE49-F238E27FC236}">
                    <a16:creationId xmlns:a16="http://schemas.microsoft.com/office/drawing/2014/main" id="{1743CA56-8BDD-D212-A8E3-227E8597DC11}"/>
                  </a:ext>
                </a:extLst>
              </p:cNvPr>
              <p:cNvSpPr/>
              <p:nvPr/>
            </p:nvSpPr>
            <p:spPr>
              <a:xfrm>
                <a:off x="1917353" y="3770354"/>
                <a:ext cx="4260177"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519113"/>
                <a:r>
                  <a:rPr lang="en-US" sz="1600" b="1" dirty="0"/>
                  <a:t>Workflow Enforcement</a:t>
                </a:r>
              </a:p>
            </p:txBody>
          </p:sp>
          <p:grpSp>
            <p:nvGrpSpPr>
              <p:cNvPr id="15" name="Group 14">
                <a:extLst>
                  <a:ext uri="{FF2B5EF4-FFF2-40B4-BE49-F238E27FC236}">
                    <a16:creationId xmlns:a16="http://schemas.microsoft.com/office/drawing/2014/main" id="{C817A829-42F0-26FC-8E42-6E592570B064}"/>
                  </a:ext>
                </a:extLst>
              </p:cNvPr>
              <p:cNvGrpSpPr/>
              <p:nvPr/>
            </p:nvGrpSpPr>
            <p:grpSpPr>
              <a:xfrm>
                <a:off x="2100180" y="3865140"/>
                <a:ext cx="639238" cy="639238"/>
                <a:chOff x="1806965" y="4525395"/>
                <a:chExt cx="1188167" cy="1188168"/>
              </a:xfrm>
            </p:grpSpPr>
            <p:sp>
              <p:nvSpPr>
                <p:cNvPr id="16" name="Oval 15">
                  <a:extLst>
                    <a:ext uri="{FF2B5EF4-FFF2-40B4-BE49-F238E27FC236}">
                      <a16:creationId xmlns:a16="http://schemas.microsoft.com/office/drawing/2014/main" id="{8D582F7E-4167-27E0-6915-87C3E4DA83D0}"/>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17" name="Picture 16">
                  <a:extLst>
                    <a:ext uri="{FF2B5EF4-FFF2-40B4-BE49-F238E27FC236}">
                      <a16:creationId xmlns:a16="http://schemas.microsoft.com/office/drawing/2014/main" id="{85C25722-2F76-0504-4A28-D80972A2F9C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sp>
        <p:nvSpPr>
          <p:cNvPr id="38" name="Rectangle: Rounded Corners 37">
            <a:extLst>
              <a:ext uri="{FF2B5EF4-FFF2-40B4-BE49-F238E27FC236}">
                <a16:creationId xmlns:a16="http://schemas.microsoft.com/office/drawing/2014/main" id="{FDAE498F-4D72-2590-EED4-AC8AAD6A865C}"/>
              </a:ext>
            </a:extLst>
          </p:cNvPr>
          <p:cNvSpPr/>
          <p:nvPr/>
        </p:nvSpPr>
        <p:spPr>
          <a:xfrm>
            <a:off x="5767912" y="2759737"/>
            <a:ext cx="5048647" cy="2449990"/>
          </a:xfrm>
          <a:prstGeom prst="roundRect">
            <a:avLst>
              <a:gd name="adj" fmla="val 2312"/>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54E1CFC7-CF43-E9D3-1C44-369ADCC44BED}"/>
              </a:ext>
            </a:extLst>
          </p:cNvPr>
          <p:cNvPicPr>
            <a:picLocks noChangeAspect="1"/>
          </p:cNvPicPr>
          <p:nvPr/>
        </p:nvPicPr>
        <p:blipFill>
          <a:blip r:embed="rId9"/>
          <a:stretch>
            <a:fillRect/>
          </a:stretch>
        </p:blipFill>
        <p:spPr>
          <a:xfrm>
            <a:off x="6022727" y="4472815"/>
            <a:ext cx="2322289" cy="445058"/>
          </a:xfrm>
          <a:prstGeom prst="rect">
            <a:avLst/>
          </a:prstGeom>
        </p:spPr>
      </p:pic>
      <p:sp>
        <p:nvSpPr>
          <p:cNvPr id="40" name="Rectangle: Rounded Corners 39">
            <a:extLst>
              <a:ext uri="{FF2B5EF4-FFF2-40B4-BE49-F238E27FC236}">
                <a16:creationId xmlns:a16="http://schemas.microsoft.com/office/drawing/2014/main" id="{B068FB2F-4008-966F-87B0-DDAFFF518AC5}"/>
              </a:ext>
            </a:extLst>
          </p:cNvPr>
          <p:cNvSpPr/>
          <p:nvPr/>
        </p:nvSpPr>
        <p:spPr>
          <a:xfrm>
            <a:off x="8665780" y="4984807"/>
            <a:ext cx="2434598" cy="4053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Schedule Demo</a:t>
            </a:r>
          </a:p>
        </p:txBody>
      </p:sp>
      <p:sp>
        <p:nvSpPr>
          <p:cNvPr id="3" name="TextBox 2">
            <a:extLst>
              <a:ext uri="{FF2B5EF4-FFF2-40B4-BE49-F238E27FC236}">
                <a16:creationId xmlns:a16="http://schemas.microsoft.com/office/drawing/2014/main" id="{AA6440AF-7926-3F21-EC7E-E006889A6907}"/>
              </a:ext>
            </a:extLst>
          </p:cNvPr>
          <p:cNvSpPr txBox="1"/>
          <p:nvPr/>
        </p:nvSpPr>
        <p:spPr>
          <a:xfrm>
            <a:off x="6094348" y="3558277"/>
            <a:ext cx="4039054" cy="738664"/>
          </a:xfrm>
          <a:prstGeom prst="rect">
            <a:avLst/>
          </a:prstGeom>
          <a:noFill/>
        </p:spPr>
        <p:txBody>
          <a:bodyPr wrap="none" rtlCol="0">
            <a:spAutoFit/>
          </a:bodyPr>
          <a:lstStyle/>
          <a:p>
            <a:r>
              <a:rPr lang="en-US" sz="1600" b="1" dirty="0"/>
              <a:t>Zero-Trust CIT/ATM/Vault/FLM Operations</a:t>
            </a:r>
          </a:p>
          <a:p>
            <a:endParaRPr lang="en-US" sz="1200" b="1" dirty="0"/>
          </a:p>
          <a:p>
            <a:r>
              <a:rPr lang="en-US" sz="1400" b="1" dirty="0">
                <a:solidFill>
                  <a:schemeClr val="accent6">
                    <a:lumMod val="75000"/>
                  </a:schemeClr>
                </a:solidFill>
              </a:rPr>
              <a:t>$3Bn+/mo </a:t>
            </a:r>
            <a:r>
              <a:rPr lang="en-US" sz="1400" b="1" dirty="0"/>
              <a:t>Secured Cash Processing/Transport</a:t>
            </a:r>
          </a:p>
        </p:txBody>
      </p:sp>
      <p:pic>
        <p:nvPicPr>
          <p:cNvPr id="2" name="Picture 1">
            <a:extLst>
              <a:ext uri="{FF2B5EF4-FFF2-40B4-BE49-F238E27FC236}">
                <a16:creationId xmlns:a16="http://schemas.microsoft.com/office/drawing/2014/main" id="{8DF3F43E-7A8F-1FEF-2CAE-134BEEAB3FD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68233" y="2921719"/>
            <a:ext cx="3645044" cy="576400"/>
          </a:xfrm>
          <a:prstGeom prst="rect">
            <a:avLst/>
          </a:prstGeom>
        </p:spPr>
      </p:pic>
      <p:grpSp>
        <p:nvGrpSpPr>
          <p:cNvPr id="46" name="Group 45">
            <a:extLst>
              <a:ext uri="{FF2B5EF4-FFF2-40B4-BE49-F238E27FC236}">
                <a16:creationId xmlns:a16="http://schemas.microsoft.com/office/drawing/2014/main" id="{B96F3D17-1744-0AFE-5F23-65B0699C1D8F}"/>
              </a:ext>
            </a:extLst>
          </p:cNvPr>
          <p:cNvGrpSpPr/>
          <p:nvPr/>
        </p:nvGrpSpPr>
        <p:grpSpPr>
          <a:xfrm>
            <a:off x="2283462" y="930653"/>
            <a:ext cx="1672590" cy="235929"/>
            <a:chOff x="1849120" y="937260"/>
            <a:chExt cx="1672590" cy="235929"/>
          </a:xfrm>
        </p:grpSpPr>
        <p:sp>
          <p:nvSpPr>
            <p:cNvPr id="43" name="Rectangle 42">
              <a:extLst>
                <a:ext uri="{FF2B5EF4-FFF2-40B4-BE49-F238E27FC236}">
                  <a16:creationId xmlns:a16="http://schemas.microsoft.com/office/drawing/2014/main" id="{FF91F2A9-1551-40A7-0AF6-22688981D405}"/>
                </a:ext>
              </a:extLst>
            </p:cNvPr>
            <p:cNvSpPr/>
            <p:nvPr/>
          </p:nvSpPr>
          <p:spPr>
            <a:xfrm>
              <a:off x="1849120" y="937260"/>
              <a:ext cx="1672590" cy="235929"/>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solidFill>
                    <a:srgbClr val="02072E"/>
                  </a:solidFill>
                </a:rPr>
                <a:t>          Main Branch</a:t>
              </a:r>
            </a:p>
          </p:txBody>
        </p:sp>
        <p:pic>
          <p:nvPicPr>
            <p:cNvPr id="44" name="Picture 43">
              <a:extLst>
                <a:ext uri="{FF2B5EF4-FFF2-40B4-BE49-F238E27FC236}">
                  <a16:creationId xmlns:a16="http://schemas.microsoft.com/office/drawing/2014/main" id="{4ABF53DA-C3D0-7ABF-21BB-4341D37ED43E}"/>
                </a:ext>
              </a:extLst>
            </p:cNvPr>
            <p:cNvPicPr>
              <a:picLocks noChangeAspect="1"/>
            </p:cNvPicPr>
            <p:nvPr/>
          </p:nvPicPr>
          <p:blipFill>
            <a:blip r:embed="rId11"/>
            <a:srcRect l="25715" t="1419" r="73284" b="96894"/>
            <a:stretch>
              <a:fillRect/>
            </a:stretch>
          </p:blipFill>
          <p:spPr>
            <a:xfrm>
              <a:off x="2943294" y="1005211"/>
              <a:ext cx="65942" cy="100027"/>
            </a:xfrm>
            <a:prstGeom prst="rect">
              <a:avLst/>
            </a:prstGeom>
          </p:spPr>
        </p:pic>
        <p:pic>
          <p:nvPicPr>
            <p:cNvPr id="45" name="Picture 44">
              <a:extLst>
                <a:ext uri="{FF2B5EF4-FFF2-40B4-BE49-F238E27FC236}">
                  <a16:creationId xmlns:a16="http://schemas.microsoft.com/office/drawing/2014/main" id="{7B7D2D62-68AE-15D0-B1FB-3F69E7440A2E}"/>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5031" t="17452" r="29292" b="32459"/>
            <a:stretch/>
          </p:blipFill>
          <p:spPr>
            <a:xfrm>
              <a:off x="1897619" y="958101"/>
              <a:ext cx="224130" cy="194247"/>
            </a:xfrm>
            <a:prstGeom prst="rect">
              <a:avLst/>
            </a:prstGeom>
          </p:spPr>
        </p:pic>
      </p:grpSp>
      <p:sp>
        <p:nvSpPr>
          <p:cNvPr id="53" name="Rectangle: Rounded Corners 52">
            <a:extLst>
              <a:ext uri="{FF2B5EF4-FFF2-40B4-BE49-F238E27FC236}">
                <a16:creationId xmlns:a16="http://schemas.microsoft.com/office/drawing/2014/main" id="{811C5907-1A3F-982B-40FD-0983CA2804CF}"/>
              </a:ext>
            </a:extLst>
          </p:cNvPr>
          <p:cNvSpPr/>
          <p:nvPr/>
        </p:nvSpPr>
        <p:spPr>
          <a:xfrm>
            <a:off x="9423474" y="2273405"/>
            <a:ext cx="1393085" cy="4053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Visit Site</a:t>
            </a:r>
          </a:p>
        </p:txBody>
      </p:sp>
    </p:spTree>
    <p:extLst>
      <p:ext uri="{BB962C8B-B14F-4D97-AF65-F5344CB8AC3E}">
        <p14:creationId xmlns:p14="http://schemas.microsoft.com/office/powerpoint/2010/main" val="1862934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AD582-6AD5-3498-F3C1-353BC92AF7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A3CD2B-FDE3-4B23-02DB-2D1C76FE21EE}"/>
              </a:ext>
            </a:extLst>
          </p:cNvPr>
          <p:cNvSpPr txBox="1"/>
          <p:nvPr/>
        </p:nvSpPr>
        <p:spPr>
          <a:xfrm>
            <a:off x="764930" y="1441938"/>
            <a:ext cx="10756510" cy="3293209"/>
          </a:xfrm>
          <a:prstGeom prst="rect">
            <a:avLst/>
          </a:prstGeom>
          <a:noFill/>
        </p:spPr>
        <p:txBody>
          <a:bodyPr wrap="square" rtlCol="0">
            <a:spAutoFit/>
          </a:bodyPr>
          <a:lstStyle/>
          <a:p>
            <a:r>
              <a:rPr lang="en-US" sz="1600" b="1" dirty="0"/>
              <a:t>Challenge:</a:t>
            </a:r>
          </a:p>
          <a:p>
            <a:r>
              <a:rPr lang="en-US" sz="1600" dirty="0"/>
              <a:t>Replace a degrading cash logistics platform with a more adaptive, streamlined, and auditable operations foundation leveraging contemporary technologies for a 24x7 high-volume cash processing/transportation provider.</a:t>
            </a:r>
          </a:p>
          <a:p>
            <a:endParaRPr lang="en-US" sz="1600" dirty="0"/>
          </a:p>
          <a:p>
            <a:endParaRPr lang="en-US" sz="1600" dirty="0"/>
          </a:p>
          <a:p>
            <a:r>
              <a:rPr lang="en-US" sz="1600" b="1" dirty="0"/>
              <a:t>Target:</a:t>
            </a:r>
          </a:p>
          <a:p>
            <a:r>
              <a:rPr lang="en-US" sz="1600" dirty="0"/>
              <a:t>Provide a simplified, multi-lingual, multi-currency cash operations platform with centralized control enforcements across all aspects of the operations model (vaults, branches, trucks, routes, field users)</a:t>
            </a:r>
          </a:p>
          <a:p>
            <a:endParaRPr lang="en-US" sz="1600" dirty="0"/>
          </a:p>
          <a:p>
            <a:endParaRPr lang="en-US" sz="1600" dirty="0"/>
          </a:p>
          <a:p>
            <a:r>
              <a:rPr lang="en-US" sz="1600" b="1" dirty="0"/>
              <a:t>Outcome:</a:t>
            </a:r>
          </a:p>
          <a:p>
            <a:r>
              <a:rPr lang="en-US" sz="1600" dirty="0"/>
              <a:t>Reduced resource onboarding times, increased operating consistency, and centralized auditing of all operational details across billions in monthly cash movements.</a:t>
            </a:r>
          </a:p>
        </p:txBody>
      </p:sp>
      <p:pic>
        <p:nvPicPr>
          <p:cNvPr id="3" name="Picture 2">
            <a:extLst>
              <a:ext uri="{FF2B5EF4-FFF2-40B4-BE49-F238E27FC236}">
                <a16:creationId xmlns:a16="http://schemas.microsoft.com/office/drawing/2014/main" id="{94B72E4B-F2D4-9C66-BB0F-72CB1A032A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793" y="544279"/>
            <a:ext cx="3645044" cy="576400"/>
          </a:xfrm>
          <a:prstGeom prst="rect">
            <a:avLst/>
          </a:prstGeom>
        </p:spPr>
      </p:pic>
    </p:spTree>
    <p:extLst>
      <p:ext uri="{BB962C8B-B14F-4D97-AF65-F5344CB8AC3E}">
        <p14:creationId xmlns:p14="http://schemas.microsoft.com/office/powerpoint/2010/main" val="2022238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ABCF3-487A-18B9-92E1-180EDBF3B791}"/>
            </a:ext>
          </a:extLst>
        </p:cNvPr>
        <p:cNvGrpSpPr/>
        <p:nvPr/>
      </p:nvGrpSpPr>
      <p:grpSpPr>
        <a:xfrm>
          <a:off x="0" y="0"/>
          <a:ext cx="0" cy="0"/>
          <a:chOff x="0" y="0"/>
          <a:chExt cx="0" cy="0"/>
        </a:xfrm>
      </p:grpSpPr>
      <p:pic>
        <p:nvPicPr>
          <p:cNvPr id="37" name="Picture 36">
            <a:extLst>
              <a:ext uri="{FF2B5EF4-FFF2-40B4-BE49-F238E27FC236}">
                <a16:creationId xmlns:a16="http://schemas.microsoft.com/office/drawing/2014/main" id="{82D3B687-E2B5-90DC-2E39-BBBBB12503A6}"/>
              </a:ext>
            </a:extLst>
          </p:cNvPr>
          <p:cNvPicPr>
            <a:picLocks noChangeAspect="1"/>
          </p:cNvPicPr>
          <p:nvPr/>
        </p:nvPicPr>
        <p:blipFill>
          <a:blip r:embed="rId2"/>
          <a:stretch>
            <a:fillRect/>
          </a:stretch>
        </p:blipFill>
        <p:spPr>
          <a:xfrm>
            <a:off x="1803506" y="915086"/>
            <a:ext cx="9505594" cy="5342683"/>
          </a:xfrm>
          <a:prstGeom prst="rect">
            <a:avLst/>
          </a:prstGeom>
        </p:spPr>
      </p:pic>
      <p:sp>
        <p:nvSpPr>
          <p:cNvPr id="4" name="TextBox 3">
            <a:extLst>
              <a:ext uri="{FF2B5EF4-FFF2-40B4-BE49-F238E27FC236}">
                <a16:creationId xmlns:a16="http://schemas.microsoft.com/office/drawing/2014/main" id="{781DDA7D-E535-47EA-D7DA-5A9F5352A49C}"/>
              </a:ext>
            </a:extLst>
          </p:cNvPr>
          <p:cNvSpPr txBox="1"/>
          <p:nvPr/>
        </p:nvSpPr>
        <p:spPr>
          <a:xfrm>
            <a:off x="622055" y="316496"/>
            <a:ext cx="10544175" cy="369332"/>
          </a:xfrm>
          <a:prstGeom prst="rect">
            <a:avLst/>
          </a:prstGeom>
          <a:noFill/>
        </p:spPr>
        <p:txBody>
          <a:bodyPr wrap="square">
            <a:spAutoFit/>
          </a:bodyPr>
          <a:lstStyle/>
          <a:p>
            <a:r>
              <a:rPr lang="en-US" sz="1800" b="1" dirty="0">
                <a:solidFill>
                  <a:schemeClr val="accent6">
                    <a:lumMod val="75000"/>
                  </a:schemeClr>
                </a:solidFill>
              </a:rPr>
              <a:t>Breakthroughs Delivered </a:t>
            </a:r>
            <a:r>
              <a:rPr lang="en-US" sz="1800" dirty="0">
                <a:solidFill>
                  <a:schemeClr val="accent6">
                    <a:lumMod val="75000"/>
                  </a:schemeClr>
                </a:solidFill>
              </a:rPr>
              <a:t>| Program Optimization – Contracted Services Fulfillment + Compliance Mgmt</a:t>
            </a:r>
          </a:p>
        </p:txBody>
      </p:sp>
      <p:grpSp>
        <p:nvGrpSpPr>
          <p:cNvPr id="41" name="Group 40">
            <a:extLst>
              <a:ext uri="{FF2B5EF4-FFF2-40B4-BE49-F238E27FC236}">
                <a16:creationId xmlns:a16="http://schemas.microsoft.com/office/drawing/2014/main" id="{5706F38A-6B0C-CDBA-93DD-7B23F24D83CB}"/>
              </a:ext>
            </a:extLst>
          </p:cNvPr>
          <p:cNvGrpSpPr/>
          <p:nvPr/>
        </p:nvGrpSpPr>
        <p:grpSpPr>
          <a:xfrm>
            <a:off x="704472" y="1978269"/>
            <a:ext cx="3146559" cy="4701007"/>
            <a:chOff x="268646" y="972322"/>
            <a:chExt cx="3565009" cy="5326178"/>
          </a:xfrm>
        </p:grpSpPr>
        <p:pic>
          <p:nvPicPr>
            <p:cNvPr id="1026" name="Picture 2" descr="Vector Modern smartphone isolated. Mobile phone with blank screen. Cell ...">
              <a:extLst>
                <a:ext uri="{FF2B5EF4-FFF2-40B4-BE49-F238E27FC236}">
                  <a16:creationId xmlns:a16="http://schemas.microsoft.com/office/drawing/2014/main" id="{155A2D61-C355-048A-7F6A-BFEBE9961A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675" t="6155" r="28795" b="5721"/>
            <a:stretch>
              <a:fillRect/>
            </a:stretch>
          </p:blipFill>
          <p:spPr bwMode="auto">
            <a:xfrm>
              <a:off x="746947" y="972322"/>
              <a:ext cx="2570417" cy="532617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164061C9-4406-7860-3292-F2B5E012CF12}"/>
                </a:ext>
              </a:extLst>
            </p:cNvPr>
            <p:cNvPicPr>
              <a:picLocks noChangeAspect="1"/>
            </p:cNvPicPr>
            <p:nvPr/>
          </p:nvPicPr>
          <p:blipFill>
            <a:blip r:embed="rId4">
              <a:extLst>
                <a:ext uri="{28A0092B-C50C-407E-A947-70E740481C1C}">
                  <a14:useLocalDpi xmlns:a14="http://schemas.microsoft.com/office/drawing/2010/main" val="0"/>
                </a:ext>
              </a:extLst>
            </a:blip>
            <a:srcRect b="5527"/>
            <a:stretch>
              <a:fillRect/>
            </a:stretch>
          </p:blipFill>
          <p:spPr>
            <a:xfrm>
              <a:off x="911194" y="1380391"/>
              <a:ext cx="2280413" cy="4659184"/>
            </a:xfrm>
            <a:prstGeom prst="rect">
              <a:avLst/>
            </a:prstGeom>
          </p:spPr>
        </p:pic>
        <p:grpSp>
          <p:nvGrpSpPr>
            <p:cNvPr id="13" name="Group 12">
              <a:extLst>
                <a:ext uri="{FF2B5EF4-FFF2-40B4-BE49-F238E27FC236}">
                  <a16:creationId xmlns:a16="http://schemas.microsoft.com/office/drawing/2014/main" id="{C9C1C11C-83F7-E7CD-A516-70470A0CE73B}"/>
                </a:ext>
              </a:extLst>
            </p:cNvPr>
            <p:cNvGrpSpPr/>
            <p:nvPr/>
          </p:nvGrpSpPr>
          <p:grpSpPr>
            <a:xfrm>
              <a:off x="268646" y="5303484"/>
              <a:ext cx="3565009" cy="622911"/>
              <a:chOff x="1917353" y="3770354"/>
              <a:chExt cx="4603502" cy="804366"/>
            </a:xfrm>
          </p:grpSpPr>
          <p:sp>
            <p:nvSpPr>
              <p:cNvPr id="14" name="Rounded Rectangle 17">
                <a:extLst>
                  <a:ext uri="{FF2B5EF4-FFF2-40B4-BE49-F238E27FC236}">
                    <a16:creationId xmlns:a16="http://schemas.microsoft.com/office/drawing/2014/main" id="{69B792E0-52D8-2FE3-1A22-476299232862}"/>
                  </a:ext>
                </a:extLst>
              </p:cNvPr>
              <p:cNvSpPr/>
              <p:nvPr/>
            </p:nvSpPr>
            <p:spPr>
              <a:xfrm>
                <a:off x="1917353" y="3770354"/>
                <a:ext cx="4603502"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519113"/>
                <a:r>
                  <a:rPr lang="en-US" sz="1600" b="1" dirty="0"/>
                  <a:t>Government Compliance</a:t>
                </a:r>
              </a:p>
            </p:txBody>
          </p:sp>
          <p:grpSp>
            <p:nvGrpSpPr>
              <p:cNvPr id="15" name="Group 14">
                <a:extLst>
                  <a:ext uri="{FF2B5EF4-FFF2-40B4-BE49-F238E27FC236}">
                    <a16:creationId xmlns:a16="http://schemas.microsoft.com/office/drawing/2014/main" id="{B8AE4661-EC89-E72B-D827-48653732DD9E}"/>
                  </a:ext>
                </a:extLst>
              </p:cNvPr>
              <p:cNvGrpSpPr/>
              <p:nvPr/>
            </p:nvGrpSpPr>
            <p:grpSpPr>
              <a:xfrm>
                <a:off x="2100180" y="3865140"/>
                <a:ext cx="639238" cy="639238"/>
                <a:chOff x="1806965" y="4525395"/>
                <a:chExt cx="1188167" cy="1188168"/>
              </a:xfrm>
            </p:grpSpPr>
            <p:sp>
              <p:nvSpPr>
                <p:cNvPr id="16" name="Oval 15">
                  <a:extLst>
                    <a:ext uri="{FF2B5EF4-FFF2-40B4-BE49-F238E27FC236}">
                      <a16:creationId xmlns:a16="http://schemas.microsoft.com/office/drawing/2014/main" id="{716CBCD5-C036-64EB-FA82-22CC9A41A394}"/>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17" name="Picture 16">
                  <a:extLst>
                    <a:ext uri="{FF2B5EF4-FFF2-40B4-BE49-F238E27FC236}">
                      <a16:creationId xmlns:a16="http://schemas.microsoft.com/office/drawing/2014/main" id="{5FA13F72-367C-5951-6CB5-23344D2560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grpSp>
      <p:grpSp>
        <p:nvGrpSpPr>
          <p:cNvPr id="40" name="Group 39">
            <a:extLst>
              <a:ext uri="{FF2B5EF4-FFF2-40B4-BE49-F238E27FC236}">
                <a16:creationId xmlns:a16="http://schemas.microsoft.com/office/drawing/2014/main" id="{8AB37478-8EFB-2D6B-158C-49DA101513EA}"/>
              </a:ext>
            </a:extLst>
          </p:cNvPr>
          <p:cNvGrpSpPr/>
          <p:nvPr/>
        </p:nvGrpSpPr>
        <p:grpSpPr>
          <a:xfrm>
            <a:off x="4560450" y="3104033"/>
            <a:ext cx="4335520" cy="2449990"/>
            <a:chOff x="6540565" y="2853494"/>
            <a:chExt cx="4335520" cy="2449990"/>
          </a:xfrm>
        </p:grpSpPr>
        <p:sp>
          <p:nvSpPr>
            <p:cNvPr id="38" name="Rectangle: Rounded Corners 37">
              <a:extLst>
                <a:ext uri="{FF2B5EF4-FFF2-40B4-BE49-F238E27FC236}">
                  <a16:creationId xmlns:a16="http://schemas.microsoft.com/office/drawing/2014/main" id="{4A56253B-3C8C-9BE2-AF94-7AB9E30C3F6C}"/>
                </a:ext>
              </a:extLst>
            </p:cNvPr>
            <p:cNvSpPr/>
            <p:nvPr/>
          </p:nvSpPr>
          <p:spPr>
            <a:xfrm>
              <a:off x="6540565" y="2853494"/>
              <a:ext cx="4335520" cy="2449990"/>
            </a:xfrm>
            <a:prstGeom prst="roundRect">
              <a:avLst>
                <a:gd name="adj" fmla="val 2312"/>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0D63D0D5-C1AF-7468-9FD6-B7634EADE5A6}"/>
                </a:ext>
              </a:extLst>
            </p:cNvPr>
            <p:cNvPicPr>
              <a:picLocks noChangeAspect="1"/>
            </p:cNvPicPr>
            <p:nvPr/>
          </p:nvPicPr>
          <p:blipFill>
            <a:blip r:embed="rId6"/>
            <a:stretch>
              <a:fillRect/>
            </a:stretch>
          </p:blipFill>
          <p:spPr>
            <a:xfrm>
              <a:off x="6725014" y="4796487"/>
              <a:ext cx="2322289" cy="445058"/>
            </a:xfrm>
            <a:prstGeom prst="rect">
              <a:avLst/>
            </a:prstGeom>
          </p:spPr>
        </p:pic>
        <p:sp>
          <p:nvSpPr>
            <p:cNvPr id="3" name="TextBox 2">
              <a:extLst>
                <a:ext uri="{FF2B5EF4-FFF2-40B4-BE49-F238E27FC236}">
                  <a16:creationId xmlns:a16="http://schemas.microsoft.com/office/drawing/2014/main" id="{55E8D226-AE24-9429-69B5-9DAD0582799D}"/>
                </a:ext>
              </a:extLst>
            </p:cNvPr>
            <p:cNvSpPr txBox="1"/>
            <p:nvPr/>
          </p:nvSpPr>
          <p:spPr>
            <a:xfrm>
              <a:off x="6635176" y="3782334"/>
              <a:ext cx="4139210" cy="923330"/>
            </a:xfrm>
            <a:prstGeom prst="rect">
              <a:avLst/>
            </a:prstGeom>
            <a:noFill/>
          </p:spPr>
          <p:txBody>
            <a:bodyPr wrap="none" rtlCol="0">
              <a:spAutoFit/>
            </a:bodyPr>
            <a:lstStyle/>
            <a:p>
              <a:r>
                <a:rPr lang="en-US" sz="1600" b="1" dirty="0"/>
                <a:t>US Immigration Court Services</a:t>
              </a:r>
            </a:p>
            <a:p>
              <a:r>
                <a:rPr lang="en-US" sz="1400" b="1" dirty="0"/>
                <a:t>Contracted Interpreter Fulfillment +Compliance</a:t>
              </a:r>
            </a:p>
            <a:p>
              <a:endParaRPr lang="en-US" sz="1000" b="1" dirty="0"/>
            </a:p>
            <a:p>
              <a:r>
                <a:rPr lang="en-US" sz="1400" b="1" dirty="0">
                  <a:solidFill>
                    <a:schemeClr val="accent6">
                      <a:lumMod val="75000"/>
                    </a:schemeClr>
                  </a:solidFill>
                </a:rPr>
                <a:t>25k+/mo </a:t>
              </a:r>
              <a:r>
                <a:rPr lang="en-US" sz="1400" b="1" dirty="0"/>
                <a:t>DOJ/EOIR Interpretation Service Orders</a:t>
              </a:r>
            </a:p>
          </p:txBody>
        </p:sp>
        <p:pic>
          <p:nvPicPr>
            <p:cNvPr id="33" name="Picture 32">
              <a:extLst>
                <a:ext uri="{FF2B5EF4-FFF2-40B4-BE49-F238E27FC236}">
                  <a16:creationId xmlns:a16="http://schemas.microsoft.com/office/drawing/2014/main" id="{30F6AC9C-3997-C808-33E0-374A321BDE85}"/>
                </a:ext>
              </a:extLst>
            </p:cNvPr>
            <p:cNvPicPr>
              <a:picLocks noChangeAspect="1"/>
            </p:cNvPicPr>
            <p:nvPr/>
          </p:nvPicPr>
          <p:blipFill>
            <a:blip r:embed="rId7"/>
            <a:stretch>
              <a:fillRect/>
            </a:stretch>
          </p:blipFill>
          <p:spPr>
            <a:xfrm>
              <a:off x="6635176" y="2961014"/>
              <a:ext cx="1973622" cy="821320"/>
            </a:xfrm>
            <a:prstGeom prst="rect">
              <a:avLst/>
            </a:prstGeom>
          </p:spPr>
        </p:pic>
      </p:grpSp>
    </p:spTree>
    <p:extLst>
      <p:ext uri="{BB962C8B-B14F-4D97-AF65-F5344CB8AC3E}">
        <p14:creationId xmlns:p14="http://schemas.microsoft.com/office/powerpoint/2010/main" val="883934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BA2B4-6277-5F4A-2330-6084528B65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14E713-A3B0-31FE-99F8-CFF007CAD926}"/>
              </a:ext>
            </a:extLst>
          </p:cNvPr>
          <p:cNvSpPr txBox="1"/>
          <p:nvPr/>
        </p:nvSpPr>
        <p:spPr>
          <a:xfrm>
            <a:off x="764930" y="1441938"/>
            <a:ext cx="10756510" cy="3539430"/>
          </a:xfrm>
          <a:prstGeom prst="rect">
            <a:avLst/>
          </a:prstGeom>
          <a:noFill/>
        </p:spPr>
        <p:txBody>
          <a:bodyPr wrap="square" rtlCol="0">
            <a:spAutoFit/>
          </a:bodyPr>
          <a:lstStyle/>
          <a:p>
            <a:r>
              <a:rPr lang="en-US" sz="1600" b="1" dirty="0"/>
              <a:t>Challenge:</a:t>
            </a:r>
          </a:p>
          <a:p>
            <a:r>
              <a:rPr lang="en-US" sz="1600" dirty="0"/>
              <a:t>Provide an uber-like open marketplace for DOJ approved court interpretation contractors to self-select appropriate case loads within defined operating rules and contractor rate preferences</a:t>
            </a:r>
          </a:p>
          <a:p>
            <a:endParaRPr lang="en-US" sz="1600" dirty="0"/>
          </a:p>
          <a:p>
            <a:endParaRPr lang="en-US" sz="1600" dirty="0"/>
          </a:p>
          <a:p>
            <a:r>
              <a:rPr lang="en-US" sz="1600" b="1" dirty="0"/>
              <a:t>Target:</a:t>
            </a:r>
          </a:p>
          <a:p>
            <a:r>
              <a:rPr lang="en-US" sz="1600" dirty="0"/>
              <a:t>Reduce resources/costs associated with manually coordinating court work order assignments with aligned contract resources, to increase contractor compliance with governmental work performance requirements, and to avoid government penalties for underdelivering minimum work order fulfillment rates</a:t>
            </a:r>
          </a:p>
          <a:p>
            <a:endParaRPr lang="en-US" sz="1600" dirty="0"/>
          </a:p>
          <a:p>
            <a:endParaRPr lang="en-US" sz="1600" dirty="0"/>
          </a:p>
          <a:p>
            <a:r>
              <a:rPr lang="en-US" sz="1600" b="1" dirty="0"/>
              <a:t>Outcome:</a:t>
            </a:r>
          </a:p>
          <a:p>
            <a:r>
              <a:rPr lang="en-US" sz="1600" dirty="0"/>
              <a:t>82%+ automated fulfillment of approximately 20-25k/month DOJ  approved interpretation service work orders and massive reduction of internal processing requirements to invoice services</a:t>
            </a:r>
          </a:p>
        </p:txBody>
      </p:sp>
      <p:pic>
        <p:nvPicPr>
          <p:cNvPr id="3" name="Picture 2">
            <a:extLst>
              <a:ext uri="{FF2B5EF4-FFF2-40B4-BE49-F238E27FC236}">
                <a16:creationId xmlns:a16="http://schemas.microsoft.com/office/drawing/2014/main" id="{BF27DF59-F8D2-9E6A-C86A-160DB5FD7C1B}"/>
              </a:ext>
            </a:extLst>
          </p:cNvPr>
          <p:cNvPicPr>
            <a:picLocks noChangeAspect="1"/>
          </p:cNvPicPr>
          <p:nvPr/>
        </p:nvPicPr>
        <p:blipFill>
          <a:blip r:embed="rId2"/>
          <a:stretch>
            <a:fillRect/>
          </a:stretch>
        </p:blipFill>
        <p:spPr>
          <a:xfrm>
            <a:off x="585981" y="407393"/>
            <a:ext cx="1973622" cy="821320"/>
          </a:xfrm>
          <a:prstGeom prst="rect">
            <a:avLst/>
          </a:prstGeom>
        </p:spPr>
      </p:pic>
    </p:spTree>
    <p:extLst>
      <p:ext uri="{BB962C8B-B14F-4D97-AF65-F5344CB8AC3E}">
        <p14:creationId xmlns:p14="http://schemas.microsoft.com/office/powerpoint/2010/main" val="1120110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95340-B2CB-8893-5C89-30141246C11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DE470EC-63B6-B4F2-23DC-DAE59AE8CBA5}"/>
              </a:ext>
            </a:extLst>
          </p:cNvPr>
          <p:cNvPicPr>
            <a:picLocks noChangeAspect="1"/>
          </p:cNvPicPr>
          <p:nvPr/>
        </p:nvPicPr>
        <p:blipFill>
          <a:blip r:embed="rId2"/>
          <a:stretch>
            <a:fillRect/>
          </a:stretch>
        </p:blipFill>
        <p:spPr>
          <a:xfrm>
            <a:off x="1023086" y="1000058"/>
            <a:ext cx="9896960" cy="5119117"/>
          </a:xfrm>
          <a:prstGeom prst="rect">
            <a:avLst/>
          </a:prstGeom>
        </p:spPr>
      </p:pic>
      <p:sp>
        <p:nvSpPr>
          <p:cNvPr id="4" name="TextBox 3">
            <a:extLst>
              <a:ext uri="{FF2B5EF4-FFF2-40B4-BE49-F238E27FC236}">
                <a16:creationId xmlns:a16="http://schemas.microsoft.com/office/drawing/2014/main" id="{4D2C8E8D-1014-324D-683A-6D2EBFE06DF5}"/>
              </a:ext>
            </a:extLst>
          </p:cNvPr>
          <p:cNvSpPr txBox="1"/>
          <p:nvPr/>
        </p:nvSpPr>
        <p:spPr>
          <a:xfrm>
            <a:off x="622055" y="316496"/>
            <a:ext cx="10544175" cy="369332"/>
          </a:xfrm>
          <a:prstGeom prst="rect">
            <a:avLst/>
          </a:prstGeom>
          <a:noFill/>
        </p:spPr>
        <p:txBody>
          <a:bodyPr wrap="square">
            <a:spAutoFit/>
          </a:bodyPr>
          <a:lstStyle/>
          <a:p>
            <a:r>
              <a:rPr lang="en-US" sz="1800" b="1" dirty="0">
                <a:solidFill>
                  <a:schemeClr val="accent6">
                    <a:lumMod val="75000"/>
                  </a:schemeClr>
                </a:solidFill>
              </a:rPr>
              <a:t>Breakthroughs Delivered </a:t>
            </a:r>
            <a:r>
              <a:rPr lang="en-US" sz="1800" dirty="0">
                <a:solidFill>
                  <a:schemeClr val="accent6">
                    <a:lumMod val="75000"/>
                  </a:schemeClr>
                </a:solidFill>
              </a:rPr>
              <a:t>| Business Optimization – Coin Currency Order Processing</a:t>
            </a:r>
          </a:p>
        </p:txBody>
      </p:sp>
      <p:grpSp>
        <p:nvGrpSpPr>
          <p:cNvPr id="13" name="Group 12">
            <a:extLst>
              <a:ext uri="{FF2B5EF4-FFF2-40B4-BE49-F238E27FC236}">
                <a16:creationId xmlns:a16="http://schemas.microsoft.com/office/drawing/2014/main" id="{6BB431FA-873E-EBCC-4574-958B94F0BC51}"/>
              </a:ext>
            </a:extLst>
          </p:cNvPr>
          <p:cNvGrpSpPr/>
          <p:nvPr/>
        </p:nvGrpSpPr>
        <p:grpSpPr>
          <a:xfrm>
            <a:off x="450333" y="5962083"/>
            <a:ext cx="2841508" cy="622911"/>
            <a:chOff x="1917354" y="3770354"/>
            <a:chExt cx="3669244" cy="804366"/>
          </a:xfrm>
        </p:grpSpPr>
        <p:sp>
          <p:nvSpPr>
            <p:cNvPr id="14" name="Rounded Rectangle 17">
              <a:extLst>
                <a:ext uri="{FF2B5EF4-FFF2-40B4-BE49-F238E27FC236}">
                  <a16:creationId xmlns:a16="http://schemas.microsoft.com/office/drawing/2014/main" id="{99F0DDD1-F7A7-B5F3-2202-7A1BF63370F4}"/>
                </a:ext>
              </a:extLst>
            </p:cNvPr>
            <p:cNvSpPr/>
            <p:nvPr/>
          </p:nvSpPr>
          <p:spPr>
            <a:xfrm>
              <a:off x="1917354" y="3770354"/>
              <a:ext cx="3669244" cy="804366"/>
            </a:xfrm>
            <a:prstGeom prst="roundRect">
              <a:avLst/>
            </a:prstGeom>
            <a:ln/>
          </p:spPr>
          <p:style>
            <a:lnRef idx="0">
              <a:schemeClr val="accent6"/>
            </a:lnRef>
            <a:fillRef idx="3">
              <a:schemeClr val="accent6"/>
            </a:fillRef>
            <a:effectRef idx="3">
              <a:schemeClr val="accent6"/>
            </a:effectRef>
            <a:fontRef idx="minor">
              <a:schemeClr val="lt1"/>
            </a:fontRef>
          </p:style>
          <p:txBody>
            <a:bodyPr wrap="none" rtlCol="0" anchor="ctr"/>
            <a:lstStyle/>
            <a:p>
              <a:pPr marL="625475" algn="ctr"/>
              <a:r>
                <a:rPr lang="en-US" sz="2000" b="1" dirty="0"/>
                <a:t>Revenue Velocity</a:t>
              </a:r>
            </a:p>
          </p:txBody>
        </p:sp>
        <p:grpSp>
          <p:nvGrpSpPr>
            <p:cNvPr id="15" name="Group 14">
              <a:extLst>
                <a:ext uri="{FF2B5EF4-FFF2-40B4-BE49-F238E27FC236}">
                  <a16:creationId xmlns:a16="http://schemas.microsoft.com/office/drawing/2014/main" id="{FDF64D43-1600-BBB4-9131-10650229D255}"/>
                </a:ext>
              </a:extLst>
            </p:cNvPr>
            <p:cNvGrpSpPr/>
            <p:nvPr/>
          </p:nvGrpSpPr>
          <p:grpSpPr>
            <a:xfrm>
              <a:off x="2100180" y="3865140"/>
              <a:ext cx="639238" cy="639238"/>
              <a:chOff x="1806965" y="4525395"/>
              <a:chExt cx="1188167" cy="1188168"/>
            </a:xfrm>
          </p:grpSpPr>
          <p:sp>
            <p:nvSpPr>
              <p:cNvPr id="16" name="Oval 15">
                <a:extLst>
                  <a:ext uri="{FF2B5EF4-FFF2-40B4-BE49-F238E27FC236}">
                    <a16:creationId xmlns:a16="http://schemas.microsoft.com/office/drawing/2014/main" id="{29674A0B-52B8-2060-6DA4-80FDEC2859CB}"/>
                  </a:ext>
                </a:extLst>
              </p:cNvPr>
              <p:cNvSpPr/>
              <p:nvPr/>
            </p:nvSpPr>
            <p:spPr>
              <a:xfrm>
                <a:off x="1902435" y="4620867"/>
                <a:ext cx="997221" cy="9972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sz="1000"/>
              </a:p>
            </p:txBody>
          </p:sp>
          <p:pic>
            <p:nvPicPr>
              <p:cNvPr id="17" name="Picture 16">
                <a:extLst>
                  <a:ext uri="{FF2B5EF4-FFF2-40B4-BE49-F238E27FC236}">
                    <a16:creationId xmlns:a16="http://schemas.microsoft.com/office/drawing/2014/main" id="{30D0A6FC-8529-D0BA-48E0-74481E0AB3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6965" y="4525395"/>
                <a:ext cx="1188167" cy="1188168"/>
              </a:xfrm>
              <a:prstGeom prst="rect">
                <a:avLst/>
              </a:prstGeom>
            </p:spPr>
          </p:pic>
        </p:grpSp>
      </p:grpSp>
      <p:sp>
        <p:nvSpPr>
          <p:cNvPr id="6" name="Rectangle: Rounded Corners 5">
            <a:extLst>
              <a:ext uri="{FF2B5EF4-FFF2-40B4-BE49-F238E27FC236}">
                <a16:creationId xmlns:a16="http://schemas.microsoft.com/office/drawing/2014/main" id="{E7AD6A6B-18D8-1640-3430-F7FC5840FB33}"/>
              </a:ext>
            </a:extLst>
          </p:cNvPr>
          <p:cNvSpPr/>
          <p:nvPr/>
        </p:nvSpPr>
        <p:spPr>
          <a:xfrm>
            <a:off x="6866950" y="3046274"/>
            <a:ext cx="5048647" cy="2449990"/>
          </a:xfrm>
          <a:prstGeom prst="roundRect">
            <a:avLst>
              <a:gd name="adj" fmla="val 2312"/>
            </a:avLst>
          </a:prstGeom>
          <a:solidFill>
            <a:schemeClr val="bg1"/>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23A4358-FF31-7626-CD71-BD5B95102DCA}"/>
              </a:ext>
            </a:extLst>
          </p:cNvPr>
          <p:cNvSpPr txBox="1"/>
          <p:nvPr/>
        </p:nvSpPr>
        <p:spPr>
          <a:xfrm>
            <a:off x="7195038" y="4035701"/>
            <a:ext cx="4308615" cy="923330"/>
          </a:xfrm>
          <a:prstGeom prst="rect">
            <a:avLst/>
          </a:prstGeom>
          <a:noFill/>
        </p:spPr>
        <p:txBody>
          <a:bodyPr wrap="none" rtlCol="0">
            <a:spAutoFit/>
          </a:bodyPr>
          <a:lstStyle/>
          <a:p>
            <a:r>
              <a:rPr lang="en-US" b="1" dirty="0"/>
              <a:t>Coin Currency Processing Management</a:t>
            </a:r>
          </a:p>
          <a:p>
            <a:endParaRPr lang="en-US" sz="2000" b="1" dirty="0"/>
          </a:p>
          <a:p>
            <a:r>
              <a:rPr lang="en-US" sz="1600" b="1" dirty="0">
                <a:solidFill>
                  <a:schemeClr val="accent6">
                    <a:lumMod val="75000"/>
                  </a:schemeClr>
                </a:solidFill>
              </a:rPr>
              <a:t>$100M+/mo </a:t>
            </a:r>
            <a:r>
              <a:rPr lang="en-US" sz="1600" b="1" dirty="0"/>
              <a:t>Coin Processing Order Flows</a:t>
            </a:r>
          </a:p>
        </p:txBody>
      </p:sp>
      <p:pic>
        <p:nvPicPr>
          <p:cNvPr id="10" name="Picture 9">
            <a:extLst>
              <a:ext uri="{FF2B5EF4-FFF2-40B4-BE49-F238E27FC236}">
                <a16:creationId xmlns:a16="http://schemas.microsoft.com/office/drawing/2014/main" id="{AF1405DF-12EB-8F9A-221E-C9516FA661D6}"/>
              </a:ext>
            </a:extLst>
          </p:cNvPr>
          <p:cNvPicPr>
            <a:picLocks noChangeAspect="1"/>
          </p:cNvPicPr>
          <p:nvPr/>
        </p:nvPicPr>
        <p:blipFill>
          <a:blip r:embed="rId4"/>
          <a:stretch>
            <a:fillRect/>
          </a:stretch>
        </p:blipFill>
        <p:spPr>
          <a:xfrm>
            <a:off x="7082720" y="3345887"/>
            <a:ext cx="2015559" cy="636493"/>
          </a:xfrm>
          <a:prstGeom prst="rect">
            <a:avLst/>
          </a:prstGeom>
        </p:spPr>
      </p:pic>
    </p:spTree>
    <p:extLst>
      <p:ext uri="{BB962C8B-B14F-4D97-AF65-F5344CB8AC3E}">
        <p14:creationId xmlns:p14="http://schemas.microsoft.com/office/powerpoint/2010/main" val="329152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2751A-E9C4-7803-569B-1CB62A1F45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05CE1A-F1D3-CEDB-4B3C-269599423161}"/>
              </a:ext>
            </a:extLst>
          </p:cNvPr>
          <p:cNvSpPr txBox="1"/>
          <p:nvPr/>
        </p:nvSpPr>
        <p:spPr>
          <a:xfrm>
            <a:off x="764930" y="1441938"/>
            <a:ext cx="10756510" cy="2800767"/>
          </a:xfrm>
          <a:prstGeom prst="rect">
            <a:avLst/>
          </a:prstGeom>
          <a:noFill/>
        </p:spPr>
        <p:txBody>
          <a:bodyPr wrap="square" rtlCol="0">
            <a:spAutoFit/>
          </a:bodyPr>
          <a:lstStyle/>
          <a:p>
            <a:r>
              <a:rPr lang="en-US" sz="1600" b="1" dirty="0"/>
              <a:t>Challenge:</a:t>
            </a:r>
          </a:p>
          <a:p>
            <a:r>
              <a:rPr lang="en-US" sz="1600" dirty="0"/>
              <a:t>Digitally transform internal operations for national coin processing and servicing operation</a:t>
            </a:r>
          </a:p>
          <a:p>
            <a:endParaRPr lang="en-US" sz="1600" dirty="0"/>
          </a:p>
          <a:p>
            <a:endParaRPr lang="en-US" sz="1600" dirty="0"/>
          </a:p>
          <a:p>
            <a:r>
              <a:rPr lang="en-US" sz="1600" b="1" dirty="0"/>
              <a:t>Target:</a:t>
            </a:r>
          </a:p>
          <a:p>
            <a:r>
              <a:rPr lang="en-US" sz="1600" dirty="0"/>
              <a:t>Expedite coin packaging turns and increase overall business velocity</a:t>
            </a:r>
          </a:p>
          <a:p>
            <a:endParaRPr lang="en-US" sz="1600" dirty="0"/>
          </a:p>
          <a:p>
            <a:endParaRPr lang="en-US" sz="1600" dirty="0"/>
          </a:p>
          <a:p>
            <a:r>
              <a:rPr lang="en-US" sz="1600" b="1" dirty="0"/>
              <a:t>Outcome:</a:t>
            </a:r>
          </a:p>
          <a:p>
            <a:r>
              <a:rPr lang="en-US" sz="1600" dirty="0"/>
              <a:t>$100M+/mo in fully-auditable coin packaging orders, creation of new business line for transportation coordination, increased billing accuracy and speed  </a:t>
            </a:r>
          </a:p>
        </p:txBody>
      </p:sp>
      <p:pic>
        <p:nvPicPr>
          <p:cNvPr id="3" name="Picture 2">
            <a:extLst>
              <a:ext uri="{FF2B5EF4-FFF2-40B4-BE49-F238E27FC236}">
                <a16:creationId xmlns:a16="http://schemas.microsoft.com/office/drawing/2014/main" id="{0E69BAB5-39E8-BA2A-52D1-F0C436BDAD30}"/>
              </a:ext>
            </a:extLst>
          </p:cNvPr>
          <p:cNvPicPr>
            <a:picLocks noChangeAspect="1"/>
          </p:cNvPicPr>
          <p:nvPr/>
        </p:nvPicPr>
        <p:blipFill>
          <a:blip r:embed="rId2"/>
          <a:stretch>
            <a:fillRect/>
          </a:stretch>
        </p:blipFill>
        <p:spPr>
          <a:xfrm>
            <a:off x="764930" y="602687"/>
            <a:ext cx="2015559" cy="636493"/>
          </a:xfrm>
          <a:prstGeom prst="rect">
            <a:avLst/>
          </a:prstGeom>
        </p:spPr>
      </p:pic>
    </p:spTree>
    <p:extLst>
      <p:ext uri="{BB962C8B-B14F-4D97-AF65-F5344CB8AC3E}">
        <p14:creationId xmlns:p14="http://schemas.microsoft.com/office/powerpoint/2010/main" val="1636024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9C0D08-CBCA-B0F4-58CD-D1A0CD1DADA0}"/>
              </a:ext>
            </a:extLst>
          </p:cNvPr>
          <p:cNvSpPr txBox="1"/>
          <p:nvPr/>
        </p:nvSpPr>
        <p:spPr>
          <a:xfrm>
            <a:off x="4466690" y="1576008"/>
            <a:ext cx="2798843" cy="923330"/>
          </a:xfrm>
          <a:prstGeom prst="rect">
            <a:avLst/>
          </a:prstGeom>
          <a:noFill/>
        </p:spPr>
        <p:txBody>
          <a:bodyPr wrap="none" rtlCol="0" anchor="ctr">
            <a:spAutoFit/>
          </a:bodyPr>
          <a:lstStyle/>
          <a:p>
            <a:r>
              <a:rPr lang="en-US" sz="5400" dirty="0"/>
              <a:t>Adaptive</a:t>
            </a:r>
            <a:endParaRPr lang="en-US" sz="2400" dirty="0"/>
          </a:p>
        </p:txBody>
      </p:sp>
      <p:sp>
        <p:nvSpPr>
          <p:cNvPr id="4" name="TextBox 3">
            <a:extLst>
              <a:ext uri="{FF2B5EF4-FFF2-40B4-BE49-F238E27FC236}">
                <a16:creationId xmlns:a16="http://schemas.microsoft.com/office/drawing/2014/main" id="{63B09373-62ED-8104-60CE-C71573AAD364}"/>
              </a:ext>
            </a:extLst>
          </p:cNvPr>
          <p:cNvSpPr txBox="1"/>
          <p:nvPr/>
        </p:nvSpPr>
        <p:spPr>
          <a:xfrm>
            <a:off x="2890472" y="1853007"/>
            <a:ext cx="1237861" cy="369332"/>
          </a:xfrm>
          <a:prstGeom prst="rect">
            <a:avLst/>
          </a:prstGeom>
          <a:noFill/>
        </p:spPr>
        <p:txBody>
          <a:bodyPr wrap="square">
            <a:spAutoFit/>
          </a:bodyPr>
          <a:lstStyle/>
          <a:p>
            <a:pPr algn="r"/>
            <a:r>
              <a:rPr lang="en-US" dirty="0"/>
              <a:t>Budget</a:t>
            </a:r>
          </a:p>
        </p:txBody>
      </p:sp>
      <p:sp>
        <p:nvSpPr>
          <p:cNvPr id="5" name="TextBox 4">
            <a:extLst>
              <a:ext uri="{FF2B5EF4-FFF2-40B4-BE49-F238E27FC236}">
                <a16:creationId xmlns:a16="http://schemas.microsoft.com/office/drawing/2014/main" id="{5CB610FE-DC19-7E7B-7493-D731B8B088F0}"/>
              </a:ext>
            </a:extLst>
          </p:cNvPr>
          <p:cNvSpPr txBox="1"/>
          <p:nvPr/>
        </p:nvSpPr>
        <p:spPr>
          <a:xfrm>
            <a:off x="2727961" y="2422394"/>
            <a:ext cx="1400372" cy="369332"/>
          </a:xfrm>
          <a:prstGeom prst="rect">
            <a:avLst/>
          </a:prstGeom>
          <a:noFill/>
        </p:spPr>
        <p:txBody>
          <a:bodyPr wrap="square">
            <a:spAutoFit/>
          </a:bodyPr>
          <a:lstStyle/>
          <a:p>
            <a:pPr algn="r"/>
            <a:r>
              <a:rPr lang="en-US" dirty="0"/>
              <a:t>Timeframe</a:t>
            </a:r>
          </a:p>
        </p:txBody>
      </p:sp>
      <p:sp>
        <p:nvSpPr>
          <p:cNvPr id="6" name="TextBox 5">
            <a:extLst>
              <a:ext uri="{FF2B5EF4-FFF2-40B4-BE49-F238E27FC236}">
                <a16:creationId xmlns:a16="http://schemas.microsoft.com/office/drawing/2014/main" id="{EDA71371-62FB-0B9E-AC6C-60DD9DA68ED8}"/>
              </a:ext>
            </a:extLst>
          </p:cNvPr>
          <p:cNvSpPr txBox="1"/>
          <p:nvPr/>
        </p:nvSpPr>
        <p:spPr>
          <a:xfrm>
            <a:off x="2890471" y="2991781"/>
            <a:ext cx="1237861" cy="369332"/>
          </a:xfrm>
          <a:prstGeom prst="rect">
            <a:avLst/>
          </a:prstGeom>
          <a:noFill/>
        </p:spPr>
        <p:txBody>
          <a:bodyPr wrap="square">
            <a:spAutoFit/>
          </a:bodyPr>
          <a:lstStyle/>
          <a:p>
            <a:pPr algn="r"/>
            <a:r>
              <a:rPr lang="en-US" dirty="0"/>
              <a:t>Goal</a:t>
            </a:r>
          </a:p>
        </p:txBody>
      </p:sp>
      <p:sp>
        <p:nvSpPr>
          <p:cNvPr id="7" name="TextBox 6">
            <a:extLst>
              <a:ext uri="{FF2B5EF4-FFF2-40B4-BE49-F238E27FC236}">
                <a16:creationId xmlns:a16="http://schemas.microsoft.com/office/drawing/2014/main" id="{6FA09E60-2904-527F-B637-A55AA0DA26EC}"/>
              </a:ext>
            </a:extLst>
          </p:cNvPr>
          <p:cNvSpPr txBox="1"/>
          <p:nvPr/>
        </p:nvSpPr>
        <p:spPr>
          <a:xfrm>
            <a:off x="4373621" y="4173996"/>
            <a:ext cx="3770648" cy="1200329"/>
          </a:xfrm>
          <a:prstGeom prst="rect">
            <a:avLst/>
          </a:prstGeom>
          <a:noFill/>
        </p:spPr>
        <p:txBody>
          <a:bodyPr wrap="none" rtlCol="0">
            <a:spAutoFit/>
          </a:bodyPr>
          <a:lstStyle/>
          <a:p>
            <a:r>
              <a:rPr lang="en-US" dirty="0"/>
              <a:t>Timeframe</a:t>
            </a:r>
          </a:p>
          <a:p>
            <a:pPr marL="285750" indent="-285750">
              <a:buFont typeface="Arial" panose="020B0604020202020204" pitchFamily="34" charset="0"/>
              <a:buChar char="•"/>
            </a:pPr>
            <a:r>
              <a:rPr lang="en-US" dirty="0"/>
              <a:t>Platform Accelerations</a:t>
            </a:r>
          </a:p>
          <a:p>
            <a:pPr marL="285750" indent="-285750">
              <a:buFont typeface="Arial" panose="020B0604020202020204" pitchFamily="34" charset="0"/>
              <a:buChar char="•"/>
            </a:pPr>
            <a:r>
              <a:rPr lang="en-US" dirty="0"/>
              <a:t>Iterative Functional Development</a:t>
            </a:r>
          </a:p>
          <a:p>
            <a:pPr marL="285750" indent="-285750">
              <a:buFont typeface="Arial" panose="020B0604020202020204" pitchFamily="34" charset="0"/>
              <a:buChar char="•"/>
            </a:pPr>
            <a:r>
              <a:rPr lang="en-US" dirty="0"/>
              <a:t>Direct Stakeholder Participation</a:t>
            </a:r>
          </a:p>
        </p:txBody>
      </p:sp>
      <p:sp>
        <p:nvSpPr>
          <p:cNvPr id="8" name="TextBox 7">
            <a:extLst>
              <a:ext uri="{FF2B5EF4-FFF2-40B4-BE49-F238E27FC236}">
                <a16:creationId xmlns:a16="http://schemas.microsoft.com/office/drawing/2014/main" id="{C507F87B-41A4-E1AC-301D-E9ACC13BA437}"/>
              </a:ext>
            </a:extLst>
          </p:cNvPr>
          <p:cNvSpPr txBox="1"/>
          <p:nvPr/>
        </p:nvSpPr>
        <p:spPr>
          <a:xfrm>
            <a:off x="203027" y="4173997"/>
            <a:ext cx="4100033" cy="1200329"/>
          </a:xfrm>
          <a:prstGeom prst="rect">
            <a:avLst/>
          </a:prstGeom>
          <a:noFill/>
        </p:spPr>
        <p:txBody>
          <a:bodyPr wrap="none" rtlCol="0">
            <a:spAutoFit/>
          </a:bodyPr>
          <a:lstStyle/>
          <a:p>
            <a:r>
              <a:rPr lang="en-US" dirty="0"/>
              <a:t>Budget</a:t>
            </a:r>
          </a:p>
          <a:p>
            <a:pPr marL="285750" indent="-285750">
              <a:buFont typeface="Arial" panose="020B0604020202020204" pitchFamily="34" charset="0"/>
              <a:buChar char="•"/>
            </a:pPr>
            <a:r>
              <a:rPr lang="en-US" dirty="0"/>
              <a:t>Budget-Driven Solution Engineering</a:t>
            </a:r>
          </a:p>
          <a:p>
            <a:pPr marL="285750" indent="-285750">
              <a:buFont typeface="Arial" panose="020B0604020202020204" pitchFamily="34" charset="0"/>
              <a:buChar char="•"/>
            </a:pPr>
            <a:r>
              <a:rPr lang="en-US" dirty="0"/>
              <a:t>Agile Resourcing</a:t>
            </a:r>
          </a:p>
          <a:p>
            <a:pPr marL="285750" indent="-285750">
              <a:buFont typeface="Arial" panose="020B0604020202020204" pitchFamily="34" charset="0"/>
              <a:buChar char="•"/>
            </a:pPr>
            <a:r>
              <a:rPr lang="en-US" dirty="0"/>
              <a:t>Realistic AI Deployment</a:t>
            </a:r>
          </a:p>
        </p:txBody>
      </p:sp>
      <p:sp>
        <p:nvSpPr>
          <p:cNvPr id="9" name="TextBox 8">
            <a:extLst>
              <a:ext uri="{FF2B5EF4-FFF2-40B4-BE49-F238E27FC236}">
                <a16:creationId xmlns:a16="http://schemas.microsoft.com/office/drawing/2014/main" id="{451170CB-1B24-CC4A-1213-7BFEE53FF04D}"/>
              </a:ext>
            </a:extLst>
          </p:cNvPr>
          <p:cNvSpPr txBox="1"/>
          <p:nvPr/>
        </p:nvSpPr>
        <p:spPr>
          <a:xfrm>
            <a:off x="8263401" y="4173996"/>
            <a:ext cx="3725572" cy="1200329"/>
          </a:xfrm>
          <a:prstGeom prst="rect">
            <a:avLst/>
          </a:prstGeom>
          <a:noFill/>
        </p:spPr>
        <p:txBody>
          <a:bodyPr wrap="none" rtlCol="0">
            <a:spAutoFit/>
          </a:bodyPr>
          <a:lstStyle/>
          <a:p>
            <a:r>
              <a:rPr lang="en-US" dirty="0"/>
              <a:t>Goal</a:t>
            </a:r>
          </a:p>
          <a:p>
            <a:pPr marL="285750" indent="-285750">
              <a:buFont typeface="Arial" panose="020B0604020202020204" pitchFamily="34" charset="0"/>
              <a:buChar char="•"/>
            </a:pPr>
            <a:r>
              <a:rPr lang="en-US" dirty="0"/>
              <a:t>Innovation Validation</a:t>
            </a:r>
          </a:p>
          <a:p>
            <a:pPr marL="285750" indent="-285750">
              <a:buFont typeface="Arial" panose="020B0604020202020204" pitchFamily="34" charset="0"/>
              <a:buChar char="•"/>
            </a:pPr>
            <a:r>
              <a:rPr lang="en-US" dirty="0"/>
              <a:t>Collaborative Outcome Targeting</a:t>
            </a:r>
          </a:p>
          <a:p>
            <a:pPr marL="285750" indent="-285750">
              <a:buFont typeface="Arial" panose="020B0604020202020204" pitchFamily="34" charset="0"/>
              <a:buChar char="•"/>
            </a:pPr>
            <a:r>
              <a:rPr lang="en-US" dirty="0"/>
              <a:t>Creative IP Arrangements</a:t>
            </a:r>
          </a:p>
        </p:txBody>
      </p:sp>
      <p:sp>
        <p:nvSpPr>
          <p:cNvPr id="10" name="TextBox 9">
            <a:extLst>
              <a:ext uri="{FF2B5EF4-FFF2-40B4-BE49-F238E27FC236}">
                <a16:creationId xmlns:a16="http://schemas.microsoft.com/office/drawing/2014/main" id="{A82D32B8-51F4-F383-6961-3DF424656B2C}"/>
              </a:ext>
            </a:extLst>
          </p:cNvPr>
          <p:cNvSpPr txBox="1"/>
          <p:nvPr/>
        </p:nvSpPr>
        <p:spPr>
          <a:xfrm>
            <a:off x="624840" y="518160"/>
            <a:ext cx="1152944" cy="369332"/>
          </a:xfrm>
          <a:prstGeom prst="rect">
            <a:avLst/>
          </a:prstGeom>
          <a:noFill/>
        </p:spPr>
        <p:txBody>
          <a:bodyPr wrap="none" rtlCol="0">
            <a:spAutoFit/>
          </a:bodyPr>
          <a:lstStyle/>
          <a:p>
            <a:r>
              <a:rPr lang="en-US" dirty="0"/>
              <a:t>Approach</a:t>
            </a:r>
          </a:p>
        </p:txBody>
      </p:sp>
      <p:sp>
        <p:nvSpPr>
          <p:cNvPr id="11" name="Rectangle 10">
            <a:extLst>
              <a:ext uri="{FF2B5EF4-FFF2-40B4-BE49-F238E27FC236}">
                <a16:creationId xmlns:a16="http://schemas.microsoft.com/office/drawing/2014/main" id="{9CB67E07-C6DA-983C-7661-B3E117738ADD}"/>
              </a:ext>
            </a:extLst>
          </p:cNvPr>
          <p:cNvSpPr/>
          <p:nvPr/>
        </p:nvSpPr>
        <p:spPr>
          <a:xfrm>
            <a:off x="2734735" y="1676664"/>
            <a:ext cx="1576218" cy="569387"/>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6D35132-9298-0C00-FDC4-330C42EF73DA}"/>
              </a:ext>
            </a:extLst>
          </p:cNvPr>
          <p:cNvSpPr/>
          <p:nvPr/>
        </p:nvSpPr>
        <p:spPr>
          <a:xfrm>
            <a:off x="2734735" y="2300646"/>
            <a:ext cx="1576218" cy="569387"/>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006744-D93E-E6D1-907A-D607A979F61E}"/>
              </a:ext>
            </a:extLst>
          </p:cNvPr>
          <p:cNvSpPr/>
          <p:nvPr/>
        </p:nvSpPr>
        <p:spPr>
          <a:xfrm>
            <a:off x="2721292" y="2911562"/>
            <a:ext cx="1576218" cy="569387"/>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9393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C261EC-2151-3BD8-21B0-C528C96EE029}"/>
              </a:ext>
            </a:extLst>
          </p:cNvPr>
          <p:cNvSpPr txBox="1"/>
          <p:nvPr/>
        </p:nvSpPr>
        <p:spPr>
          <a:xfrm>
            <a:off x="538480" y="340360"/>
            <a:ext cx="993285" cy="369332"/>
          </a:xfrm>
          <a:prstGeom prst="rect">
            <a:avLst/>
          </a:prstGeom>
          <a:noFill/>
        </p:spPr>
        <p:txBody>
          <a:bodyPr wrap="none" rtlCol="0">
            <a:spAutoFit/>
          </a:bodyPr>
          <a:lstStyle/>
          <a:p>
            <a:r>
              <a:rPr lang="en-US" dirty="0"/>
              <a:t>Contact</a:t>
            </a:r>
          </a:p>
        </p:txBody>
      </p:sp>
      <p:sp>
        <p:nvSpPr>
          <p:cNvPr id="3" name="TextBox 2">
            <a:extLst>
              <a:ext uri="{FF2B5EF4-FFF2-40B4-BE49-F238E27FC236}">
                <a16:creationId xmlns:a16="http://schemas.microsoft.com/office/drawing/2014/main" id="{A5B47BA3-A493-9C2A-7B60-8E754CDC4A6C}"/>
              </a:ext>
            </a:extLst>
          </p:cNvPr>
          <p:cNvSpPr txBox="1"/>
          <p:nvPr/>
        </p:nvSpPr>
        <p:spPr>
          <a:xfrm>
            <a:off x="2569760" y="1713021"/>
            <a:ext cx="1540486" cy="369332"/>
          </a:xfrm>
          <a:prstGeom prst="rect">
            <a:avLst/>
          </a:prstGeom>
          <a:noFill/>
        </p:spPr>
        <p:txBody>
          <a:bodyPr wrap="none" rtlCol="0">
            <a:spAutoFit/>
          </a:bodyPr>
          <a:lstStyle/>
          <a:p>
            <a:r>
              <a:rPr lang="en-US" dirty="0"/>
              <a:t>What’s Next?</a:t>
            </a:r>
          </a:p>
        </p:txBody>
      </p:sp>
      <p:sp>
        <p:nvSpPr>
          <p:cNvPr id="4" name="TextBox 3">
            <a:extLst>
              <a:ext uri="{FF2B5EF4-FFF2-40B4-BE49-F238E27FC236}">
                <a16:creationId xmlns:a16="http://schemas.microsoft.com/office/drawing/2014/main" id="{C14866DC-DB49-3732-CDA2-4A4D6085A5C0}"/>
              </a:ext>
            </a:extLst>
          </p:cNvPr>
          <p:cNvSpPr txBox="1"/>
          <p:nvPr/>
        </p:nvSpPr>
        <p:spPr>
          <a:xfrm>
            <a:off x="8575040" y="1112856"/>
            <a:ext cx="2865120" cy="1200329"/>
          </a:xfrm>
          <a:prstGeom prst="rect">
            <a:avLst/>
          </a:prstGeom>
          <a:noFill/>
        </p:spPr>
        <p:txBody>
          <a:bodyPr wrap="square" rtlCol="0">
            <a:spAutoFit/>
          </a:bodyPr>
          <a:lstStyle/>
          <a:p>
            <a:r>
              <a:rPr lang="en-US" dirty="0"/>
              <a:t>CoorWorks</a:t>
            </a:r>
          </a:p>
          <a:p>
            <a:r>
              <a:rPr lang="en-US" dirty="0"/>
              <a:t>1069 W Broad Street #813</a:t>
            </a:r>
          </a:p>
          <a:p>
            <a:r>
              <a:rPr lang="en-US" dirty="0"/>
              <a:t>Falls Church, VA 22046</a:t>
            </a:r>
          </a:p>
          <a:p>
            <a:r>
              <a:rPr lang="en-US" dirty="0"/>
              <a:t>703-200-6225</a:t>
            </a:r>
          </a:p>
        </p:txBody>
      </p:sp>
      <p:sp>
        <p:nvSpPr>
          <p:cNvPr id="6" name="TextBox 5">
            <a:extLst>
              <a:ext uri="{FF2B5EF4-FFF2-40B4-BE49-F238E27FC236}">
                <a16:creationId xmlns:a16="http://schemas.microsoft.com/office/drawing/2014/main" id="{20F8D6F3-E098-EE40-4BF7-A0B8FD25A22C}"/>
              </a:ext>
            </a:extLst>
          </p:cNvPr>
          <p:cNvSpPr txBox="1"/>
          <p:nvPr/>
        </p:nvSpPr>
        <p:spPr>
          <a:xfrm>
            <a:off x="2569761" y="2377440"/>
            <a:ext cx="790601" cy="369332"/>
          </a:xfrm>
          <a:prstGeom prst="rect">
            <a:avLst/>
          </a:prstGeom>
          <a:noFill/>
        </p:spPr>
        <p:txBody>
          <a:bodyPr wrap="none" rtlCol="0">
            <a:spAutoFit/>
          </a:bodyPr>
          <a:lstStyle/>
          <a:p>
            <a:r>
              <a:rPr lang="en-US" dirty="0"/>
              <a:t>Name</a:t>
            </a:r>
          </a:p>
        </p:txBody>
      </p:sp>
      <p:sp>
        <p:nvSpPr>
          <p:cNvPr id="8" name="Rectangle: Rounded Corners 7">
            <a:extLst>
              <a:ext uri="{FF2B5EF4-FFF2-40B4-BE49-F238E27FC236}">
                <a16:creationId xmlns:a16="http://schemas.microsoft.com/office/drawing/2014/main" id="{D2488EF9-F25A-3C89-B58A-C1CC8F0E0B45}"/>
              </a:ext>
            </a:extLst>
          </p:cNvPr>
          <p:cNvSpPr/>
          <p:nvPr/>
        </p:nvSpPr>
        <p:spPr>
          <a:xfrm>
            <a:off x="2675861" y="2746772"/>
            <a:ext cx="3362960" cy="4049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4A7E9AE-9E80-1A85-8B0C-400A4C6B09F2}"/>
              </a:ext>
            </a:extLst>
          </p:cNvPr>
          <p:cNvSpPr txBox="1"/>
          <p:nvPr/>
        </p:nvSpPr>
        <p:spPr>
          <a:xfrm>
            <a:off x="2569761" y="3336946"/>
            <a:ext cx="747320" cy="369332"/>
          </a:xfrm>
          <a:prstGeom prst="rect">
            <a:avLst/>
          </a:prstGeom>
          <a:noFill/>
        </p:spPr>
        <p:txBody>
          <a:bodyPr wrap="none" rtlCol="0">
            <a:spAutoFit/>
          </a:bodyPr>
          <a:lstStyle/>
          <a:p>
            <a:r>
              <a:rPr lang="en-US" dirty="0"/>
              <a:t>Email</a:t>
            </a:r>
          </a:p>
        </p:txBody>
      </p:sp>
      <p:sp>
        <p:nvSpPr>
          <p:cNvPr id="10" name="Rectangle: Rounded Corners 9">
            <a:extLst>
              <a:ext uri="{FF2B5EF4-FFF2-40B4-BE49-F238E27FC236}">
                <a16:creationId xmlns:a16="http://schemas.microsoft.com/office/drawing/2014/main" id="{ED44A9E7-A35D-47CD-25B5-468F5DD4C78E}"/>
              </a:ext>
            </a:extLst>
          </p:cNvPr>
          <p:cNvSpPr/>
          <p:nvPr/>
        </p:nvSpPr>
        <p:spPr>
          <a:xfrm>
            <a:off x="2675861" y="3706278"/>
            <a:ext cx="3362960" cy="4049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4407121-49E5-DAE1-A502-5AFCCEF95775}"/>
              </a:ext>
            </a:extLst>
          </p:cNvPr>
          <p:cNvSpPr/>
          <p:nvPr/>
        </p:nvSpPr>
        <p:spPr>
          <a:xfrm>
            <a:off x="2675860" y="4665784"/>
            <a:ext cx="5167659" cy="1704536"/>
          </a:xfrm>
          <a:prstGeom prst="roundRect">
            <a:avLst>
              <a:gd name="adj" fmla="val 41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B7541DC-A297-79ED-ECC6-87FDC4883B76}"/>
              </a:ext>
            </a:extLst>
          </p:cNvPr>
          <p:cNvSpPr txBox="1"/>
          <p:nvPr/>
        </p:nvSpPr>
        <p:spPr>
          <a:xfrm>
            <a:off x="2569760" y="4296452"/>
            <a:ext cx="1189749" cy="369332"/>
          </a:xfrm>
          <a:prstGeom prst="rect">
            <a:avLst/>
          </a:prstGeom>
          <a:noFill/>
        </p:spPr>
        <p:txBody>
          <a:bodyPr wrap="none" rtlCol="0">
            <a:spAutoFit/>
          </a:bodyPr>
          <a:lstStyle/>
          <a:p>
            <a:r>
              <a:rPr lang="en-US" dirty="0"/>
              <a:t>Comment</a:t>
            </a:r>
          </a:p>
        </p:txBody>
      </p:sp>
    </p:spTree>
    <p:extLst>
      <p:ext uri="{BB962C8B-B14F-4D97-AF65-F5344CB8AC3E}">
        <p14:creationId xmlns:p14="http://schemas.microsoft.com/office/powerpoint/2010/main" val="3446400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24E41F-4112-D042-B89F-84BA9A4FD5FA}"/>
              </a:ext>
            </a:extLst>
          </p:cNvPr>
          <p:cNvPicPr>
            <a:picLocks noChangeAspect="1"/>
          </p:cNvPicPr>
          <p:nvPr/>
        </p:nvPicPr>
        <p:blipFill>
          <a:blip r:embed="rId2"/>
          <a:stretch>
            <a:fillRect/>
          </a:stretch>
        </p:blipFill>
        <p:spPr>
          <a:xfrm>
            <a:off x="910079" y="3543315"/>
            <a:ext cx="7962223" cy="6257385"/>
          </a:xfrm>
          <a:prstGeom prst="rect">
            <a:avLst/>
          </a:prstGeom>
        </p:spPr>
      </p:pic>
      <p:pic>
        <p:nvPicPr>
          <p:cNvPr id="5" name="Picture 4">
            <a:extLst>
              <a:ext uri="{FF2B5EF4-FFF2-40B4-BE49-F238E27FC236}">
                <a16:creationId xmlns:a16="http://schemas.microsoft.com/office/drawing/2014/main" id="{D9892A13-F01D-9DFB-1FC3-012DB7690CBC}"/>
              </a:ext>
            </a:extLst>
          </p:cNvPr>
          <p:cNvPicPr>
            <a:picLocks noChangeAspect="1"/>
          </p:cNvPicPr>
          <p:nvPr/>
        </p:nvPicPr>
        <p:blipFill>
          <a:blip r:embed="rId3"/>
          <a:stretch>
            <a:fillRect/>
          </a:stretch>
        </p:blipFill>
        <p:spPr>
          <a:xfrm>
            <a:off x="947904" y="2710476"/>
            <a:ext cx="9906859" cy="6431837"/>
          </a:xfrm>
          <a:prstGeom prst="rect">
            <a:avLst/>
          </a:prstGeom>
        </p:spPr>
      </p:pic>
      <p:pic>
        <p:nvPicPr>
          <p:cNvPr id="28" name="Picture 27">
            <a:extLst>
              <a:ext uri="{FF2B5EF4-FFF2-40B4-BE49-F238E27FC236}">
                <a16:creationId xmlns:a16="http://schemas.microsoft.com/office/drawing/2014/main" id="{EA013E40-558D-6CA2-158C-2A774168BFD3}"/>
              </a:ext>
            </a:extLst>
          </p:cNvPr>
          <p:cNvPicPr>
            <a:picLocks noChangeAspect="1"/>
          </p:cNvPicPr>
          <p:nvPr/>
        </p:nvPicPr>
        <p:blipFill>
          <a:blip r:embed="rId4"/>
          <a:stretch>
            <a:fillRect/>
          </a:stretch>
        </p:blipFill>
        <p:spPr>
          <a:xfrm>
            <a:off x="3257291" y="3883696"/>
            <a:ext cx="7699590" cy="5156431"/>
          </a:xfrm>
          <a:prstGeom prst="rect">
            <a:avLst/>
          </a:prstGeom>
        </p:spPr>
      </p:pic>
      <p:pic>
        <p:nvPicPr>
          <p:cNvPr id="29" name="Picture 28">
            <a:extLst>
              <a:ext uri="{FF2B5EF4-FFF2-40B4-BE49-F238E27FC236}">
                <a16:creationId xmlns:a16="http://schemas.microsoft.com/office/drawing/2014/main" id="{3C303F12-C394-7512-1F2C-CD216F382B03}"/>
              </a:ext>
            </a:extLst>
          </p:cNvPr>
          <p:cNvPicPr>
            <a:picLocks noChangeAspect="1"/>
          </p:cNvPicPr>
          <p:nvPr/>
        </p:nvPicPr>
        <p:blipFill>
          <a:blip r:embed="rId5">
            <a:extLst>
              <a:ext uri="{28A0092B-C50C-407E-A947-70E740481C1C}">
                <a14:useLocalDpi xmlns:a14="http://schemas.microsoft.com/office/drawing/2010/main" val="0"/>
              </a:ext>
            </a:extLst>
          </a:blip>
          <a:srcRect b="11266"/>
          <a:stretch>
            <a:fillRect/>
          </a:stretch>
        </p:blipFill>
        <p:spPr>
          <a:xfrm>
            <a:off x="9547212" y="4960859"/>
            <a:ext cx="2269162" cy="4614350"/>
          </a:xfrm>
          <a:prstGeom prst="rect">
            <a:avLst/>
          </a:prstGeom>
        </p:spPr>
      </p:pic>
      <p:pic>
        <p:nvPicPr>
          <p:cNvPr id="35" name="Picture 34">
            <a:extLst>
              <a:ext uri="{FF2B5EF4-FFF2-40B4-BE49-F238E27FC236}">
                <a16:creationId xmlns:a16="http://schemas.microsoft.com/office/drawing/2014/main" id="{AFEFD65D-B467-2548-58A2-7EFF39F34683}"/>
              </a:ext>
            </a:extLst>
          </p:cNvPr>
          <p:cNvPicPr>
            <a:picLocks noChangeAspect="1"/>
          </p:cNvPicPr>
          <p:nvPr/>
        </p:nvPicPr>
        <p:blipFill>
          <a:blip r:embed="rId6"/>
          <a:stretch>
            <a:fillRect/>
          </a:stretch>
        </p:blipFill>
        <p:spPr>
          <a:xfrm>
            <a:off x="1916999" y="5045679"/>
            <a:ext cx="8502161" cy="4670201"/>
          </a:xfrm>
          <a:prstGeom prst="rect">
            <a:avLst/>
          </a:prstGeom>
        </p:spPr>
      </p:pic>
      <p:pic>
        <p:nvPicPr>
          <p:cNvPr id="6" name="Picture 5">
            <a:extLst>
              <a:ext uri="{FF2B5EF4-FFF2-40B4-BE49-F238E27FC236}">
                <a16:creationId xmlns:a16="http://schemas.microsoft.com/office/drawing/2014/main" id="{E8F14946-7C31-CDDF-ACFC-C34128035833}"/>
              </a:ext>
            </a:extLst>
          </p:cNvPr>
          <p:cNvPicPr>
            <a:picLocks noChangeAspect="1"/>
          </p:cNvPicPr>
          <p:nvPr/>
        </p:nvPicPr>
        <p:blipFill>
          <a:blip r:embed="rId7"/>
          <a:stretch>
            <a:fillRect/>
          </a:stretch>
        </p:blipFill>
        <p:spPr>
          <a:xfrm>
            <a:off x="291728" y="5962083"/>
            <a:ext cx="10952368" cy="5584680"/>
          </a:xfrm>
          <a:prstGeom prst="rect">
            <a:avLst/>
          </a:prstGeom>
        </p:spPr>
      </p:pic>
      <p:pic>
        <p:nvPicPr>
          <p:cNvPr id="8" name="Picture 7">
            <a:extLst>
              <a:ext uri="{FF2B5EF4-FFF2-40B4-BE49-F238E27FC236}">
                <a16:creationId xmlns:a16="http://schemas.microsoft.com/office/drawing/2014/main" id="{219AC5D0-5511-ECD6-87A3-4FE633ED5B5D}"/>
              </a:ext>
            </a:extLst>
          </p:cNvPr>
          <p:cNvPicPr>
            <a:picLocks noChangeAspect="1"/>
          </p:cNvPicPr>
          <p:nvPr/>
        </p:nvPicPr>
        <p:blipFill>
          <a:blip r:embed="rId8"/>
          <a:stretch>
            <a:fillRect/>
          </a:stretch>
        </p:blipFill>
        <p:spPr>
          <a:xfrm>
            <a:off x="1447800" y="4784738"/>
            <a:ext cx="12192000" cy="6177945"/>
          </a:xfrm>
          <a:prstGeom prst="rect">
            <a:avLst/>
          </a:prstGeom>
        </p:spPr>
      </p:pic>
      <p:sp>
        <p:nvSpPr>
          <p:cNvPr id="9" name="TextBox 8">
            <a:extLst>
              <a:ext uri="{FF2B5EF4-FFF2-40B4-BE49-F238E27FC236}">
                <a16:creationId xmlns:a16="http://schemas.microsoft.com/office/drawing/2014/main" id="{403343F7-AC5E-70A5-7960-E7D6CED7C612}"/>
              </a:ext>
            </a:extLst>
          </p:cNvPr>
          <p:cNvSpPr txBox="1"/>
          <p:nvPr/>
        </p:nvSpPr>
        <p:spPr>
          <a:xfrm>
            <a:off x="681641" y="595081"/>
            <a:ext cx="5486438" cy="369332"/>
          </a:xfrm>
          <a:prstGeom prst="rect">
            <a:avLst/>
          </a:prstGeom>
          <a:noFill/>
        </p:spPr>
        <p:txBody>
          <a:bodyPr wrap="none" rtlCol="0">
            <a:spAutoFit/>
          </a:bodyPr>
          <a:lstStyle/>
          <a:p>
            <a:r>
              <a:rPr lang="en-US" dirty="0"/>
              <a:t>IMAGE COLLECTION (not for site layout – just storage)</a:t>
            </a:r>
          </a:p>
        </p:txBody>
      </p:sp>
    </p:spTree>
    <p:extLst>
      <p:ext uri="{BB962C8B-B14F-4D97-AF65-F5344CB8AC3E}">
        <p14:creationId xmlns:p14="http://schemas.microsoft.com/office/powerpoint/2010/main" val="3146582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484</TotalTime>
  <Words>558</Words>
  <Application>Microsoft Office PowerPoint</Application>
  <PresentationFormat>Widescreen</PresentationFormat>
  <Paragraphs>118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Mike Borek</dc:creator>
  <cp:lastModifiedBy>Mike Borek</cp:lastModifiedBy>
  <cp:revision>12</cp:revision>
  <dcterms:created xsi:type="dcterms:W3CDTF">2026-04-23T16:19:50Z</dcterms:created>
  <dcterms:modified xsi:type="dcterms:W3CDTF">2026-04-24T00:23:54Z</dcterms:modified>
</cp:coreProperties>
</file>