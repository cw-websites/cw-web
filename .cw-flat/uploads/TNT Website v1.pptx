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60" r:id="rId2"/>
    <p:sldId id="262" r:id="rId3"/>
    <p:sldId id="269" r:id="rId4"/>
    <p:sldId id="268" r:id="rId5"/>
    <p:sldId id="264" r:id="rId6"/>
    <p:sldId id="265" r:id="rId7"/>
    <p:sldId id="267" r:id="rId8"/>
    <p:sldId id="273" r:id="rId9"/>
    <p:sldId id="271" r:id="rId10"/>
    <p:sldId id="266" r:id="rId11"/>
    <p:sldId id="270" r:id="rId12"/>
    <p:sldId id="272" r:id="rId13"/>
    <p:sldId id="263" r:id="rId14"/>
    <p:sldId id="261" r:id="rId15"/>
    <p:sldId id="259" r:id="rId16"/>
    <p:sldId id="258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>
        <p:scale>
          <a:sx n="50" d="100"/>
          <a:sy n="50" d="100"/>
        </p:scale>
        <p:origin x="1099" y="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361B2D-0A33-44DA-9693-A3091388F55A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BBD2CC-FBD8-4A76-B141-A17B6D87F1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187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4F3466-9025-10BB-BB96-238E2BE8E1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39550B-5578-C16E-F7A9-EACD1D6931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B37EE0-0530-E20D-75A6-74DD7D4CD4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E9E7A7-777B-7939-F18D-6524F1FD11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BD2CC-FBD8-4A76-B141-A17B6D87F16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6417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0CCBC-2311-950F-CBED-82E5D67ED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ABF412-480A-4E4B-FF73-84CF3BA887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55C522-F4A8-E106-BC0C-E4F1705F0B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431BF5-27BA-8099-A11B-5CFBE7C639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BD2CC-FBD8-4A76-B141-A17B6D87F16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3879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BD2CC-FBD8-4A76-B141-A17B6D87F16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4011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BB8DA-E8C3-01BB-1C24-7FF1AA3A03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BC8A48-B364-FF21-9A49-4477B75EDC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508BA8-8822-87E7-1DA7-04EC98E42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41804-321A-4105-A949-6AECD5ECEE46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30784F-BD7B-F8BE-23D6-857C6A8859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FE47B4-1014-1EC3-1971-C77B152DA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D1EBC-DD64-498F-93D1-00103C02C3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061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F7DCAC-79F3-3A6D-31D3-A2352A14D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C4E755-2E09-6505-133E-BFBD001E3B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9AAC6C-585E-272C-02EF-F42324C10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41804-321A-4105-A949-6AECD5ECEE46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FF5FB8-FA46-FEE9-8743-BF60CF4B5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324CCB-15E2-2B3A-6E4B-6A6F37619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D1EBC-DD64-498F-93D1-00103C02C3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1970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C604C-D7F8-E892-E52F-C7322ED0B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B377E3-AFB2-3E4D-2341-5D6B505EA1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FE595D-1B69-1CBB-F45D-67F70278E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41804-321A-4105-A949-6AECD5ECEE46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A58EBC-D0E1-442E-EF00-7CAAAA8DB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D9A3FD-DD18-5A74-7CCB-741CC32C9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D1EBC-DD64-498F-93D1-00103C02C3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240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3F1C3-D781-A627-A62E-6E0172BFD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B44B3E-C5B6-EE0F-52BA-28E305EE8B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F47DFC-64F0-402C-EBA2-22A3AE0985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DDF37B-558B-754F-BB7E-0C3698762D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41804-321A-4105-A949-6AECD5ECEE46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E7089D-E5A5-B2D4-EF72-A7FFB349F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0D8117-7986-D26E-DC28-51D9A4FF5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D1EBC-DD64-498F-93D1-00103C02C3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2227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56ADD-C8AF-6FF5-1E88-CA27C9306F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45CE51-7EB3-5AA9-BD42-4C336D0DAA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07C0CE-CC58-C322-D456-2C69A1BB9B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9C7F48-ED6C-EC9F-A2E3-0470DD4471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2B1DD3-A4CD-2577-A0B0-452B57E843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7E775E-DCA7-86F1-2A2B-2304B41EA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41804-321A-4105-A949-6AECD5ECEE46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A97C872-9990-84F8-56CE-2265FBBEE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BA0A24-4418-C9B3-A6F4-093D8298A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D1EBC-DD64-498F-93D1-00103C02C3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2477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28BE5-2D74-3605-7F7D-F142FAAC9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07D26D-326E-4519-D585-46E8DEC97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41804-321A-4105-A949-6AECD5ECEE46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86C0F3-36EE-DAC4-DCA3-04B178E326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38AE10-18F8-F962-C85B-6E3F3AC58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D1EBC-DD64-498F-93D1-00103C02C3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547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C64A2D-8235-61FC-5356-6DD129071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41804-321A-4105-A949-6AECD5ECEE46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C11E24-DEDC-29E5-B8E8-9D9510384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675CDE-7403-011D-E93A-E8E6300F3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D1EBC-DD64-498F-93D1-00103C02C3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6452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29E71-4229-352E-F665-2BA19592E5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5B4AA4-CFAC-494F-1D12-DCFBCB9DE9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FD1F90-D3DB-7D7A-FF6A-964F4FBB79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D0F052-105F-BFC2-F09B-2C842D483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41804-321A-4105-A949-6AECD5ECEE46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8F43DE-60B4-6157-8011-36CB3F28C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F79ED1-4B5D-DBEA-FCEE-441352C6E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D1EBC-DD64-498F-93D1-00103C02C3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2158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CD7FF-026B-DDE2-5865-FB642B55FB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E6BDC40-38E9-1556-B2A4-FAC0F4581D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E04E85-636F-BF54-7F16-19E0363437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A9DA61-3B08-0EB3-594F-488C552C75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41804-321A-4105-A949-6AECD5ECEE46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CC7E84-400D-0682-292E-52A0755EF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EC1BE9-E8B9-0F53-7F67-163E8F637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D1EBC-DD64-498F-93D1-00103C02C3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922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C52ED-D4D8-6901-F36F-3F3DCDA15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54D49E-B5C9-9A50-9611-C1436C33AC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F95B8C-AC68-9566-6F29-ECE9191987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41804-321A-4105-A949-6AECD5ECEE46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5169B6-C265-4E32-DF08-B093919BD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47E86-B7F6-A75D-E0F9-84CDCA80F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D1EBC-DD64-498F-93D1-00103C02C3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8225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EB074B-BDA8-D320-46AA-3ABCF40935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2AE7E9-D8C2-B58F-8108-E4BBE4B495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B97EFB-2C33-BDB9-D98E-6E753C9D6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41804-321A-4105-A949-6AECD5ECEE46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E7170A-BDD4-6F2A-9725-3F571CCB3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BB018C-CE27-DD77-ABA5-56E5F39C4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D1EBC-DD64-498F-93D1-00103C02C3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744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77CDED-4624-9C57-E31D-F0321DE76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23841C-E2FB-F8FF-4793-D65487B6AF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7EC4C0-46E0-84FE-4946-2FBE11930D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641804-321A-4105-A949-6AECD5ECEE46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9FFCBD-B986-B328-A64F-72627052D1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22F215-DD35-8FBB-8E0D-9745C3A022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CD1EBC-DD64-498F-93D1-00103C02C3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03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2AE872-A72F-1E20-8B16-B8F1484D9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6E261A9F-374E-23F0-AA51-0CF6C795EAE3}"/>
              </a:ext>
            </a:extLst>
          </p:cNvPr>
          <p:cNvGrpSpPr/>
          <p:nvPr/>
        </p:nvGrpSpPr>
        <p:grpSpPr>
          <a:xfrm>
            <a:off x="101489" y="274804"/>
            <a:ext cx="4668631" cy="898578"/>
            <a:chOff x="101489" y="274804"/>
            <a:chExt cx="5359288" cy="1031509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6F57C464-7E0F-C88F-8656-0777F7F602A1}"/>
                </a:ext>
              </a:extLst>
            </p:cNvPr>
            <p:cNvSpPr txBox="1"/>
            <p:nvPr/>
          </p:nvSpPr>
          <p:spPr>
            <a:xfrm>
              <a:off x="1343336" y="953005"/>
              <a:ext cx="3671603" cy="35330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accent2"/>
                  </a:solidFill>
                </a:rPr>
                <a:t>ONE PLATFORM | INFINITE EXPANSION</a:t>
              </a:r>
            </a:p>
          </p:txBody>
        </p:sp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798DA24E-DAD6-3E1B-EBB8-C466B8AD178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489" y="274804"/>
              <a:ext cx="5359288" cy="847478"/>
            </a:xfrm>
            <a:prstGeom prst="rect">
              <a:avLst/>
            </a:prstGeom>
          </p:spPr>
        </p:pic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E8727FF6-790D-9AAD-56C8-611AD83036A9}"/>
              </a:ext>
            </a:extLst>
          </p:cNvPr>
          <p:cNvGrpSpPr/>
          <p:nvPr/>
        </p:nvGrpSpPr>
        <p:grpSpPr>
          <a:xfrm>
            <a:off x="1105641" y="13812485"/>
            <a:ext cx="1762935" cy="1318591"/>
            <a:chOff x="11305107" y="6992134"/>
            <a:chExt cx="1456080" cy="1318591"/>
          </a:xfrm>
        </p:grpSpPr>
        <p:sp>
          <p:nvSpPr>
            <p:cNvPr id="69" name="Rectangle: Rounded Corners 68">
              <a:extLst>
                <a:ext uri="{FF2B5EF4-FFF2-40B4-BE49-F238E27FC236}">
                  <a16:creationId xmlns:a16="http://schemas.microsoft.com/office/drawing/2014/main" id="{2445610E-F9F6-4B26-7151-167EA766CC43}"/>
                </a:ext>
              </a:extLst>
            </p:cNvPr>
            <p:cNvSpPr/>
            <p:nvPr/>
          </p:nvSpPr>
          <p:spPr>
            <a:xfrm>
              <a:off x="11305108" y="7429456"/>
              <a:ext cx="1456079" cy="881269"/>
            </a:xfrm>
            <a:prstGeom prst="roundRect">
              <a:avLst>
                <a:gd name="adj" fmla="val 7644"/>
              </a:avLst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b"/>
            <a:lstStyle/>
            <a:p>
              <a:pPr algn="ctr"/>
              <a:r>
                <a:rPr lang="en-US" sz="1100" dirty="0"/>
                <a:t>INTEGRATIONS</a:t>
              </a:r>
            </a:p>
          </p:txBody>
        </p:sp>
        <p:sp>
          <p:nvSpPr>
            <p:cNvPr id="70" name="Rectangle: Rounded Corners 69">
              <a:extLst>
                <a:ext uri="{FF2B5EF4-FFF2-40B4-BE49-F238E27FC236}">
                  <a16:creationId xmlns:a16="http://schemas.microsoft.com/office/drawing/2014/main" id="{91FECE20-F04A-DF97-5A7E-8C0BD3E6DCC2}"/>
                </a:ext>
              </a:extLst>
            </p:cNvPr>
            <p:cNvSpPr/>
            <p:nvPr/>
          </p:nvSpPr>
          <p:spPr>
            <a:xfrm>
              <a:off x="11305107" y="6992134"/>
              <a:ext cx="1456079" cy="881269"/>
            </a:xfrm>
            <a:prstGeom prst="roundRect">
              <a:avLst>
                <a:gd name="adj" fmla="val 7644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b"/>
            <a:lstStyle/>
            <a:p>
              <a:pPr algn="ctr"/>
              <a:r>
                <a:rPr lang="en-US" sz="1000" dirty="0"/>
                <a:t>CURRENCY PLATFORMS</a:t>
              </a:r>
            </a:p>
            <a:p>
              <a:pPr algn="ctr"/>
              <a:r>
                <a:rPr lang="en-US" sz="1000" dirty="0"/>
                <a:t>BLUETOOTH DEVICES</a:t>
              </a:r>
            </a:p>
            <a:p>
              <a:pPr algn="ctr"/>
              <a:r>
                <a:rPr lang="en-US" sz="1000" dirty="0"/>
                <a:t>CASH SORTERS</a:t>
              </a:r>
            </a:p>
            <a:p>
              <a:pPr algn="ctr"/>
              <a:r>
                <a:rPr lang="en-US" sz="1000" dirty="0"/>
                <a:t>BANK/FI PLATFORMS</a:t>
              </a:r>
            </a:p>
            <a:p>
              <a:pPr algn="ctr"/>
              <a:r>
                <a:rPr lang="en-US" sz="1000" dirty="0"/>
                <a:t>ENTERPRISE SYSTEMS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8D15374-D1E1-55BA-FE1B-F50B8503265F}"/>
              </a:ext>
            </a:extLst>
          </p:cNvPr>
          <p:cNvGrpSpPr/>
          <p:nvPr/>
        </p:nvGrpSpPr>
        <p:grpSpPr>
          <a:xfrm>
            <a:off x="2586165" y="2166068"/>
            <a:ext cx="7019670" cy="4442509"/>
            <a:chOff x="1697610" y="1755947"/>
            <a:chExt cx="8290452" cy="5246743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84E88DCA-44EC-18F0-A896-885CD82AA6AA}"/>
                </a:ext>
              </a:extLst>
            </p:cNvPr>
            <p:cNvSpPr/>
            <p:nvPr/>
          </p:nvSpPr>
          <p:spPr>
            <a:xfrm>
              <a:off x="2579077" y="1755947"/>
              <a:ext cx="7408985" cy="4993151"/>
            </a:xfrm>
            <a:prstGeom prst="roundRect">
              <a:avLst>
                <a:gd name="adj" fmla="val 3050"/>
              </a:avLst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304EC8AF-39D6-5302-0FD3-B15F06A5787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781133" y="1917087"/>
              <a:ext cx="6930929" cy="4641657"/>
            </a:xfrm>
            <a:prstGeom prst="rect">
              <a:avLst/>
            </a:prstGeom>
          </p:spPr>
        </p:pic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6CE9747C-8DEC-6A76-3885-862077CA9B56}"/>
                </a:ext>
              </a:extLst>
            </p:cNvPr>
            <p:cNvSpPr/>
            <p:nvPr/>
          </p:nvSpPr>
          <p:spPr>
            <a:xfrm>
              <a:off x="1697610" y="3126009"/>
              <a:ext cx="2147560" cy="3876681"/>
            </a:xfrm>
            <a:prstGeom prst="roundRect">
              <a:avLst>
                <a:gd name="adj" fmla="val 3050"/>
              </a:avLst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37D6182C-F40E-71BE-0A87-4C6B29D6DCF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899666" y="3268420"/>
              <a:ext cx="1762934" cy="3561485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110FCFE7-885D-B2B9-CDC5-1488C1BE6BF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r="1244" b="33443"/>
            <a:stretch>
              <a:fillRect/>
            </a:stretch>
          </p:blipFill>
          <p:spPr>
            <a:xfrm>
              <a:off x="5755471" y="4122975"/>
              <a:ext cx="3857452" cy="2337624"/>
            </a:xfrm>
            <a:prstGeom prst="rect">
              <a:avLst/>
            </a:prstGeom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443B212C-6AC8-0E6C-0880-0A4A83A55C38}"/>
              </a:ext>
            </a:extLst>
          </p:cNvPr>
          <p:cNvSpPr txBox="1"/>
          <p:nvPr/>
        </p:nvSpPr>
        <p:spPr>
          <a:xfrm>
            <a:off x="4826970" y="526951"/>
            <a:ext cx="73650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Capabilities | Benefit Targets  | Deployment Cases | Customers |  ATMS | Integrations | Process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AB4D72D-A913-AB32-3E4E-41BC84AF94A5}"/>
              </a:ext>
            </a:extLst>
          </p:cNvPr>
          <p:cNvSpPr/>
          <p:nvPr/>
        </p:nvSpPr>
        <p:spPr>
          <a:xfrm>
            <a:off x="10840831" y="876055"/>
            <a:ext cx="1249680" cy="3385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Contact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4FF5D5A-2B6A-1DA9-7BCA-6B8FB1B22675}"/>
              </a:ext>
            </a:extLst>
          </p:cNvPr>
          <p:cNvSpPr txBox="1"/>
          <p:nvPr/>
        </p:nvSpPr>
        <p:spPr>
          <a:xfrm>
            <a:off x="2982310" y="1464509"/>
            <a:ext cx="69111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/>
              <a:t>Everything CIT/ATM/FLM in 1 Relationship</a:t>
            </a:r>
          </a:p>
        </p:txBody>
      </p:sp>
    </p:spTree>
    <p:extLst>
      <p:ext uri="{BB962C8B-B14F-4D97-AF65-F5344CB8AC3E}">
        <p14:creationId xmlns:p14="http://schemas.microsoft.com/office/powerpoint/2010/main" val="32443472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Group 51">
            <a:extLst>
              <a:ext uri="{FF2B5EF4-FFF2-40B4-BE49-F238E27FC236}">
                <a16:creationId xmlns:a16="http://schemas.microsoft.com/office/drawing/2014/main" id="{3D66EDB3-B2B4-98B9-C8D0-6F43D3AD6E32}"/>
              </a:ext>
            </a:extLst>
          </p:cNvPr>
          <p:cNvGrpSpPr/>
          <p:nvPr/>
        </p:nvGrpSpPr>
        <p:grpSpPr>
          <a:xfrm>
            <a:off x="1074011" y="1976179"/>
            <a:ext cx="10043977" cy="4169496"/>
            <a:chOff x="1475216" y="1884739"/>
            <a:chExt cx="9239321" cy="4169496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7DB73D9D-707E-78AA-DCFE-6A43B44AAB9B}"/>
                </a:ext>
              </a:extLst>
            </p:cNvPr>
            <p:cNvGrpSpPr/>
            <p:nvPr/>
          </p:nvGrpSpPr>
          <p:grpSpPr>
            <a:xfrm>
              <a:off x="1477461" y="1884739"/>
              <a:ext cx="1762935" cy="1325215"/>
              <a:chOff x="403779" y="5357194"/>
              <a:chExt cx="1456080" cy="1325215"/>
            </a:xfrm>
          </p:grpSpPr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8A72C036-81F2-F4E9-66F4-4D61FCB8052A}"/>
                  </a:ext>
                </a:extLst>
              </p:cNvPr>
              <p:cNvSpPr/>
              <p:nvPr/>
            </p:nvSpPr>
            <p:spPr>
              <a:xfrm>
                <a:off x="403780" y="5801140"/>
                <a:ext cx="1456079" cy="881269"/>
              </a:xfrm>
              <a:prstGeom prst="roundRect">
                <a:avLst>
                  <a:gd name="adj" fmla="val 7644"/>
                </a:avLst>
              </a:prstGeom>
              <a:solidFill>
                <a:srgbClr val="0070C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b"/>
              <a:lstStyle/>
              <a:p>
                <a:pPr algn="ctr"/>
                <a:r>
                  <a:rPr lang="en-US" sz="1100" dirty="0"/>
                  <a:t>BRANCHES</a:t>
                </a:r>
              </a:p>
            </p:txBody>
          </p:sp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A285DC7A-FA71-8EBD-FB51-FBF42AC2AA63}"/>
                  </a:ext>
                </a:extLst>
              </p:cNvPr>
              <p:cNvSpPr/>
              <p:nvPr/>
            </p:nvSpPr>
            <p:spPr>
              <a:xfrm>
                <a:off x="403779" y="5357194"/>
                <a:ext cx="1456079" cy="887894"/>
              </a:xfrm>
              <a:prstGeom prst="roundRect">
                <a:avLst>
                  <a:gd name="adj" fmla="val 7644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b"/>
              <a:lstStyle/>
              <a:p>
                <a:pPr marL="57150" indent="-57150">
                  <a:buFont typeface="Arial" panose="020B0604020202020204" pitchFamily="34" charset="0"/>
                  <a:buChar char="•"/>
                </a:pPr>
                <a:r>
                  <a:rPr lang="en-US" sz="1000" dirty="0"/>
                  <a:t>CENTRALIZED MGMT</a:t>
                </a:r>
              </a:p>
              <a:p>
                <a:pPr marL="57150" indent="-57150">
                  <a:buFont typeface="Arial" panose="020B0604020202020204" pitchFamily="34" charset="0"/>
                  <a:buChar char="•"/>
                </a:pPr>
                <a:r>
                  <a:rPr lang="en-US" sz="1000" dirty="0"/>
                  <a:t>ACTION PERMISSIONS</a:t>
                </a:r>
              </a:p>
              <a:p>
                <a:pPr marL="57150" indent="-57150">
                  <a:buFont typeface="Arial" panose="020B0604020202020204" pitchFamily="34" charset="0"/>
                  <a:buChar char="•"/>
                </a:pPr>
                <a:r>
                  <a:rPr lang="en-US" sz="1000" dirty="0"/>
                  <a:t>OPERATION DESIGN</a:t>
                </a:r>
              </a:p>
              <a:p>
                <a:pPr marL="57150" indent="-57150">
                  <a:buFont typeface="Arial" panose="020B0604020202020204" pitchFamily="34" charset="0"/>
                  <a:buChar char="•"/>
                </a:pPr>
                <a:r>
                  <a:rPr lang="en-US" sz="1000" dirty="0"/>
                  <a:t>PROCEDURE DESIGN</a:t>
                </a:r>
              </a:p>
              <a:p>
                <a:pPr marL="57150" indent="-57150">
                  <a:buFont typeface="Arial" panose="020B0604020202020204" pitchFamily="34" charset="0"/>
                  <a:buChar char="•"/>
                </a:pPr>
                <a:r>
                  <a:rPr lang="en-US" sz="1000" dirty="0"/>
                  <a:t>SECURED TRANSFER</a:t>
                </a:r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7FC20253-67BE-C7F4-1040-A6CA6C175211}"/>
                </a:ext>
              </a:extLst>
            </p:cNvPr>
            <p:cNvGrpSpPr/>
            <p:nvPr/>
          </p:nvGrpSpPr>
          <p:grpSpPr>
            <a:xfrm>
              <a:off x="3345997" y="1884739"/>
              <a:ext cx="1762935" cy="1325215"/>
              <a:chOff x="1732514" y="5357194"/>
              <a:chExt cx="1456080" cy="1325215"/>
            </a:xfrm>
          </p:grpSpPr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4F8FC897-551C-833A-397F-A70F92FE48EC}"/>
                  </a:ext>
                </a:extLst>
              </p:cNvPr>
              <p:cNvSpPr/>
              <p:nvPr/>
            </p:nvSpPr>
            <p:spPr>
              <a:xfrm>
                <a:off x="1732515" y="5801140"/>
                <a:ext cx="1456079" cy="881269"/>
              </a:xfrm>
              <a:prstGeom prst="roundRect">
                <a:avLst>
                  <a:gd name="adj" fmla="val 7644"/>
                </a:avLst>
              </a:prstGeom>
              <a:solidFill>
                <a:srgbClr val="0070C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b"/>
              <a:lstStyle/>
              <a:p>
                <a:pPr algn="ctr"/>
                <a:r>
                  <a:rPr lang="en-US" sz="1100" dirty="0"/>
                  <a:t>CASH VAULTS</a:t>
                </a:r>
              </a:p>
            </p:txBody>
          </p:sp>
          <p:sp>
            <p:nvSpPr>
              <p:cNvPr id="9" name="Rectangle: Rounded Corners 8">
                <a:extLst>
                  <a:ext uri="{FF2B5EF4-FFF2-40B4-BE49-F238E27FC236}">
                    <a16:creationId xmlns:a16="http://schemas.microsoft.com/office/drawing/2014/main" id="{3C0DDAC7-3239-2617-64D2-0C4B4BEFFC3A}"/>
                  </a:ext>
                </a:extLst>
              </p:cNvPr>
              <p:cNvSpPr/>
              <p:nvPr/>
            </p:nvSpPr>
            <p:spPr>
              <a:xfrm>
                <a:off x="1732514" y="5357194"/>
                <a:ext cx="1456079" cy="887894"/>
              </a:xfrm>
              <a:prstGeom prst="roundRect">
                <a:avLst>
                  <a:gd name="adj" fmla="val 7644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b"/>
              <a:lstStyle/>
              <a:p>
                <a:pPr marL="57150" indent="-57150">
                  <a:buFont typeface="Arial" panose="020B0604020202020204" pitchFamily="34" charset="0"/>
                  <a:buChar char="•"/>
                </a:pPr>
                <a:r>
                  <a:rPr lang="en-US" sz="1000" dirty="0"/>
                  <a:t>REAL-TIME CASH VISIBILITY</a:t>
                </a:r>
              </a:p>
              <a:p>
                <a:pPr marL="57150" indent="-57150">
                  <a:buFont typeface="Arial" panose="020B0604020202020204" pitchFamily="34" charset="0"/>
                  <a:buChar char="•"/>
                </a:pPr>
                <a:r>
                  <a:rPr lang="en-US" sz="1000" dirty="0"/>
                  <a:t>PACK/COUNT/DEPOSIT</a:t>
                </a:r>
              </a:p>
              <a:p>
                <a:pPr marL="57150" indent="-57150">
                  <a:buFont typeface="Arial" panose="020B0604020202020204" pitchFamily="34" charset="0"/>
                  <a:buChar char="•"/>
                </a:pPr>
                <a:r>
                  <a:rPr lang="en-US" sz="1000" dirty="0"/>
                  <a:t>CUSTOMIZABLE LEDGERS</a:t>
                </a:r>
              </a:p>
              <a:p>
                <a:pPr marL="57150" indent="-57150">
                  <a:buFont typeface="Arial" panose="020B0604020202020204" pitchFamily="34" charset="0"/>
                  <a:buChar char="•"/>
                </a:pPr>
                <a:r>
                  <a:rPr lang="en-US" sz="1000" dirty="0"/>
                  <a:t>BANK/FI ORDER MGMT</a:t>
                </a:r>
              </a:p>
              <a:p>
                <a:pPr marL="57150" indent="-57150">
                  <a:buFont typeface="Arial" panose="020B0604020202020204" pitchFamily="34" charset="0"/>
                  <a:buChar char="•"/>
                </a:pPr>
                <a:r>
                  <a:rPr lang="en-US" sz="1000" dirty="0"/>
                  <a:t>FULLY AUDTIABLE</a:t>
                </a: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B67A9C94-4883-7D51-A95C-D1DB6E7AA045}"/>
                </a:ext>
              </a:extLst>
            </p:cNvPr>
            <p:cNvGrpSpPr/>
            <p:nvPr/>
          </p:nvGrpSpPr>
          <p:grpSpPr>
            <a:xfrm>
              <a:off x="5214532" y="1884739"/>
              <a:ext cx="1762935" cy="1318591"/>
              <a:chOff x="3056286" y="5367130"/>
              <a:chExt cx="1456080" cy="1318591"/>
            </a:xfrm>
          </p:grpSpPr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A923C9BB-AC52-D9EC-D44C-9DEB539BBC8B}"/>
                  </a:ext>
                </a:extLst>
              </p:cNvPr>
              <p:cNvSpPr/>
              <p:nvPr/>
            </p:nvSpPr>
            <p:spPr>
              <a:xfrm>
                <a:off x="3056287" y="5804452"/>
                <a:ext cx="1456079" cy="881269"/>
              </a:xfrm>
              <a:prstGeom prst="roundRect">
                <a:avLst>
                  <a:gd name="adj" fmla="val 7644"/>
                </a:avLst>
              </a:prstGeom>
              <a:solidFill>
                <a:srgbClr val="0070C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b"/>
              <a:lstStyle/>
              <a:p>
                <a:pPr algn="ctr"/>
                <a:r>
                  <a:rPr lang="en-US" sz="1100" dirty="0"/>
                  <a:t>CUSTOMERS</a:t>
                </a:r>
              </a:p>
            </p:txBody>
          </p:sp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CC9DDA5E-167D-0E6F-A2DB-A9990D8AF431}"/>
                  </a:ext>
                </a:extLst>
              </p:cNvPr>
              <p:cNvSpPr/>
              <p:nvPr/>
            </p:nvSpPr>
            <p:spPr>
              <a:xfrm>
                <a:off x="3056286" y="5367130"/>
                <a:ext cx="1456079" cy="881269"/>
              </a:xfrm>
              <a:prstGeom prst="roundRect">
                <a:avLst>
                  <a:gd name="adj" fmla="val 7644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b"/>
              <a:lstStyle/>
              <a:p>
                <a:pPr marL="57150" indent="-57150">
                  <a:buFont typeface="Arial" panose="020B0604020202020204" pitchFamily="34" charset="0"/>
                  <a:buChar char="•"/>
                </a:pPr>
                <a:r>
                  <a:rPr lang="en-US" sz="1000" dirty="0"/>
                  <a:t>DIRECT OPS PARTICPATION</a:t>
                </a:r>
              </a:p>
              <a:p>
                <a:pPr marL="57150" indent="-57150">
                  <a:buFont typeface="Arial" panose="020B0604020202020204" pitchFamily="34" charset="0"/>
                  <a:buChar char="•"/>
                </a:pPr>
                <a:r>
                  <a:rPr lang="en-US" sz="1000" dirty="0"/>
                  <a:t>REAL-TIME VISIBILITY</a:t>
                </a:r>
              </a:p>
              <a:p>
                <a:pPr marL="57150" indent="-57150">
                  <a:buFont typeface="Arial" panose="020B0604020202020204" pitchFamily="34" charset="0"/>
                  <a:buChar char="•"/>
                </a:pPr>
                <a:r>
                  <a:rPr lang="en-US" sz="1000" dirty="0"/>
                  <a:t>LIVE PICKUP REQUESTS</a:t>
                </a:r>
              </a:p>
              <a:p>
                <a:pPr marL="57150" indent="-57150">
                  <a:buFont typeface="Arial" panose="020B0604020202020204" pitchFamily="34" charset="0"/>
                  <a:buChar char="•"/>
                </a:pPr>
                <a:r>
                  <a:rPr lang="en-US" sz="1000" dirty="0"/>
                  <a:t>EVENT NOTIFICATIONS</a:t>
                </a:r>
              </a:p>
              <a:p>
                <a:pPr marL="57150" indent="-57150">
                  <a:buFont typeface="Arial" panose="020B0604020202020204" pitchFamily="34" charset="0"/>
                  <a:buChar char="•"/>
                </a:pPr>
                <a:r>
                  <a:rPr lang="en-US" sz="1000" dirty="0"/>
                  <a:t>RECEIPTS/MANIFESTS</a:t>
                </a:r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41399C5A-2A78-E12B-A300-E49DE1F3495B}"/>
                </a:ext>
              </a:extLst>
            </p:cNvPr>
            <p:cNvGrpSpPr/>
            <p:nvPr/>
          </p:nvGrpSpPr>
          <p:grpSpPr>
            <a:xfrm>
              <a:off x="3346239" y="3301527"/>
              <a:ext cx="1762935" cy="1318591"/>
              <a:chOff x="403779" y="6995447"/>
              <a:chExt cx="1456080" cy="1318591"/>
            </a:xfrm>
          </p:grpSpPr>
          <p:sp>
            <p:nvSpPr>
              <p:cNvPr id="14" name="Rectangle: Rounded Corners 13">
                <a:extLst>
                  <a:ext uri="{FF2B5EF4-FFF2-40B4-BE49-F238E27FC236}">
                    <a16:creationId xmlns:a16="http://schemas.microsoft.com/office/drawing/2014/main" id="{5D9C8204-4316-AA62-F76C-0CAC7FF18B45}"/>
                  </a:ext>
                </a:extLst>
              </p:cNvPr>
              <p:cNvSpPr/>
              <p:nvPr/>
            </p:nvSpPr>
            <p:spPr>
              <a:xfrm>
                <a:off x="403780" y="7432769"/>
                <a:ext cx="1456079" cy="881269"/>
              </a:xfrm>
              <a:prstGeom prst="roundRect">
                <a:avLst>
                  <a:gd name="adj" fmla="val 7644"/>
                </a:avLst>
              </a:prstGeom>
              <a:solidFill>
                <a:srgbClr val="0070C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b"/>
              <a:lstStyle/>
              <a:p>
                <a:pPr algn="ctr"/>
                <a:r>
                  <a:rPr lang="en-US" sz="1100" dirty="0"/>
                  <a:t>ROUTES</a:t>
                </a:r>
              </a:p>
            </p:txBody>
          </p:sp>
          <p:sp>
            <p:nvSpPr>
              <p:cNvPr id="15" name="Rectangle: Rounded Corners 14">
                <a:extLst>
                  <a:ext uri="{FF2B5EF4-FFF2-40B4-BE49-F238E27FC236}">
                    <a16:creationId xmlns:a16="http://schemas.microsoft.com/office/drawing/2014/main" id="{8348798B-883A-2CF9-7DC5-B14DD26F2C86}"/>
                  </a:ext>
                </a:extLst>
              </p:cNvPr>
              <p:cNvSpPr/>
              <p:nvPr/>
            </p:nvSpPr>
            <p:spPr>
              <a:xfrm>
                <a:off x="403779" y="6995447"/>
                <a:ext cx="1456079" cy="881269"/>
              </a:xfrm>
              <a:prstGeom prst="roundRect">
                <a:avLst>
                  <a:gd name="adj" fmla="val 7644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b"/>
              <a:lstStyle/>
              <a:p>
                <a:pPr marL="57150" indent="-57150">
                  <a:buFont typeface="Arial" panose="020B0604020202020204" pitchFamily="34" charset="0"/>
                  <a:buChar char="•"/>
                </a:pPr>
                <a:r>
                  <a:rPr lang="en-US" sz="1000" dirty="0"/>
                  <a:t>REAL-TIME TRACKING</a:t>
                </a:r>
              </a:p>
              <a:p>
                <a:pPr marL="57150" indent="-57150">
                  <a:buFont typeface="Arial" panose="020B0604020202020204" pitchFamily="34" charset="0"/>
                  <a:buChar char="•"/>
                </a:pPr>
                <a:r>
                  <a:rPr lang="en-US" sz="1000" dirty="0"/>
                  <a:t>DYNAMIC &amp; AUTO REROUTING</a:t>
                </a:r>
              </a:p>
              <a:p>
                <a:pPr marL="57150" indent="-57150">
                  <a:buFont typeface="Arial" panose="020B0604020202020204" pitchFamily="34" charset="0"/>
                  <a:buChar char="•"/>
                </a:pPr>
                <a:r>
                  <a:rPr lang="en-US" sz="1000" dirty="0"/>
                  <a:t>DRIVE OPTIMIZATION</a:t>
                </a:r>
              </a:p>
              <a:p>
                <a:pPr marL="57150" indent="-57150">
                  <a:buFont typeface="Arial" panose="020B0604020202020204" pitchFamily="34" charset="0"/>
                  <a:buChar char="•"/>
                </a:pPr>
                <a:r>
                  <a:rPr lang="en-US" sz="1000" dirty="0"/>
                  <a:t>ETA TIME/MILEAGE</a:t>
                </a:r>
              </a:p>
              <a:p>
                <a:pPr marL="57150" indent="-57150">
                  <a:buFont typeface="Arial" panose="020B0604020202020204" pitchFamily="34" charset="0"/>
                  <a:buChar char="•"/>
                </a:pPr>
                <a:r>
                  <a:rPr lang="en-US" sz="1000" dirty="0"/>
                  <a:t>LIABILITY ENFORCED</a:t>
                </a: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DDC69237-DEAE-A054-6175-F6A2536D547F}"/>
                </a:ext>
              </a:extLst>
            </p:cNvPr>
            <p:cNvGrpSpPr/>
            <p:nvPr/>
          </p:nvGrpSpPr>
          <p:grpSpPr>
            <a:xfrm>
              <a:off x="7083067" y="1884739"/>
              <a:ext cx="1762935" cy="1318591"/>
              <a:chOff x="3056286" y="5367130"/>
              <a:chExt cx="1456080" cy="1318591"/>
            </a:xfrm>
          </p:grpSpPr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FFE0178C-CAAF-1BC1-3B41-0C01822963E8}"/>
                  </a:ext>
                </a:extLst>
              </p:cNvPr>
              <p:cNvSpPr/>
              <p:nvPr/>
            </p:nvSpPr>
            <p:spPr>
              <a:xfrm>
                <a:off x="3056287" y="5804452"/>
                <a:ext cx="1456079" cy="881269"/>
              </a:xfrm>
              <a:prstGeom prst="roundRect">
                <a:avLst>
                  <a:gd name="adj" fmla="val 7644"/>
                </a:avLst>
              </a:prstGeom>
              <a:solidFill>
                <a:srgbClr val="0070C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b"/>
              <a:lstStyle/>
              <a:p>
                <a:pPr algn="ctr"/>
                <a:r>
                  <a:rPr lang="en-US" sz="1100" dirty="0"/>
                  <a:t>CONTRACTS</a:t>
                </a:r>
              </a:p>
            </p:txBody>
          </p:sp>
          <p:sp>
            <p:nvSpPr>
              <p:cNvPr id="18" name="Rectangle: Rounded Corners 17">
                <a:extLst>
                  <a:ext uri="{FF2B5EF4-FFF2-40B4-BE49-F238E27FC236}">
                    <a16:creationId xmlns:a16="http://schemas.microsoft.com/office/drawing/2014/main" id="{84A1C624-E526-DEA0-4D40-37AFC39D763C}"/>
                  </a:ext>
                </a:extLst>
              </p:cNvPr>
              <p:cNvSpPr/>
              <p:nvPr/>
            </p:nvSpPr>
            <p:spPr>
              <a:xfrm>
                <a:off x="3056286" y="5367130"/>
                <a:ext cx="1456079" cy="881269"/>
              </a:xfrm>
              <a:prstGeom prst="roundRect">
                <a:avLst>
                  <a:gd name="adj" fmla="val 7644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b"/>
              <a:lstStyle/>
              <a:p>
                <a:pPr marL="57150" indent="-57150">
                  <a:buFont typeface="Arial" panose="020B0604020202020204" pitchFamily="34" charset="0"/>
                  <a:buChar char="•"/>
                </a:pPr>
                <a:r>
                  <a:rPr lang="en-US" sz="1000" dirty="0"/>
                  <a:t>BILLING COORDINATION</a:t>
                </a:r>
              </a:p>
              <a:p>
                <a:pPr marL="57150" indent="-57150">
                  <a:buFont typeface="Arial" panose="020B0604020202020204" pitchFamily="34" charset="0"/>
                  <a:buChar char="•"/>
                </a:pPr>
                <a:r>
                  <a:rPr lang="en-US" sz="1000" dirty="0"/>
                  <a:t>EVENT -&gt; BILLING RULES</a:t>
                </a:r>
              </a:p>
              <a:p>
                <a:pPr marL="57150" indent="-57150">
                  <a:buFont typeface="Arial" panose="020B0604020202020204" pitchFamily="34" charset="0"/>
                  <a:buChar char="•"/>
                </a:pPr>
                <a:r>
                  <a:rPr lang="en-US" sz="1000" dirty="0"/>
                  <a:t>SERVICE COORDINATION</a:t>
                </a:r>
              </a:p>
              <a:p>
                <a:pPr marL="57150" indent="-57150">
                  <a:buFont typeface="Arial" panose="020B0604020202020204" pitchFamily="34" charset="0"/>
                  <a:buChar char="•"/>
                </a:pPr>
                <a:r>
                  <a:rPr lang="en-US" sz="1000" dirty="0"/>
                  <a:t>CHANGE MGMT</a:t>
                </a:r>
              </a:p>
              <a:p>
                <a:pPr marL="57150" indent="-57150">
                  <a:buFont typeface="Arial" panose="020B0604020202020204" pitchFamily="34" charset="0"/>
                  <a:buChar char="•"/>
                </a:pPr>
                <a:r>
                  <a:rPr lang="en-US" sz="1000" dirty="0"/>
                  <a:t>DOCUMENT MGMT</a:t>
                </a:r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BCD79906-80E7-D1D6-3014-DAE42665F9BD}"/>
                </a:ext>
              </a:extLst>
            </p:cNvPr>
            <p:cNvGrpSpPr/>
            <p:nvPr/>
          </p:nvGrpSpPr>
          <p:grpSpPr>
            <a:xfrm>
              <a:off x="8951602" y="1884739"/>
              <a:ext cx="1762935" cy="1318591"/>
              <a:chOff x="6633113" y="5357194"/>
              <a:chExt cx="1456080" cy="1318591"/>
            </a:xfrm>
          </p:grpSpPr>
          <p:sp>
            <p:nvSpPr>
              <p:cNvPr id="20" name="Rectangle: Rounded Corners 19">
                <a:extLst>
                  <a:ext uri="{FF2B5EF4-FFF2-40B4-BE49-F238E27FC236}">
                    <a16:creationId xmlns:a16="http://schemas.microsoft.com/office/drawing/2014/main" id="{423DA147-5CD2-449D-C284-E3F36D733567}"/>
                  </a:ext>
                </a:extLst>
              </p:cNvPr>
              <p:cNvSpPr/>
              <p:nvPr/>
            </p:nvSpPr>
            <p:spPr>
              <a:xfrm>
                <a:off x="6633114" y="5794516"/>
                <a:ext cx="1456079" cy="881269"/>
              </a:xfrm>
              <a:prstGeom prst="roundRect">
                <a:avLst>
                  <a:gd name="adj" fmla="val 7644"/>
                </a:avLst>
              </a:prstGeom>
              <a:solidFill>
                <a:srgbClr val="0070C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b"/>
              <a:lstStyle/>
              <a:p>
                <a:pPr algn="ctr"/>
                <a:r>
                  <a:rPr lang="en-US" sz="1100" dirty="0"/>
                  <a:t>LOCATIONS</a:t>
                </a:r>
              </a:p>
            </p:txBody>
          </p:sp>
          <p:sp>
            <p:nvSpPr>
              <p:cNvPr id="21" name="Rectangle: Rounded Corners 20">
                <a:extLst>
                  <a:ext uri="{FF2B5EF4-FFF2-40B4-BE49-F238E27FC236}">
                    <a16:creationId xmlns:a16="http://schemas.microsoft.com/office/drawing/2014/main" id="{1F4138E3-8E91-6BA8-1092-C57F88CCD385}"/>
                  </a:ext>
                </a:extLst>
              </p:cNvPr>
              <p:cNvSpPr/>
              <p:nvPr/>
            </p:nvSpPr>
            <p:spPr>
              <a:xfrm>
                <a:off x="6633113" y="5357194"/>
                <a:ext cx="1456079" cy="881269"/>
              </a:xfrm>
              <a:prstGeom prst="roundRect">
                <a:avLst>
                  <a:gd name="adj" fmla="val 7644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b"/>
              <a:lstStyle/>
              <a:p>
                <a:pPr marL="57150" indent="-57150">
                  <a:buFont typeface="Arial" panose="020B0604020202020204" pitchFamily="34" charset="0"/>
                  <a:buChar char="•"/>
                </a:pPr>
                <a:r>
                  <a:rPr lang="en-US" sz="1000" dirty="0"/>
                  <a:t>DYNAMICALLY ROUTABLE</a:t>
                </a:r>
              </a:p>
              <a:p>
                <a:pPr marL="57150" indent="-57150">
                  <a:buFont typeface="Arial" panose="020B0604020202020204" pitchFamily="34" charset="0"/>
                  <a:buChar char="•"/>
                </a:pPr>
                <a:r>
                  <a:rPr lang="en-US" sz="1000" dirty="0"/>
                  <a:t>RECURRING SCHEDULES</a:t>
                </a:r>
              </a:p>
              <a:p>
                <a:pPr marL="57150" indent="-57150">
                  <a:buFont typeface="Arial" panose="020B0604020202020204" pitchFamily="34" charset="0"/>
                  <a:buChar char="•"/>
                </a:pPr>
                <a:r>
                  <a:rPr lang="en-US" sz="1000" dirty="0"/>
                  <a:t>SHIP TYPE ROUTING MGMT</a:t>
                </a:r>
              </a:p>
              <a:p>
                <a:pPr marL="57150" indent="-57150">
                  <a:buFont typeface="Arial" panose="020B0604020202020204" pitchFamily="34" charset="0"/>
                  <a:buChar char="•"/>
                </a:pPr>
                <a:r>
                  <a:rPr lang="en-US" sz="1000" dirty="0"/>
                  <a:t>EMPTY/FILL FORECASTING</a:t>
                </a:r>
              </a:p>
              <a:p>
                <a:pPr marL="57150" indent="-57150">
                  <a:buFont typeface="Arial" panose="020B0604020202020204" pitchFamily="34" charset="0"/>
                  <a:buChar char="•"/>
                </a:pPr>
                <a:r>
                  <a:rPr lang="en-US" sz="1000" dirty="0"/>
                  <a:t>KABA/S&amp;G INTEGRATED</a:t>
                </a:r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F6CCA2E7-C661-D69C-D847-9EA287CAD07C}"/>
                </a:ext>
              </a:extLst>
            </p:cNvPr>
            <p:cNvGrpSpPr/>
            <p:nvPr/>
          </p:nvGrpSpPr>
          <p:grpSpPr>
            <a:xfrm>
              <a:off x="1477946" y="3301527"/>
              <a:ext cx="1762935" cy="1325215"/>
              <a:chOff x="8190445" y="5347257"/>
              <a:chExt cx="1456080" cy="1325215"/>
            </a:xfrm>
          </p:grpSpPr>
          <p:sp>
            <p:nvSpPr>
              <p:cNvPr id="23" name="Rectangle: Rounded Corners 22">
                <a:extLst>
                  <a:ext uri="{FF2B5EF4-FFF2-40B4-BE49-F238E27FC236}">
                    <a16:creationId xmlns:a16="http://schemas.microsoft.com/office/drawing/2014/main" id="{3F54DDC5-BA30-BA7E-4E39-EC3B05C758A2}"/>
                  </a:ext>
                </a:extLst>
              </p:cNvPr>
              <p:cNvSpPr/>
              <p:nvPr/>
            </p:nvSpPr>
            <p:spPr>
              <a:xfrm>
                <a:off x="8190446" y="5791203"/>
                <a:ext cx="1456079" cy="881269"/>
              </a:xfrm>
              <a:prstGeom prst="roundRect">
                <a:avLst>
                  <a:gd name="adj" fmla="val 7644"/>
                </a:avLst>
              </a:prstGeom>
              <a:solidFill>
                <a:srgbClr val="0070C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b"/>
              <a:lstStyle/>
              <a:p>
                <a:pPr algn="ctr"/>
                <a:r>
                  <a:rPr lang="en-US" sz="1100" dirty="0"/>
                  <a:t>SHIPMENTS</a:t>
                </a:r>
              </a:p>
            </p:txBody>
          </p:sp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C5A91ABA-C1C9-AD4A-6D7C-1023EACA0E4B}"/>
                  </a:ext>
                </a:extLst>
              </p:cNvPr>
              <p:cNvSpPr/>
              <p:nvPr/>
            </p:nvSpPr>
            <p:spPr>
              <a:xfrm>
                <a:off x="8190445" y="5347257"/>
                <a:ext cx="1456079" cy="887894"/>
              </a:xfrm>
              <a:prstGeom prst="roundRect">
                <a:avLst>
                  <a:gd name="adj" fmla="val 7644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b"/>
              <a:lstStyle/>
              <a:p>
                <a:pPr marL="57150" indent="-57150">
                  <a:buFont typeface="Arial" panose="020B0604020202020204" pitchFamily="34" charset="0"/>
                  <a:buChar char="•"/>
                </a:pPr>
                <a:r>
                  <a:rPr lang="en-US" sz="1000" dirty="0"/>
                  <a:t>FORECAST CREATABLE</a:t>
                </a:r>
              </a:p>
              <a:p>
                <a:pPr marL="57150" indent="-57150">
                  <a:buFont typeface="Arial" panose="020B0604020202020204" pitchFamily="34" charset="0"/>
                  <a:buChar char="•"/>
                </a:pPr>
                <a:r>
                  <a:rPr lang="en-US" sz="1000" dirty="0"/>
                  <a:t>AUTO-CREATE SCHEDULES</a:t>
                </a:r>
              </a:p>
              <a:p>
                <a:pPr marL="57150" indent="-57150">
                  <a:buFont typeface="Arial" panose="020B0604020202020204" pitchFamily="34" charset="0"/>
                  <a:buChar char="•"/>
                </a:pPr>
                <a:r>
                  <a:rPr lang="en-US" sz="1000" dirty="0"/>
                  <a:t>RECEIPT/POD CAPTURE</a:t>
                </a:r>
              </a:p>
              <a:p>
                <a:pPr marL="57150" indent="-57150">
                  <a:buFont typeface="Arial" panose="020B0604020202020204" pitchFamily="34" charset="0"/>
                  <a:buChar char="•"/>
                </a:pPr>
                <a:r>
                  <a:rPr lang="en-US" sz="1000" dirty="0"/>
                  <a:t>ON-ROUTE DELIVERABLE</a:t>
                </a:r>
              </a:p>
              <a:p>
                <a:pPr marL="57150" indent="-57150">
                  <a:buFont typeface="Arial" panose="020B0604020202020204" pitchFamily="34" charset="0"/>
                  <a:buChar char="•"/>
                </a:pPr>
                <a:r>
                  <a:rPr lang="en-US" sz="1000" dirty="0"/>
                  <a:t>DELIVERY CUTOFFS</a:t>
                </a:r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07482516-5C70-7194-B577-256F597DF868}"/>
                </a:ext>
              </a:extLst>
            </p:cNvPr>
            <p:cNvGrpSpPr/>
            <p:nvPr/>
          </p:nvGrpSpPr>
          <p:grpSpPr>
            <a:xfrm>
              <a:off x="5214531" y="3301527"/>
              <a:ext cx="1762935" cy="1318591"/>
              <a:chOff x="9747776" y="5350568"/>
              <a:chExt cx="1456080" cy="1318591"/>
            </a:xfrm>
          </p:grpSpPr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69726B85-8130-DE65-8E45-61D6BDBA11B7}"/>
                  </a:ext>
                </a:extLst>
              </p:cNvPr>
              <p:cNvSpPr/>
              <p:nvPr/>
            </p:nvSpPr>
            <p:spPr>
              <a:xfrm>
                <a:off x="9747777" y="5787890"/>
                <a:ext cx="1456079" cy="881269"/>
              </a:xfrm>
              <a:prstGeom prst="roundRect">
                <a:avLst>
                  <a:gd name="adj" fmla="val 7644"/>
                </a:avLst>
              </a:prstGeom>
              <a:solidFill>
                <a:srgbClr val="0070C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b"/>
              <a:lstStyle/>
              <a:p>
                <a:pPr algn="ctr"/>
                <a:r>
                  <a:rPr lang="en-US" sz="1100" dirty="0"/>
                  <a:t>STOPS</a:t>
                </a:r>
              </a:p>
            </p:txBody>
          </p:sp>
          <p:sp>
            <p:nvSpPr>
              <p:cNvPr id="27" name="Rectangle: Rounded Corners 26">
                <a:extLst>
                  <a:ext uri="{FF2B5EF4-FFF2-40B4-BE49-F238E27FC236}">
                    <a16:creationId xmlns:a16="http://schemas.microsoft.com/office/drawing/2014/main" id="{45469ECC-B27F-79F8-D616-0740FAB3BA29}"/>
                  </a:ext>
                </a:extLst>
              </p:cNvPr>
              <p:cNvSpPr/>
              <p:nvPr/>
            </p:nvSpPr>
            <p:spPr>
              <a:xfrm>
                <a:off x="9747776" y="5350568"/>
                <a:ext cx="1456079" cy="881269"/>
              </a:xfrm>
              <a:prstGeom prst="roundRect">
                <a:avLst>
                  <a:gd name="adj" fmla="val 7644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b"/>
              <a:lstStyle/>
              <a:p>
                <a:pPr marL="57150" indent="-57150">
                  <a:buFont typeface="Arial" panose="020B0604020202020204" pitchFamily="34" charset="0"/>
                  <a:buChar char="•"/>
                </a:pPr>
                <a:r>
                  <a:rPr lang="en-US" sz="1000" dirty="0"/>
                  <a:t>SEQUENCED VS. ACTUAL</a:t>
                </a:r>
              </a:p>
              <a:p>
                <a:pPr marL="57150" indent="-57150">
                  <a:buFont typeface="Arial" panose="020B0604020202020204" pitchFamily="34" charset="0"/>
                  <a:buChar char="•"/>
                </a:pPr>
                <a:r>
                  <a:rPr lang="en-US" sz="1000" dirty="0"/>
                  <a:t>LIVE ROUTE TRANSFER</a:t>
                </a:r>
              </a:p>
              <a:p>
                <a:pPr marL="57150" indent="-57150">
                  <a:buFont typeface="Arial" panose="020B0604020202020204" pitchFamily="34" charset="0"/>
                  <a:buChar char="•"/>
                </a:pPr>
                <a:r>
                  <a:rPr lang="en-US" sz="1000" dirty="0"/>
                  <a:t>PER STOP OPTIMIZATION</a:t>
                </a:r>
              </a:p>
              <a:p>
                <a:pPr marL="57150" indent="-57150">
                  <a:buFont typeface="Arial" panose="020B0604020202020204" pitchFamily="34" charset="0"/>
                  <a:buChar char="•"/>
                </a:pPr>
                <a:r>
                  <a:rPr lang="en-US" sz="1000" dirty="0"/>
                  <a:t>ETA MANAGEMENT</a:t>
                </a:r>
              </a:p>
              <a:p>
                <a:pPr marL="57150" indent="-57150">
                  <a:buFont typeface="Arial" panose="020B0604020202020204" pitchFamily="34" charset="0"/>
                  <a:buChar char="•"/>
                </a:pPr>
                <a:r>
                  <a:rPr lang="en-US" sz="1000" dirty="0"/>
                  <a:t>TRUCK TRANSFERS</a:t>
                </a:r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7D54C15E-16B2-DA80-17F5-93206BA7A8EA}"/>
                </a:ext>
              </a:extLst>
            </p:cNvPr>
            <p:cNvGrpSpPr/>
            <p:nvPr/>
          </p:nvGrpSpPr>
          <p:grpSpPr>
            <a:xfrm>
              <a:off x="8948874" y="3301527"/>
              <a:ext cx="1762935" cy="1318591"/>
              <a:chOff x="1961113" y="6995447"/>
              <a:chExt cx="1456080" cy="1318591"/>
            </a:xfrm>
          </p:grpSpPr>
          <p:sp>
            <p:nvSpPr>
              <p:cNvPr id="29" name="Rectangle: Rounded Corners 28">
                <a:extLst>
                  <a:ext uri="{FF2B5EF4-FFF2-40B4-BE49-F238E27FC236}">
                    <a16:creationId xmlns:a16="http://schemas.microsoft.com/office/drawing/2014/main" id="{1F5DD043-5C09-9F58-161C-6F38B2263BE4}"/>
                  </a:ext>
                </a:extLst>
              </p:cNvPr>
              <p:cNvSpPr/>
              <p:nvPr/>
            </p:nvSpPr>
            <p:spPr>
              <a:xfrm>
                <a:off x="1961114" y="7432769"/>
                <a:ext cx="1456079" cy="881269"/>
              </a:xfrm>
              <a:prstGeom prst="roundRect">
                <a:avLst>
                  <a:gd name="adj" fmla="val 7644"/>
                </a:avLst>
              </a:prstGeom>
              <a:solidFill>
                <a:srgbClr val="0070C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b"/>
              <a:lstStyle/>
              <a:p>
                <a:pPr algn="ctr"/>
                <a:r>
                  <a:rPr lang="en-US" sz="1100" dirty="0"/>
                  <a:t>TRUCKS</a:t>
                </a:r>
              </a:p>
            </p:txBody>
          </p:sp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18D1F4B1-C8D6-DA69-60D1-565A162D2686}"/>
                  </a:ext>
                </a:extLst>
              </p:cNvPr>
              <p:cNvSpPr/>
              <p:nvPr/>
            </p:nvSpPr>
            <p:spPr>
              <a:xfrm>
                <a:off x="1961113" y="6995447"/>
                <a:ext cx="1456079" cy="881269"/>
              </a:xfrm>
              <a:prstGeom prst="roundRect">
                <a:avLst>
                  <a:gd name="adj" fmla="val 7644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b"/>
              <a:lstStyle/>
              <a:p>
                <a:pPr marL="57150" indent="-57150">
                  <a:buFont typeface="Arial" panose="020B0604020202020204" pitchFamily="34" charset="0"/>
                  <a:buChar char="•"/>
                </a:pPr>
                <a:r>
                  <a:rPr lang="en-US" sz="1000" dirty="0"/>
                  <a:t>LIABILITY ENFORCEMENT</a:t>
                </a:r>
              </a:p>
              <a:p>
                <a:pPr marL="57150" indent="-57150">
                  <a:buFont typeface="Arial" panose="020B0604020202020204" pitchFamily="34" charset="0"/>
                  <a:buChar char="•"/>
                </a:pPr>
                <a:r>
                  <a:rPr lang="en-US" sz="1000" dirty="0"/>
                  <a:t>FIXED ROUTE ASSIGNMENT</a:t>
                </a:r>
              </a:p>
              <a:p>
                <a:pPr marL="57150" indent="-57150">
                  <a:buFont typeface="Arial" panose="020B0604020202020204" pitchFamily="34" charset="0"/>
                  <a:buChar char="•"/>
                </a:pPr>
                <a:r>
                  <a:rPr lang="en-US" sz="1000" dirty="0"/>
                  <a:t>CAGE/SAFE INTEGRATION</a:t>
                </a:r>
              </a:p>
              <a:p>
                <a:pPr marL="57150" indent="-57150">
                  <a:buFont typeface="Arial" panose="020B0604020202020204" pitchFamily="34" charset="0"/>
                  <a:buChar char="•"/>
                </a:pPr>
                <a:r>
                  <a:rPr lang="en-US" sz="1000" dirty="0"/>
                  <a:t>TRUCK PRE-TRIP CHECKS</a:t>
                </a:r>
              </a:p>
              <a:p>
                <a:pPr marL="57150" indent="-57150">
                  <a:buFont typeface="Arial" panose="020B0604020202020204" pitchFamily="34" charset="0"/>
                  <a:buChar char="•"/>
                </a:pPr>
                <a:r>
                  <a:rPr lang="en-US" sz="1000" dirty="0"/>
                  <a:t>GEO-FENCED ACCESS</a:t>
                </a:r>
              </a:p>
            </p:txBody>
          </p: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94240C52-E47F-0257-88B3-C7F0482EFF2E}"/>
                </a:ext>
              </a:extLst>
            </p:cNvPr>
            <p:cNvGrpSpPr/>
            <p:nvPr/>
          </p:nvGrpSpPr>
          <p:grpSpPr>
            <a:xfrm>
              <a:off x="7080338" y="3301527"/>
              <a:ext cx="1762935" cy="1318591"/>
              <a:chOff x="3518448" y="6992134"/>
              <a:chExt cx="1456080" cy="1318591"/>
            </a:xfrm>
          </p:grpSpPr>
          <p:sp>
            <p:nvSpPr>
              <p:cNvPr id="32" name="Rectangle: Rounded Corners 31">
                <a:extLst>
                  <a:ext uri="{FF2B5EF4-FFF2-40B4-BE49-F238E27FC236}">
                    <a16:creationId xmlns:a16="http://schemas.microsoft.com/office/drawing/2014/main" id="{8BFBED08-241E-AA39-AFE8-313C3D88E280}"/>
                  </a:ext>
                </a:extLst>
              </p:cNvPr>
              <p:cNvSpPr/>
              <p:nvPr/>
            </p:nvSpPr>
            <p:spPr>
              <a:xfrm>
                <a:off x="3518449" y="7429456"/>
                <a:ext cx="1456079" cy="881269"/>
              </a:xfrm>
              <a:prstGeom prst="roundRect">
                <a:avLst>
                  <a:gd name="adj" fmla="val 7644"/>
                </a:avLst>
              </a:prstGeom>
              <a:solidFill>
                <a:srgbClr val="0070C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b"/>
              <a:lstStyle/>
              <a:p>
                <a:pPr algn="ctr"/>
                <a:r>
                  <a:rPr lang="en-US" sz="1100" dirty="0"/>
                  <a:t>FIELD USERS</a:t>
                </a:r>
              </a:p>
            </p:txBody>
          </p:sp>
          <p:sp>
            <p:nvSpPr>
              <p:cNvPr id="33" name="Rectangle: Rounded Corners 32">
                <a:extLst>
                  <a:ext uri="{FF2B5EF4-FFF2-40B4-BE49-F238E27FC236}">
                    <a16:creationId xmlns:a16="http://schemas.microsoft.com/office/drawing/2014/main" id="{6D06751F-D969-F7F6-96CD-37804432C70F}"/>
                  </a:ext>
                </a:extLst>
              </p:cNvPr>
              <p:cNvSpPr/>
              <p:nvPr/>
            </p:nvSpPr>
            <p:spPr>
              <a:xfrm>
                <a:off x="3518448" y="6992134"/>
                <a:ext cx="1456079" cy="881269"/>
              </a:xfrm>
              <a:prstGeom prst="roundRect">
                <a:avLst>
                  <a:gd name="adj" fmla="val 7644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b"/>
              <a:lstStyle/>
              <a:p>
                <a:pPr marL="57150" indent="-57150">
                  <a:buFont typeface="Arial" panose="020B0604020202020204" pitchFamily="34" charset="0"/>
                  <a:buChar char="•"/>
                </a:pPr>
                <a:r>
                  <a:rPr lang="en-US" sz="1000" dirty="0"/>
                  <a:t>WORKFLOW-CONTROLLED</a:t>
                </a:r>
              </a:p>
              <a:p>
                <a:pPr marL="57150" indent="-57150">
                  <a:buFont typeface="Arial" panose="020B0604020202020204" pitchFamily="34" charset="0"/>
                  <a:buChar char="•"/>
                </a:pPr>
                <a:r>
                  <a:rPr lang="en-US" sz="1000" dirty="0"/>
                  <a:t>STOP/STEP ENFORCED</a:t>
                </a:r>
              </a:p>
              <a:p>
                <a:pPr marL="57150" indent="-57150">
                  <a:buFont typeface="Arial" panose="020B0604020202020204" pitchFamily="34" charset="0"/>
                  <a:buChar char="•"/>
                </a:pPr>
                <a:r>
                  <a:rPr lang="en-US" sz="1000" dirty="0"/>
                  <a:t>REAL-TIME WORK UPDATES</a:t>
                </a:r>
              </a:p>
              <a:p>
                <a:pPr marL="57150" indent="-57150">
                  <a:buFont typeface="Arial" panose="020B0604020202020204" pitchFamily="34" charset="0"/>
                  <a:buChar char="•"/>
                </a:pPr>
                <a:r>
                  <a:rPr lang="en-US" sz="1000" dirty="0"/>
                  <a:t>JUST-IN-TIME OPEN CODES</a:t>
                </a:r>
              </a:p>
              <a:p>
                <a:pPr marL="57150" indent="-57150">
                  <a:buFont typeface="Arial" panose="020B0604020202020204" pitchFamily="34" charset="0"/>
                  <a:buChar char="•"/>
                </a:pPr>
                <a:r>
                  <a:rPr lang="en-US" sz="1000" dirty="0"/>
                  <a:t>DEVIATION ALERT/APPROVE</a:t>
                </a:r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33FDF824-1C45-B8C9-A941-263F6AB80A89}"/>
                </a:ext>
              </a:extLst>
            </p:cNvPr>
            <p:cNvGrpSpPr/>
            <p:nvPr/>
          </p:nvGrpSpPr>
          <p:grpSpPr>
            <a:xfrm>
              <a:off x="1475216" y="4735644"/>
              <a:ext cx="1762935" cy="1318591"/>
              <a:chOff x="5075781" y="6988821"/>
              <a:chExt cx="1456080" cy="1318591"/>
            </a:xfrm>
          </p:grpSpPr>
          <p:sp>
            <p:nvSpPr>
              <p:cNvPr id="35" name="Rectangle: Rounded Corners 34">
                <a:extLst>
                  <a:ext uri="{FF2B5EF4-FFF2-40B4-BE49-F238E27FC236}">
                    <a16:creationId xmlns:a16="http://schemas.microsoft.com/office/drawing/2014/main" id="{57E9CAC3-3E3A-3F69-6C45-3528FB294C79}"/>
                  </a:ext>
                </a:extLst>
              </p:cNvPr>
              <p:cNvSpPr/>
              <p:nvPr/>
            </p:nvSpPr>
            <p:spPr>
              <a:xfrm>
                <a:off x="5075782" y="7426143"/>
                <a:ext cx="1456079" cy="881269"/>
              </a:xfrm>
              <a:prstGeom prst="roundRect">
                <a:avLst>
                  <a:gd name="adj" fmla="val 7644"/>
                </a:avLst>
              </a:prstGeom>
              <a:solidFill>
                <a:srgbClr val="0070C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b"/>
              <a:lstStyle/>
              <a:p>
                <a:pPr algn="ctr"/>
                <a:r>
                  <a:rPr lang="en-US" sz="1100" dirty="0"/>
                  <a:t>CIT/FI</a:t>
                </a:r>
              </a:p>
            </p:txBody>
          </p:sp>
          <p:sp>
            <p:nvSpPr>
              <p:cNvPr id="36" name="Rectangle: Rounded Corners 35">
                <a:extLst>
                  <a:ext uri="{FF2B5EF4-FFF2-40B4-BE49-F238E27FC236}">
                    <a16:creationId xmlns:a16="http://schemas.microsoft.com/office/drawing/2014/main" id="{06C60561-3CD6-D501-9301-987959B4FF6F}"/>
                  </a:ext>
                </a:extLst>
              </p:cNvPr>
              <p:cNvSpPr/>
              <p:nvPr/>
            </p:nvSpPr>
            <p:spPr>
              <a:xfrm>
                <a:off x="5075781" y="6988821"/>
                <a:ext cx="1456079" cy="881269"/>
              </a:xfrm>
              <a:prstGeom prst="roundRect">
                <a:avLst>
                  <a:gd name="adj" fmla="val 7644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b"/>
              <a:lstStyle/>
              <a:p>
                <a:pPr marL="57150" indent="-57150">
                  <a:buFont typeface="Arial" panose="020B0604020202020204" pitchFamily="34" charset="0"/>
                  <a:buChar char="•"/>
                </a:pPr>
                <a:r>
                  <a:rPr lang="en-US" sz="1000" dirty="0"/>
                  <a:t>SERVICE MONITORING</a:t>
                </a:r>
              </a:p>
              <a:p>
                <a:pPr marL="57150" indent="-57150">
                  <a:buFont typeface="Arial" panose="020B0604020202020204" pitchFamily="34" charset="0"/>
                  <a:buChar char="•"/>
                </a:pPr>
                <a:r>
                  <a:rPr lang="en-US" sz="1000" dirty="0"/>
                  <a:t>SAME-DAY DELIVERIES</a:t>
                </a:r>
              </a:p>
              <a:p>
                <a:pPr marL="57150" indent="-57150">
                  <a:buFont typeface="Arial" panose="020B0604020202020204" pitchFamily="34" charset="0"/>
                  <a:buChar char="•"/>
                </a:pPr>
                <a:r>
                  <a:rPr lang="en-US" sz="1000" dirty="0"/>
                  <a:t>BATCH PROCESSING</a:t>
                </a:r>
              </a:p>
              <a:p>
                <a:pPr marL="57150" indent="-57150">
                  <a:buFont typeface="Arial" panose="020B0604020202020204" pitchFamily="34" charset="0"/>
                  <a:buChar char="•"/>
                </a:pPr>
                <a:r>
                  <a:rPr lang="en-US" sz="1000" dirty="0"/>
                  <a:t>COIN + COIN MANAGEMENT</a:t>
                </a:r>
              </a:p>
              <a:p>
                <a:pPr marL="57150" indent="-57150">
                  <a:buFont typeface="Arial" panose="020B0604020202020204" pitchFamily="34" charset="0"/>
                  <a:buChar char="•"/>
                </a:pPr>
                <a:r>
                  <a:rPr lang="en-US" sz="1000" dirty="0"/>
                  <a:t>DELIVERY/COUNT CONTROLS</a:t>
                </a:r>
              </a:p>
            </p:txBody>
          </p:sp>
        </p:grp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68640E82-C5F2-28CC-1083-BA68229849BB}"/>
                </a:ext>
              </a:extLst>
            </p:cNvPr>
            <p:cNvGrpSpPr/>
            <p:nvPr/>
          </p:nvGrpSpPr>
          <p:grpSpPr>
            <a:xfrm>
              <a:off x="3343751" y="4735644"/>
              <a:ext cx="1762935" cy="1318591"/>
              <a:chOff x="6633113" y="6985508"/>
              <a:chExt cx="1456080" cy="1318591"/>
            </a:xfrm>
          </p:grpSpPr>
          <p:sp>
            <p:nvSpPr>
              <p:cNvPr id="38" name="Rectangle: Rounded Corners 37">
                <a:extLst>
                  <a:ext uri="{FF2B5EF4-FFF2-40B4-BE49-F238E27FC236}">
                    <a16:creationId xmlns:a16="http://schemas.microsoft.com/office/drawing/2014/main" id="{6CFC967A-C9C0-64B2-1402-55A1741D7D0F}"/>
                  </a:ext>
                </a:extLst>
              </p:cNvPr>
              <p:cNvSpPr/>
              <p:nvPr/>
            </p:nvSpPr>
            <p:spPr>
              <a:xfrm>
                <a:off x="6633114" y="7422830"/>
                <a:ext cx="1456079" cy="881269"/>
              </a:xfrm>
              <a:prstGeom prst="roundRect">
                <a:avLst>
                  <a:gd name="adj" fmla="val 7644"/>
                </a:avLst>
              </a:prstGeom>
              <a:solidFill>
                <a:srgbClr val="0070C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b"/>
              <a:lstStyle/>
              <a:p>
                <a:pPr algn="ctr"/>
                <a:r>
                  <a:rPr lang="en-US" sz="1100" dirty="0"/>
                  <a:t>RETAIL/FI ATM</a:t>
                </a:r>
              </a:p>
            </p:txBody>
          </p:sp>
          <p:sp>
            <p:nvSpPr>
              <p:cNvPr id="39" name="Rectangle: Rounded Corners 38">
                <a:extLst>
                  <a:ext uri="{FF2B5EF4-FFF2-40B4-BE49-F238E27FC236}">
                    <a16:creationId xmlns:a16="http://schemas.microsoft.com/office/drawing/2014/main" id="{EA70699C-9634-F6A0-CDBB-EBD6199909CA}"/>
                  </a:ext>
                </a:extLst>
              </p:cNvPr>
              <p:cNvSpPr/>
              <p:nvPr/>
            </p:nvSpPr>
            <p:spPr>
              <a:xfrm>
                <a:off x="6633113" y="6985508"/>
                <a:ext cx="1456079" cy="881269"/>
              </a:xfrm>
              <a:prstGeom prst="roundRect">
                <a:avLst>
                  <a:gd name="adj" fmla="val 7644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b"/>
              <a:lstStyle/>
              <a:p>
                <a:pPr marL="57150" indent="-57150">
                  <a:buFont typeface="Arial" panose="020B0604020202020204" pitchFamily="34" charset="0"/>
                  <a:buChar char="•"/>
                </a:pPr>
                <a:r>
                  <a:rPr lang="en-US" sz="1000" dirty="0"/>
                  <a:t>ORDER TYPE WORKFLOWS</a:t>
                </a:r>
              </a:p>
              <a:p>
                <a:pPr marL="57150" indent="-57150">
                  <a:buFont typeface="Arial" panose="020B0604020202020204" pitchFamily="34" charset="0"/>
                  <a:buChar char="•"/>
                </a:pPr>
                <a:r>
                  <a:rPr lang="en-US" sz="1000" dirty="0"/>
                  <a:t>SAME-DAY DECASH/RECASH</a:t>
                </a:r>
              </a:p>
              <a:p>
                <a:pPr marL="57150" indent="-57150">
                  <a:buFont typeface="Arial" panose="020B0604020202020204" pitchFamily="34" charset="0"/>
                  <a:buChar char="•"/>
                </a:pPr>
                <a:r>
                  <a:rPr lang="en-US" sz="1000" dirty="0"/>
                  <a:t>AUTOMATED LOCK DISPATCH</a:t>
                </a:r>
              </a:p>
              <a:p>
                <a:pPr marL="57150" indent="-57150">
                  <a:buFont typeface="Arial" panose="020B0604020202020204" pitchFamily="34" charset="0"/>
                  <a:buChar char="•"/>
                </a:pPr>
                <a:r>
                  <a:rPr lang="en-US" sz="1000" dirty="0"/>
                  <a:t>REQUIRED DEPOSITS</a:t>
                </a:r>
              </a:p>
              <a:p>
                <a:pPr marL="57150" indent="-57150">
                  <a:buFont typeface="Arial" panose="020B0604020202020204" pitchFamily="34" charset="0"/>
                  <a:buChar char="•"/>
                </a:pPr>
                <a:r>
                  <a:rPr lang="en-US" sz="1000" dirty="0"/>
                  <a:t>SERVICE CHECKLISTS</a:t>
                </a:r>
              </a:p>
            </p:txBody>
          </p: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4E8F0F2A-F9A5-1562-6734-2FC712CB247C}"/>
                </a:ext>
              </a:extLst>
            </p:cNvPr>
            <p:cNvGrpSpPr/>
            <p:nvPr/>
          </p:nvGrpSpPr>
          <p:grpSpPr>
            <a:xfrm>
              <a:off x="5212286" y="4735644"/>
              <a:ext cx="1762935" cy="1318591"/>
              <a:chOff x="8190444" y="6982195"/>
              <a:chExt cx="1456080" cy="1318591"/>
            </a:xfrm>
          </p:grpSpPr>
          <p:sp>
            <p:nvSpPr>
              <p:cNvPr id="41" name="Rectangle: Rounded Corners 40">
                <a:extLst>
                  <a:ext uri="{FF2B5EF4-FFF2-40B4-BE49-F238E27FC236}">
                    <a16:creationId xmlns:a16="http://schemas.microsoft.com/office/drawing/2014/main" id="{964362DA-D44F-566F-D103-0C9AA407841C}"/>
                  </a:ext>
                </a:extLst>
              </p:cNvPr>
              <p:cNvSpPr/>
              <p:nvPr/>
            </p:nvSpPr>
            <p:spPr>
              <a:xfrm>
                <a:off x="8190445" y="7419517"/>
                <a:ext cx="1456079" cy="881269"/>
              </a:xfrm>
              <a:prstGeom prst="roundRect">
                <a:avLst>
                  <a:gd name="adj" fmla="val 7644"/>
                </a:avLst>
              </a:prstGeom>
              <a:solidFill>
                <a:srgbClr val="0070C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b"/>
              <a:lstStyle/>
              <a:p>
                <a:pPr algn="ctr"/>
                <a:r>
                  <a:rPr lang="en-US" sz="1100" dirty="0"/>
                  <a:t>FLM/SLM</a:t>
                </a:r>
              </a:p>
            </p:txBody>
          </p:sp>
          <p:sp>
            <p:nvSpPr>
              <p:cNvPr id="42" name="Rectangle: Rounded Corners 41">
                <a:extLst>
                  <a:ext uri="{FF2B5EF4-FFF2-40B4-BE49-F238E27FC236}">
                    <a16:creationId xmlns:a16="http://schemas.microsoft.com/office/drawing/2014/main" id="{F440BD2F-2DA7-5C01-F272-8308BF4D5D11}"/>
                  </a:ext>
                </a:extLst>
              </p:cNvPr>
              <p:cNvSpPr/>
              <p:nvPr/>
            </p:nvSpPr>
            <p:spPr>
              <a:xfrm>
                <a:off x="8190444" y="6982195"/>
                <a:ext cx="1456079" cy="881269"/>
              </a:xfrm>
              <a:prstGeom prst="roundRect">
                <a:avLst>
                  <a:gd name="adj" fmla="val 7644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b"/>
              <a:lstStyle/>
              <a:p>
                <a:pPr marL="57150" indent="-57150">
                  <a:buFont typeface="Arial" panose="020B0604020202020204" pitchFamily="34" charset="0"/>
                  <a:buChar char="•"/>
                </a:pPr>
                <a:r>
                  <a:rPr lang="en-US" sz="1000" dirty="0"/>
                  <a:t>CUSTOMIZABLE MODEL</a:t>
                </a:r>
              </a:p>
              <a:p>
                <a:pPr marL="57150" indent="-57150">
                  <a:buFont typeface="Arial" panose="020B0604020202020204" pitchFamily="34" charset="0"/>
                  <a:buChar char="•"/>
                </a:pPr>
                <a:r>
                  <a:rPr lang="en-US" sz="1000" dirty="0"/>
                  <a:t>AUTO-TICKET ASSIGNMENT</a:t>
                </a:r>
              </a:p>
              <a:p>
                <a:pPr marL="57150" indent="-57150">
                  <a:buFont typeface="Arial" panose="020B0604020202020204" pitchFamily="34" charset="0"/>
                  <a:buChar char="•"/>
                </a:pPr>
                <a:r>
                  <a:rPr lang="en-US" sz="1000" dirty="0"/>
                  <a:t>EXTERNAL COORDINATION</a:t>
                </a:r>
              </a:p>
              <a:p>
                <a:pPr marL="57150" indent="-57150">
                  <a:buFont typeface="Arial" panose="020B0604020202020204" pitchFamily="34" charset="0"/>
                  <a:buChar char="•"/>
                </a:pPr>
                <a:r>
                  <a:rPr lang="en-US" sz="1000" dirty="0"/>
                  <a:t>CUSTOMER PORTAL</a:t>
                </a:r>
              </a:p>
              <a:p>
                <a:pPr marL="57150" indent="-57150">
                  <a:buFont typeface="Arial" panose="020B0604020202020204" pitchFamily="34" charset="0"/>
                  <a:buChar char="•"/>
                </a:pPr>
                <a:r>
                  <a:rPr lang="en-US" sz="1000" dirty="0"/>
                  <a:t>ON-ROUTE ASSIGNMENTS</a:t>
                </a:r>
              </a:p>
            </p:txBody>
          </p: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4C883B20-C20F-963C-177F-BFA205937A6D}"/>
                </a:ext>
              </a:extLst>
            </p:cNvPr>
            <p:cNvGrpSpPr/>
            <p:nvPr/>
          </p:nvGrpSpPr>
          <p:grpSpPr>
            <a:xfrm>
              <a:off x="8948873" y="4735644"/>
              <a:ext cx="1762935" cy="1318591"/>
              <a:chOff x="9747776" y="6978882"/>
              <a:chExt cx="1456080" cy="1318591"/>
            </a:xfrm>
          </p:grpSpPr>
          <p:sp>
            <p:nvSpPr>
              <p:cNvPr id="44" name="Rectangle: Rounded Corners 43">
                <a:extLst>
                  <a:ext uri="{FF2B5EF4-FFF2-40B4-BE49-F238E27FC236}">
                    <a16:creationId xmlns:a16="http://schemas.microsoft.com/office/drawing/2014/main" id="{61919D5D-5DDB-B1A1-037E-88CB95E8CF19}"/>
                  </a:ext>
                </a:extLst>
              </p:cNvPr>
              <p:cNvSpPr/>
              <p:nvPr/>
            </p:nvSpPr>
            <p:spPr>
              <a:xfrm>
                <a:off x="9747777" y="7416204"/>
                <a:ext cx="1456079" cy="881269"/>
              </a:xfrm>
              <a:prstGeom prst="roundRect">
                <a:avLst>
                  <a:gd name="adj" fmla="val 7644"/>
                </a:avLst>
              </a:prstGeom>
              <a:solidFill>
                <a:srgbClr val="0070C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b"/>
              <a:lstStyle/>
              <a:p>
                <a:pPr algn="ctr"/>
                <a:r>
                  <a:rPr lang="en-US" sz="1100" dirty="0"/>
                  <a:t>ANALYTICS</a:t>
                </a:r>
              </a:p>
            </p:txBody>
          </p:sp>
          <p:sp>
            <p:nvSpPr>
              <p:cNvPr id="45" name="Rectangle: Rounded Corners 44">
                <a:extLst>
                  <a:ext uri="{FF2B5EF4-FFF2-40B4-BE49-F238E27FC236}">
                    <a16:creationId xmlns:a16="http://schemas.microsoft.com/office/drawing/2014/main" id="{7DF1ADCE-00DE-C08F-A49D-6A167E4245DE}"/>
                  </a:ext>
                </a:extLst>
              </p:cNvPr>
              <p:cNvSpPr/>
              <p:nvPr/>
            </p:nvSpPr>
            <p:spPr>
              <a:xfrm>
                <a:off x="9747776" y="6978882"/>
                <a:ext cx="1456079" cy="881269"/>
              </a:xfrm>
              <a:prstGeom prst="roundRect">
                <a:avLst>
                  <a:gd name="adj" fmla="val 7644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b"/>
              <a:lstStyle/>
              <a:p>
                <a:pPr marL="57150" indent="-57150">
                  <a:buFont typeface="Arial" panose="020B0604020202020204" pitchFamily="34" charset="0"/>
                  <a:buChar char="•"/>
                </a:pPr>
                <a:r>
                  <a:rPr lang="en-US" sz="1000" dirty="0"/>
                  <a:t>TOP PERFORMERS</a:t>
                </a:r>
              </a:p>
              <a:p>
                <a:pPr marL="57150" indent="-57150">
                  <a:buFont typeface="Arial" panose="020B0604020202020204" pitchFamily="34" charset="0"/>
                  <a:buChar char="•"/>
                </a:pPr>
                <a:r>
                  <a:rPr lang="en-US" sz="1000" dirty="0"/>
                  <a:t>ROUTE/STOP TIMING</a:t>
                </a:r>
              </a:p>
              <a:p>
                <a:pPr marL="57150" indent="-57150">
                  <a:buFont typeface="Arial" panose="020B0604020202020204" pitchFamily="34" charset="0"/>
                  <a:buChar char="•"/>
                </a:pPr>
                <a:r>
                  <a:rPr lang="en-US" sz="1000" dirty="0"/>
                  <a:t> UTILIZATION TRENDING</a:t>
                </a:r>
              </a:p>
              <a:p>
                <a:pPr marL="57150" indent="-57150">
                  <a:buFont typeface="Arial" panose="020B0604020202020204" pitchFamily="34" charset="0"/>
                  <a:buChar char="•"/>
                </a:pPr>
                <a:r>
                  <a:rPr lang="en-US" sz="1000" dirty="0"/>
                  <a:t>SERVICE REPONSIVENESS</a:t>
                </a:r>
              </a:p>
              <a:p>
                <a:pPr marL="57150" indent="-57150">
                  <a:buFont typeface="Arial" panose="020B0604020202020204" pitchFamily="34" charset="0"/>
                  <a:buChar char="•"/>
                </a:pPr>
                <a:r>
                  <a:rPr lang="en-US" sz="1000" dirty="0"/>
                  <a:t>FIELD/VAULT COMPLIANCE</a:t>
                </a:r>
              </a:p>
            </p:txBody>
          </p:sp>
        </p:grp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23F8DFDC-9335-06CE-5703-5F5673F2D425}"/>
                </a:ext>
              </a:extLst>
            </p:cNvPr>
            <p:cNvGrpSpPr/>
            <p:nvPr/>
          </p:nvGrpSpPr>
          <p:grpSpPr>
            <a:xfrm>
              <a:off x="7080580" y="4735644"/>
              <a:ext cx="1762935" cy="1318591"/>
              <a:chOff x="8190444" y="6982195"/>
              <a:chExt cx="1456080" cy="1318591"/>
            </a:xfrm>
          </p:grpSpPr>
          <p:sp>
            <p:nvSpPr>
              <p:cNvPr id="47" name="Rectangle: Rounded Corners 46">
                <a:extLst>
                  <a:ext uri="{FF2B5EF4-FFF2-40B4-BE49-F238E27FC236}">
                    <a16:creationId xmlns:a16="http://schemas.microsoft.com/office/drawing/2014/main" id="{5F500291-22B8-A706-A123-5489D5F26C67}"/>
                  </a:ext>
                </a:extLst>
              </p:cNvPr>
              <p:cNvSpPr/>
              <p:nvPr/>
            </p:nvSpPr>
            <p:spPr>
              <a:xfrm>
                <a:off x="8190445" y="7419517"/>
                <a:ext cx="1456079" cy="881269"/>
              </a:xfrm>
              <a:prstGeom prst="roundRect">
                <a:avLst>
                  <a:gd name="adj" fmla="val 7644"/>
                </a:avLst>
              </a:prstGeom>
              <a:solidFill>
                <a:srgbClr val="0070C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b"/>
              <a:lstStyle/>
              <a:p>
                <a:pPr algn="ctr"/>
                <a:r>
                  <a:rPr lang="en-US" sz="1100" dirty="0"/>
                  <a:t>BILLING</a:t>
                </a:r>
              </a:p>
            </p:txBody>
          </p:sp>
          <p:sp>
            <p:nvSpPr>
              <p:cNvPr id="48" name="Rectangle: Rounded Corners 47">
                <a:extLst>
                  <a:ext uri="{FF2B5EF4-FFF2-40B4-BE49-F238E27FC236}">
                    <a16:creationId xmlns:a16="http://schemas.microsoft.com/office/drawing/2014/main" id="{15A6E32D-79D8-C13C-7FFE-3330876C9A1E}"/>
                  </a:ext>
                </a:extLst>
              </p:cNvPr>
              <p:cNvSpPr/>
              <p:nvPr/>
            </p:nvSpPr>
            <p:spPr>
              <a:xfrm>
                <a:off x="8190444" y="6982195"/>
                <a:ext cx="1456079" cy="881269"/>
              </a:xfrm>
              <a:prstGeom prst="roundRect">
                <a:avLst>
                  <a:gd name="adj" fmla="val 7644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b"/>
              <a:lstStyle/>
              <a:p>
                <a:pPr marL="57150" indent="-57150">
                  <a:buFont typeface="Arial" panose="020B0604020202020204" pitchFamily="34" charset="0"/>
                  <a:buChar char="•"/>
                </a:pPr>
                <a:r>
                  <a:rPr lang="en-US" sz="1000" dirty="0"/>
                  <a:t>REAL-TIME EVENT BILLING</a:t>
                </a:r>
              </a:p>
              <a:p>
                <a:pPr marL="57150" indent="-57150">
                  <a:buFont typeface="Arial" panose="020B0604020202020204" pitchFamily="34" charset="0"/>
                  <a:buChar char="•"/>
                </a:pPr>
                <a:r>
                  <a:rPr lang="en-US" sz="1000" dirty="0"/>
                  <a:t>ALL SERVICES APPLICABLE</a:t>
                </a:r>
              </a:p>
              <a:p>
                <a:pPr marL="57150" indent="-57150">
                  <a:buFont typeface="Arial" panose="020B0604020202020204" pitchFamily="34" charset="0"/>
                  <a:buChar char="•"/>
                </a:pPr>
                <a:r>
                  <a:rPr lang="en-US" sz="1000" dirty="0"/>
                  <a:t>MISSED BILLABLE EVENTS</a:t>
                </a:r>
              </a:p>
              <a:p>
                <a:pPr marL="57150" indent="-57150">
                  <a:buFont typeface="Arial" panose="020B0604020202020204" pitchFamily="34" charset="0"/>
                  <a:buChar char="•"/>
                </a:pPr>
                <a:r>
                  <a:rPr lang="en-US" sz="1000" dirty="0"/>
                  <a:t>CUSTOMER ACCESSIBLE</a:t>
                </a:r>
              </a:p>
              <a:p>
                <a:pPr marL="57150" indent="-57150">
                  <a:buFont typeface="Arial" panose="020B0604020202020204" pitchFamily="34" charset="0"/>
                  <a:buChar char="•"/>
                </a:pPr>
                <a:r>
                  <a:rPr lang="en-US" sz="1000" dirty="0"/>
                  <a:t>SYSTEM EXPORTABLE</a:t>
                </a:r>
              </a:p>
            </p:txBody>
          </p:sp>
        </p:grp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BE4A0524-80A1-4090-75E3-70ACF289DFFA}"/>
              </a:ext>
            </a:extLst>
          </p:cNvPr>
          <p:cNvSpPr txBox="1"/>
          <p:nvPr/>
        </p:nvSpPr>
        <p:spPr>
          <a:xfrm>
            <a:off x="2356683" y="1140671"/>
            <a:ext cx="76352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Evolve Your CIT/ATM/FLM Business Anyway </a:t>
            </a:r>
            <a:r>
              <a:rPr lang="en-US" sz="2400" b="1" u="sng" dirty="0"/>
              <a:t>YOU</a:t>
            </a:r>
            <a:r>
              <a:rPr lang="en-US" sz="2400" b="1" dirty="0"/>
              <a:t> Want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0AB80AD-E0A5-9682-B329-CA0BF2DFA444}"/>
              </a:ext>
            </a:extLst>
          </p:cNvPr>
          <p:cNvSpPr txBox="1"/>
          <p:nvPr/>
        </p:nvSpPr>
        <p:spPr>
          <a:xfrm>
            <a:off x="299713" y="286333"/>
            <a:ext cx="93018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Key Capability Foundations </a:t>
            </a:r>
            <a:r>
              <a:rPr lang="en-US" dirty="0"/>
              <a:t>| The Pillars of Operational Consistency, Efficiency, Automation</a:t>
            </a:r>
          </a:p>
        </p:txBody>
      </p:sp>
    </p:spTree>
    <p:extLst>
      <p:ext uri="{BB962C8B-B14F-4D97-AF65-F5344CB8AC3E}">
        <p14:creationId xmlns:p14="http://schemas.microsoft.com/office/powerpoint/2010/main" val="21778921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8956330-BDD5-F497-CA57-95B60250EDAC}"/>
              </a:ext>
            </a:extLst>
          </p:cNvPr>
          <p:cNvSpPr txBox="1"/>
          <p:nvPr/>
        </p:nvSpPr>
        <p:spPr>
          <a:xfrm>
            <a:off x="579120" y="655320"/>
            <a:ext cx="69246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Main Benefit Targets </a:t>
            </a:r>
            <a:r>
              <a:rPr lang="en-US" dirty="0"/>
              <a:t>| Next Foundations to Optimize Your Operation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17DB13E4-88B2-7B02-3C3E-5ACA60850E63}"/>
              </a:ext>
            </a:extLst>
          </p:cNvPr>
          <p:cNvGrpSpPr/>
          <p:nvPr/>
        </p:nvGrpSpPr>
        <p:grpSpPr>
          <a:xfrm>
            <a:off x="1196597" y="1996440"/>
            <a:ext cx="10015442" cy="4389120"/>
            <a:chOff x="1341120" y="1722120"/>
            <a:chExt cx="10363200" cy="4541520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A1886F0E-AF02-C131-8837-FF14E03F3E9A}"/>
                </a:ext>
              </a:extLst>
            </p:cNvPr>
            <p:cNvSpPr/>
            <p:nvPr/>
          </p:nvSpPr>
          <p:spPr>
            <a:xfrm>
              <a:off x="1341120" y="2667000"/>
              <a:ext cx="4998720" cy="762000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517525"/>
              <a:r>
                <a:rPr lang="en-US" sz="1600" dirty="0"/>
                <a:t>Full Auditability of All User/Shipment Events</a:t>
              </a:r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3C6B47B8-73BE-D93E-2E38-D09483582A85}"/>
                </a:ext>
              </a:extLst>
            </p:cNvPr>
            <p:cNvSpPr/>
            <p:nvPr/>
          </p:nvSpPr>
          <p:spPr>
            <a:xfrm>
              <a:off x="1341120" y="1722120"/>
              <a:ext cx="4998720" cy="762000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517525"/>
              <a:r>
                <a:rPr lang="en-US" sz="1600" dirty="0"/>
                <a:t>Dynamic &amp; Automated Routing Operations</a:t>
              </a: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09923175-F56C-6441-80A6-F424C0D874B3}"/>
                </a:ext>
              </a:extLst>
            </p:cNvPr>
            <p:cNvSpPr/>
            <p:nvPr/>
          </p:nvSpPr>
          <p:spPr>
            <a:xfrm>
              <a:off x="1341120" y="3611880"/>
              <a:ext cx="4998720" cy="762000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517525"/>
              <a:r>
                <a:rPr lang="en-US" sz="1600" dirty="0"/>
                <a:t>Precision User Permissions Controls</a:t>
              </a:r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8876E627-0407-E4BF-EA7B-D5FD6F0C0D4D}"/>
                </a:ext>
              </a:extLst>
            </p:cNvPr>
            <p:cNvSpPr/>
            <p:nvPr/>
          </p:nvSpPr>
          <p:spPr>
            <a:xfrm>
              <a:off x="1341120" y="4556760"/>
              <a:ext cx="4998720" cy="762000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517525"/>
              <a:r>
                <a:rPr lang="en-US" sz="1600" dirty="0"/>
                <a:t>Order Workflow Enforcement Design</a:t>
              </a:r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17279772-15EC-E4AA-0F4A-5FED9D5D1E7F}"/>
                </a:ext>
              </a:extLst>
            </p:cNvPr>
            <p:cNvSpPr/>
            <p:nvPr/>
          </p:nvSpPr>
          <p:spPr>
            <a:xfrm>
              <a:off x="6705600" y="1722120"/>
              <a:ext cx="4998720" cy="762000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517525"/>
              <a:r>
                <a:rPr lang="en-US" sz="1600" dirty="0"/>
                <a:t>UI Simplification &amp; User Proofing</a:t>
              </a:r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628006BB-16C1-6BBA-A088-DDF656096788}"/>
                </a:ext>
              </a:extLst>
            </p:cNvPr>
            <p:cNvSpPr/>
            <p:nvPr/>
          </p:nvSpPr>
          <p:spPr>
            <a:xfrm>
              <a:off x="6705600" y="5501640"/>
              <a:ext cx="4998720" cy="762000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517525"/>
              <a:r>
                <a:rPr lang="en-US" sz="1600" dirty="0"/>
                <a:t>Billing on Any Service Action</a:t>
              </a:r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1B5BA8BF-97A2-4D2C-1ED4-CF5467FBF0F8}"/>
                </a:ext>
              </a:extLst>
            </p:cNvPr>
            <p:cNvSpPr/>
            <p:nvPr/>
          </p:nvSpPr>
          <p:spPr>
            <a:xfrm>
              <a:off x="6705600" y="3611880"/>
              <a:ext cx="4998720" cy="762000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517525"/>
              <a:r>
                <a:rPr lang="en-US" sz="1600" dirty="0"/>
                <a:t>Deal with Any Edge Case</a:t>
              </a:r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61ECB534-2C42-8102-DB93-A93927FF52C3}"/>
                </a:ext>
              </a:extLst>
            </p:cNvPr>
            <p:cNvSpPr/>
            <p:nvPr/>
          </p:nvSpPr>
          <p:spPr>
            <a:xfrm>
              <a:off x="6705600" y="2637592"/>
              <a:ext cx="4998720" cy="762000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517525"/>
              <a:r>
                <a:rPr lang="en-US" sz="1600" dirty="0"/>
                <a:t>Real-Time Deviation Detection/Approval</a:t>
              </a:r>
            </a:p>
          </p:txBody>
        </p: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30F4C7EB-8A07-6137-C640-30D0C3529523}"/>
                </a:ext>
              </a:extLst>
            </p:cNvPr>
            <p:cNvSpPr/>
            <p:nvPr/>
          </p:nvSpPr>
          <p:spPr>
            <a:xfrm>
              <a:off x="1341120" y="5501640"/>
              <a:ext cx="4998720" cy="762000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517525"/>
              <a:r>
                <a:rPr lang="en-US" sz="1600" dirty="0"/>
                <a:t>Automate any Service Schedule</a:t>
              </a:r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A2A3F007-53B7-2373-00B8-042EC83E0E82}"/>
                </a:ext>
              </a:extLst>
            </p:cNvPr>
            <p:cNvSpPr/>
            <p:nvPr/>
          </p:nvSpPr>
          <p:spPr>
            <a:xfrm>
              <a:off x="6705600" y="4556760"/>
              <a:ext cx="4998720" cy="762000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517525"/>
              <a:r>
                <a:rPr lang="en-US" sz="1600" dirty="0"/>
                <a:t>Integrated Customer Engagement</a:t>
              </a:r>
            </a:p>
          </p:txBody>
        </p:sp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F2B9497A-71A5-0F39-0295-5376323D42F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63040" y="1876306"/>
              <a:ext cx="441960" cy="441960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7E7D9B86-1707-ED67-4104-5A5D4C4EC1D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63040" y="2821186"/>
              <a:ext cx="441960" cy="441960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ED1086D1-94B1-BB94-388B-C1C4ECE946E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63040" y="3771900"/>
              <a:ext cx="441960" cy="441960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46EA3472-FA87-7894-1595-32E449C5C54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63040" y="4716780"/>
              <a:ext cx="441960" cy="441960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983459D9-A441-00C5-85AD-BE0EB93112E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63040" y="5661660"/>
              <a:ext cx="441960" cy="441960"/>
            </a:xfrm>
            <a:prstGeom prst="rect">
              <a:avLst/>
            </a:prstGeom>
          </p:spPr>
        </p:pic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43E53255-9D40-DED5-DFBA-A8ABFEEEB2DB}"/>
                </a:ext>
              </a:extLst>
            </p:cNvPr>
            <p:cNvGrpSpPr/>
            <p:nvPr/>
          </p:nvGrpSpPr>
          <p:grpSpPr>
            <a:xfrm>
              <a:off x="6842760" y="1876306"/>
              <a:ext cx="441960" cy="4227314"/>
              <a:chOff x="1615440" y="2028706"/>
              <a:chExt cx="441960" cy="4227314"/>
            </a:xfrm>
          </p:grpSpPr>
          <p:pic>
            <p:nvPicPr>
              <p:cNvPr id="28" name="Picture 27">
                <a:extLst>
                  <a:ext uri="{FF2B5EF4-FFF2-40B4-BE49-F238E27FC236}">
                    <a16:creationId xmlns:a16="http://schemas.microsoft.com/office/drawing/2014/main" id="{0C9111D7-A71C-6E28-8740-DFEA153FD76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615440" y="2028706"/>
                <a:ext cx="441960" cy="441960"/>
              </a:xfrm>
              <a:prstGeom prst="rect">
                <a:avLst/>
              </a:prstGeom>
            </p:spPr>
          </p:pic>
          <p:pic>
            <p:nvPicPr>
              <p:cNvPr id="29" name="Picture 28">
                <a:extLst>
                  <a:ext uri="{FF2B5EF4-FFF2-40B4-BE49-F238E27FC236}">
                    <a16:creationId xmlns:a16="http://schemas.microsoft.com/office/drawing/2014/main" id="{6079C34E-B04E-017C-2C5D-1121ADB7903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615440" y="2973586"/>
                <a:ext cx="441960" cy="441960"/>
              </a:xfrm>
              <a:prstGeom prst="rect">
                <a:avLst/>
              </a:prstGeom>
            </p:spPr>
          </p:pic>
          <p:pic>
            <p:nvPicPr>
              <p:cNvPr id="30" name="Picture 29">
                <a:extLst>
                  <a:ext uri="{FF2B5EF4-FFF2-40B4-BE49-F238E27FC236}">
                    <a16:creationId xmlns:a16="http://schemas.microsoft.com/office/drawing/2014/main" id="{80D26DB5-4007-2418-520D-8269E7678AD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615440" y="3924300"/>
                <a:ext cx="441960" cy="441960"/>
              </a:xfrm>
              <a:prstGeom prst="rect">
                <a:avLst/>
              </a:prstGeom>
            </p:spPr>
          </p:pic>
          <p:pic>
            <p:nvPicPr>
              <p:cNvPr id="31" name="Picture 30">
                <a:extLst>
                  <a:ext uri="{FF2B5EF4-FFF2-40B4-BE49-F238E27FC236}">
                    <a16:creationId xmlns:a16="http://schemas.microsoft.com/office/drawing/2014/main" id="{0DD11966-B7C6-3D57-053A-4271D9122E1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615440" y="4869180"/>
                <a:ext cx="441960" cy="441960"/>
              </a:xfrm>
              <a:prstGeom prst="rect">
                <a:avLst/>
              </a:prstGeom>
            </p:spPr>
          </p:pic>
          <p:pic>
            <p:nvPicPr>
              <p:cNvPr id="32" name="Picture 31">
                <a:extLst>
                  <a:ext uri="{FF2B5EF4-FFF2-40B4-BE49-F238E27FC236}">
                    <a16:creationId xmlns:a16="http://schemas.microsoft.com/office/drawing/2014/main" id="{1EFBF843-E838-6071-373E-BE6EDFC7096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615440" y="5814060"/>
                <a:ext cx="441960" cy="441960"/>
              </a:xfrm>
              <a:prstGeom prst="rect">
                <a:avLst/>
              </a:prstGeom>
            </p:spPr>
          </p:pic>
        </p:grp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3C64BA88-88E1-4891-5F17-966ED006C3DD}"/>
              </a:ext>
            </a:extLst>
          </p:cNvPr>
          <p:cNvSpPr txBox="1"/>
          <p:nvPr/>
        </p:nvSpPr>
        <p:spPr>
          <a:xfrm>
            <a:off x="3857685" y="1274635"/>
            <a:ext cx="47255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&gt; 90 Day Implementation Targets</a:t>
            </a:r>
          </a:p>
        </p:txBody>
      </p:sp>
    </p:spTree>
    <p:extLst>
      <p:ext uri="{BB962C8B-B14F-4D97-AF65-F5344CB8AC3E}">
        <p14:creationId xmlns:p14="http://schemas.microsoft.com/office/powerpoint/2010/main" val="18427338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6A9DC55-0DE3-848A-ACC1-5BF252228742}"/>
              </a:ext>
            </a:extLst>
          </p:cNvPr>
          <p:cNvSpPr txBox="1"/>
          <p:nvPr/>
        </p:nvSpPr>
        <p:spPr>
          <a:xfrm>
            <a:off x="609600" y="518160"/>
            <a:ext cx="68421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Customer Integration </a:t>
            </a:r>
            <a:r>
              <a:rPr lang="en-US" dirty="0"/>
              <a:t>| Strengthen Loyalty and Maximize Efficiency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3F71F00-C1A1-6459-B7DF-DA12A0ACC22D}"/>
              </a:ext>
            </a:extLst>
          </p:cNvPr>
          <p:cNvSpPr/>
          <p:nvPr/>
        </p:nvSpPr>
        <p:spPr>
          <a:xfrm>
            <a:off x="1187417" y="1783080"/>
            <a:ext cx="1637641" cy="130047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Location</a:t>
            </a:r>
          </a:p>
          <a:p>
            <a:pPr algn="ctr"/>
            <a:r>
              <a:rPr lang="en-US" dirty="0"/>
              <a:t>Service History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65B74B7-6D1E-79C0-18D6-2E28241604B1}"/>
              </a:ext>
            </a:extLst>
          </p:cNvPr>
          <p:cNvSpPr/>
          <p:nvPr/>
        </p:nvSpPr>
        <p:spPr>
          <a:xfrm>
            <a:off x="7566115" y="5377964"/>
            <a:ext cx="1637641" cy="130047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Location</a:t>
            </a:r>
          </a:p>
          <a:p>
            <a:pPr algn="ctr"/>
            <a:r>
              <a:rPr lang="en-US" dirty="0"/>
              <a:t>Change Mgmt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7673B3E-5A1C-5441-6996-999E79D92E64}"/>
              </a:ext>
            </a:extLst>
          </p:cNvPr>
          <p:cNvSpPr/>
          <p:nvPr/>
        </p:nvSpPr>
        <p:spPr>
          <a:xfrm>
            <a:off x="5423827" y="1783080"/>
            <a:ext cx="1637641" cy="130047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Ledger</a:t>
            </a:r>
          </a:p>
          <a:p>
            <a:pPr algn="ctr"/>
            <a:r>
              <a:rPr lang="en-US" dirty="0"/>
              <a:t>Activity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48608FB-1EB5-648D-98EC-FAE25A2F67B2}"/>
              </a:ext>
            </a:extLst>
          </p:cNvPr>
          <p:cNvSpPr/>
          <p:nvPr/>
        </p:nvSpPr>
        <p:spPr>
          <a:xfrm>
            <a:off x="7540937" y="1783080"/>
            <a:ext cx="1637641" cy="130047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Daily Vault Balance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9719578-5779-7603-BF88-A6CE762A1469}"/>
              </a:ext>
            </a:extLst>
          </p:cNvPr>
          <p:cNvSpPr/>
          <p:nvPr/>
        </p:nvSpPr>
        <p:spPr>
          <a:xfrm>
            <a:off x="9658047" y="1783079"/>
            <a:ext cx="1637641" cy="130047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View/Adjust</a:t>
            </a:r>
          </a:p>
          <a:p>
            <a:pPr algn="ctr"/>
            <a:r>
              <a:rPr lang="en-US" dirty="0"/>
              <a:t>Cash/Coin Schedules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D1032A1-442F-F749-8711-C3AA64FC81C7}"/>
              </a:ext>
            </a:extLst>
          </p:cNvPr>
          <p:cNvSpPr/>
          <p:nvPr/>
        </p:nvSpPr>
        <p:spPr>
          <a:xfrm>
            <a:off x="1187416" y="3580524"/>
            <a:ext cx="1637641" cy="130047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dirty="0"/>
              <a:t>On-Demand</a:t>
            </a:r>
          </a:p>
          <a:p>
            <a:pPr algn="ctr"/>
            <a:r>
              <a:rPr lang="en-US" dirty="0"/>
              <a:t>Shipment</a:t>
            </a:r>
          </a:p>
          <a:p>
            <a:pPr algn="ctr"/>
            <a:r>
              <a:rPr lang="en-US" dirty="0"/>
              <a:t>Create/Edit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6A0C5EF-5BFA-BE95-409D-B48F9D6B2E0A}"/>
              </a:ext>
            </a:extLst>
          </p:cNvPr>
          <p:cNvSpPr/>
          <p:nvPr/>
        </p:nvSpPr>
        <p:spPr>
          <a:xfrm>
            <a:off x="5423827" y="5377966"/>
            <a:ext cx="1637641" cy="130047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dirty="0"/>
              <a:t>ETA </a:t>
            </a:r>
          </a:p>
          <a:p>
            <a:pPr algn="ctr"/>
            <a:r>
              <a:rPr lang="en-US" dirty="0"/>
              <a:t>Notifications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C79DDD3-3BFF-C332-69B0-8BBDA9F4BF99}"/>
              </a:ext>
            </a:extLst>
          </p:cNvPr>
          <p:cNvSpPr/>
          <p:nvPr/>
        </p:nvSpPr>
        <p:spPr>
          <a:xfrm>
            <a:off x="3329704" y="3580524"/>
            <a:ext cx="1637641" cy="130047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dirty="0"/>
              <a:t>Routed/Ad-Hoc</a:t>
            </a:r>
          </a:p>
          <a:p>
            <a:pPr algn="ctr"/>
            <a:r>
              <a:rPr lang="en-US" dirty="0"/>
              <a:t>Pickup </a:t>
            </a:r>
          </a:p>
          <a:p>
            <a:pPr algn="ctr"/>
            <a:r>
              <a:rPr lang="en-US" dirty="0"/>
              <a:t>Requests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1ECC9D5-D24F-5AAD-A5A6-3A0A91339C5A}"/>
              </a:ext>
            </a:extLst>
          </p:cNvPr>
          <p:cNvSpPr/>
          <p:nvPr/>
        </p:nvSpPr>
        <p:spPr>
          <a:xfrm>
            <a:off x="5398648" y="3580524"/>
            <a:ext cx="1637641" cy="130047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dirty="0"/>
              <a:t>Delivery</a:t>
            </a:r>
          </a:p>
          <a:p>
            <a:pPr algn="ctr"/>
            <a:r>
              <a:rPr lang="en-US" dirty="0"/>
              <a:t>Pickup</a:t>
            </a:r>
          </a:p>
          <a:p>
            <a:pPr algn="ctr"/>
            <a:r>
              <a:rPr lang="en-US" dirty="0"/>
              <a:t>Receipts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ED95EA5-5C0C-66F7-5973-36CC0F96C41F}"/>
              </a:ext>
            </a:extLst>
          </p:cNvPr>
          <p:cNvSpPr/>
          <p:nvPr/>
        </p:nvSpPr>
        <p:spPr>
          <a:xfrm>
            <a:off x="3304527" y="1783080"/>
            <a:ext cx="1637641" cy="130047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dirty="0"/>
              <a:t>Shipment </a:t>
            </a:r>
          </a:p>
          <a:p>
            <a:pPr algn="ctr"/>
            <a:r>
              <a:rPr lang="en-US" dirty="0"/>
              <a:t>Specific</a:t>
            </a:r>
          </a:p>
          <a:p>
            <a:pPr algn="ctr"/>
            <a:r>
              <a:rPr lang="en-US" dirty="0"/>
              <a:t>History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A5B4F2B-CB02-619A-275C-AD7BFED08426}"/>
              </a:ext>
            </a:extLst>
          </p:cNvPr>
          <p:cNvSpPr/>
          <p:nvPr/>
        </p:nvSpPr>
        <p:spPr>
          <a:xfrm>
            <a:off x="3329703" y="5377965"/>
            <a:ext cx="1637641" cy="130047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dirty="0"/>
              <a:t>Service </a:t>
            </a:r>
          </a:p>
          <a:p>
            <a:pPr algn="ctr"/>
            <a:r>
              <a:rPr lang="en-US" dirty="0"/>
              <a:t>Ticket</a:t>
            </a:r>
          </a:p>
          <a:p>
            <a:pPr algn="ctr"/>
            <a:r>
              <a:rPr lang="en-US" dirty="0"/>
              <a:t>Requests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91B4839-227D-A8A9-FFAD-447924EBDB69}"/>
              </a:ext>
            </a:extLst>
          </p:cNvPr>
          <p:cNvSpPr/>
          <p:nvPr/>
        </p:nvSpPr>
        <p:spPr>
          <a:xfrm>
            <a:off x="9658047" y="3580523"/>
            <a:ext cx="1637641" cy="130047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dirty="0"/>
              <a:t>Bank/Carrier</a:t>
            </a:r>
          </a:p>
          <a:p>
            <a:pPr algn="ctr"/>
            <a:r>
              <a:rPr lang="en-US" dirty="0"/>
              <a:t>POD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25D5CC20-1449-AD7B-4346-23A1B731469F}"/>
              </a:ext>
            </a:extLst>
          </p:cNvPr>
          <p:cNvSpPr/>
          <p:nvPr/>
        </p:nvSpPr>
        <p:spPr>
          <a:xfrm>
            <a:off x="1187415" y="5377966"/>
            <a:ext cx="1637641" cy="130047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dirty="0"/>
              <a:t>Real-Time</a:t>
            </a:r>
          </a:p>
          <a:p>
            <a:pPr algn="ctr"/>
            <a:r>
              <a:rPr lang="en-US" dirty="0"/>
              <a:t>Billing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C74B5EFD-E42E-9A18-1FAE-C92233C2E723}"/>
              </a:ext>
            </a:extLst>
          </p:cNvPr>
          <p:cNvSpPr/>
          <p:nvPr/>
        </p:nvSpPr>
        <p:spPr>
          <a:xfrm>
            <a:off x="7540937" y="3580523"/>
            <a:ext cx="1637641" cy="130047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dirty="0"/>
              <a:t>Signature</a:t>
            </a:r>
          </a:p>
          <a:p>
            <a:pPr algn="ctr"/>
            <a:r>
              <a:rPr lang="en-US" dirty="0"/>
              <a:t>Receipt</a:t>
            </a:r>
          </a:p>
          <a:p>
            <a:pPr algn="ctr"/>
            <a:r>
              <a:rPr lang="en-US" dirty="0"/>
              <a:t>Capture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C87F9342-BFDA-F1BD-2990-376502D57779}"/>
              </a:ext>
            </a:extLst>
          </p:cNvPr>
          <p:cNvSpPr/>
          <p:nvPr/>
        </p:nvSpPr>
        <p:spPr>
          <a:xfrm>
            <a:off x="9662145" y="5377964"/>
            <a:ext cx="1637641" cy="130047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Operating</a:t>
            </a:r>
          </a:p>
          <a:p>
            <a:pPr algn="ctr"/>
            <a:r>
              <a:rPr lang="en-US" dirty="0"/>
              <a:t>Hours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0658ADB-995F-B6A0-749E-7EAFAF5E3433}"/>
              </a:ext>
            </a:extLst>
          </p:cNvPr>
          <p:cNvSpPr txBox="1"/>
          <p:nvPr/>
        </p:nvSpPr>
        <p:spPr>
          <a:xfrm>
            <a:off x="3516003" y="1153621"/>
            <a:ext cx="54532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Win Them Once Service Them Forever</a:t>
            </a:r>
          </a:p>
        </p:txBody>
      </p:sp>
    </p:spTree>
    <p:extLst>
      <p:ext uri="{BB962C8B-B14F-4D97-AF65-F5344CB8AC3E}">
        <p14:creationId xmlns:p14="http://schemas.microsoft.com/office/powerpoint/2010/main" val="5757208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68797EF-BA88-F29B-CB6D-C0A32C195DD7}"/>
              </a:ext>
            </a:extLst>
          </p:cNvPr>
          <p:cNvSpPr txBox="1"/>
          <p:nvPr/>
        </p:nvSpPr>
        <p:spPr>
          <a:xfrm>
            <a:off x="366238" y="296884"/>
            <a:ext cx="66804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Deployment Case </a:t>
            </a:r>
            <a:r>
              <a:rPr lang="en-US" dirty="0"/>
              <a:t>| Regional CIT – Increasing Operational Scaling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0DAB8F-B43B-6411-3076-A54E7BDBE7CE}"/>
              </a:ext>
            </a:extLst>
          </p:cNvPr>
          <p:cNvSpPr txBox="1"/>
          <p:nvPr/>
        </p:nvSpPr>
        <p:spPr>
          <a:xfrm>
            <a:off x="6687367" y="1768627"/>
            <a:ext cx="477012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Key Functional Foundations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Simplified Regular/Emergency Ledgering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User-Proof Order Create, Packing Counting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Daily Vault Balance &amp; Activity Reporting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Deposit Out/Bag Out Packing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Dynamically Routed Fed/Bank Pickups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Real-Time Billing &amp; One-Off Charges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Automation-Assisted Route Planning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Customer Pickup Request Management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Coin Management &amp; ITM Coin Capabilities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846855-3E81-823B-CDB2-B48535F1971B}"/>
              </a:ext>
            </a:extLst>
          </p:cNvPr>
          <p:cNvSpPr txBox="1"/>
          <p:nvPr/>
        </p:nvSpPr>
        <p:spPr>
          <a:xfrm>
            <a:off x="1322198" y="2415284"/>
            <a:ext cx="349262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Scope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5 Daily Routes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10-20 Stops/Route/Day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3-5 Dedicated Ops Staff/Mgmt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5993E46-38B1-ABB8-431F-F9A2F231CB9D}"/>
              </a:ext>
            </a:extLst>
          </p:cNvPr>
          <p:cNvSpPr/>
          <p:nvPr/>
        </p:nvSpPr>
        <p:spPr>
          <a:xfrm>
            <a:off x="777240" y="4829055"/>
            <a:ext cx="3193468" cy="736430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17525"/>
            <a:r>
              <a:rPr lang="en-US" sz="1600" dirty="0"/>
              <a:t>Expand Customer Base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0F255FB-020E-1500-E547-798409B661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069" y="4978067"/>
            <a:ext cx="427129" cy="42712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1E75BAB-C82C-FDB8-3EDE-9FB56FE8FDD3}"/>
              </a:ext>
            </a:extLst>
          </p:cNvPr>
          <p:cNvSpPr txBox="1"/>
          <p:nvPr/>
        </p:nvSpPr>
        <p:spPr>
          <a:xfrm>
            <a:off x="1237574" y="1337740"/>
            <a:ext cx="838200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500" b="1" dirty="0">
                <a:solidFill>
                  <a:schemeClr val="accent2"/>
                </a:solidFill>
              </a:rPr>
              <a:t>~</a:t>
            </a:r>
            <a:endParaRPr lang="en-US" sz="11500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31690F8-5C69-C30F-C9AC-63B65FEEE4FE}"/>
              </a:ext>
            </a:extLst>
          </p:cNvPr>
          <p:cNvSpPr/>
          <p:nvPr/>
        </p:nvSpPr>
        <p:spPr>
          <a:xfrm>
            <a:off x="4190999" y="4829055"/>
            <a:ext cx="3623079" cy="736430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17525"/>
            <a:r>
              <a:rPr lang="en-US" sz="1600" dirty="0"/>
              <a:t>Simplify Resource Expansion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D41E891-0CB4-C31F-C7D9-AFDD0DC442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8829" y="4978067"/>
            <a:ext cx="427129" cy="427129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C85D04C-52E1-0F8B-4C0B-AB7BB7766FFF}"/>
              </a:ext>
            </a:extLst>
          </p:cNvPr>
          <p:cNvSpPr/>
          <p:nvPr/>
        </p:nvSpPr>
        <p:spPr>
          <a:xfrm>
            <a:off x="8018902" y="4829055"/>
            <a:ext cx="3289178" cy="736430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517525"/>
            <a:r>
              <a:rPr lang="en-US" sz="1600" dirty="0"/>
              <a:t>Increase Route/Stop Ratios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83586E1-85EE-3E61-DBB5-29B7D69C0E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6731" y="4978067"/>
            <a:ext cx="427129" cy="42712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F42E7F10-BC11-B2EA-3F94-1C3AE31EF0E7}"/>
              </a:ext>
            </a:extLst>
          </p:cNvPr>
          <p:cNvSpPr txBox="1"/>
          <p:nvPr/>
        </p:nvSpPr>
        <p:spPr>
          <a:xfrm>
            <a:off x="777240" y="4371887"/>
            <a:ext cx="23232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Key Platform Targets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D43B04A6-01A2-9EFB-948B-1575D2AC772D}"/>
              </a:ext>
            </a:extLst>
          </p:cNvPr>
          <p:cNvSpPr/>
          <p:nvPr/>
        </p:nvSpPr>
        <p:spPr>
          <a:xfrm>
            <a:off x="2073328" y="5797761"/>
            <a:ext cx="3794760" cy="736430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17525"/>
            <a:r>
              <a:rPr lang="en-US" sz="1600" dirty="0"/>
              <a:t>Deepen Customer Engagement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F35C48D8-D313-23F9-7B99-C0172EB32B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1157" y="5946773"/>
            <a:ext cx="427129" cy="427129"/>
          </a:xfrm>
          <a:prstGeom prst="rect">
            <a:avLst/>
          </a:prstGeom>
        </p:spPr>
      </p:pic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2161DE3B-7AC5-97D8-DA24-1B886149372A}"/>
              </a:ext>
            </a:extLst>
          </p:cNvPr>
          <p:cNvSpPr/>
          <p:nvPr/>
        </p:nvSpPr>
        <p:spPr>
          <a:xfrm>
            <a:off x="6142409" y="5797761"/>
            <a:ext cx="3459479" cy="736430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17525"/>
            <a:r>
              <a:rPr lang="en-US" sz="1600" dirty="0"/>
              <a:t>Structured Billing Established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82C36E6E-FC46-F1EA-A5A9-3E87BB49ED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0238" y="5946773"/>
            <a:ext cx="427129" cy="427129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9FF7D181-E624-11A5-EA8A-732D4A2F2752}"/>
              </a:ext>
            </a:extLst>
          </p:cNvPr>
          <p:cNvSpPr txBox="1"/>
          <p:nvPr/>
        </p:nvSpPr>
        <p:spPr>
          <a:xfrm>
            <a:off x="436149" y="1170165"/>
            <a:ext cx="113197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With No Extra Time for Anything - Need a Co-Managed Platform Configured for Maximum Process Efficiency</a:t>
            </a:r>
          </a:p>
        </p:txBody>
      </p:sp>
    </p:spTree>
    <p:extLst>
      <p:ext uri="{BB962C8B-B14F-4D97-AF65-F5344CB8AC3E}">
        <p14:creationId xmlns:p14="http://schemas.microsoft.com/office/powerpoint/2010/main" val="29821334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122836C-E9B1-17BC-C379-C20B3258E7FE}"/>
              </a:ext>
            </a:extLst>
          </p:cNvPr>
          <p:cNvSpPr txBox="1"/>
          <p:nvPr/>
        </p:nvSpPr>
        <p:spPr>
          <a:xfrm>
            <a:off x="350519" y="304800"/>
            <a:ext cx="4909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Deployment Case </a:t>
            </a:r>
            <a:r>
              <a:rPr lang="en-US" dirty="0"/>
              <a:t>| ATM Loading &amp; FLM Service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6F7EA4-BD30-F6B1-FDB7-4367119CEB1A}"/>
              </a:ext>
            </a:extLst>
          </p:cNvPr>
          <p:cNvSpPr txBox="1"/>
          <p:nvPr/>
        </p:nvSpPr>
        <p:spPr>
          <a:xfrm>
            <a:off x="6687367" y="1768627"/>
            <a:ext cx="477012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Key Functional Foundations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Regular/Emergency Ledgers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Daily Vault Balance &amp; Activity Reporting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Deposit Out/Bag Out Packing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Dispense Forecasting &amp; Automated Shipment Creation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Dynamically Routed Fed/Bank Pickups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Fully Automated Lock Dispatch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Real-Time Cross-Service Billing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F6DFE9-DF89-CE6A-276D-8204661AFD73}"/>
              </a:ext>
            </a:extLst>
          </p:cNvPr>
          <p:cNvSpPr txBox="1"/>
          <p:nvPr/>
        </p:nvSpPr>
        <p:spPr>
          <a:xfrm>
            <a:off x="1322198" y="2415284"/>
            <a:ext cx="349262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Scope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5 Daily Routes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10-20 Stops/Route/Day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3-5 Dedicated Ops Staff/Mgmt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1BA7EA-19DA-752F-A838-7D84D8CD8DEA}"/>
              </a:ext>
            </a:extLst>
          </p:cNvPr>
          <p:cNvSpPr txBox="1"/>
          <p:nvPr/>
        </p:nvSpPr>
        <p:spPr>
          <a:xfrm>
            <a:off x="1237574" y="1337740"/>
            <a:ext cx="838200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500" b="1" dirty="0">
                <a:solidFill>
                  <a:schemeClr val="accent2"/>
                </a:solidFill>
              </a:rPr>
              <a:t>~</a:t>
            </a:r>
            <a:endParaRPr lang="en-US" sz="115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15B8F9-D929-93EB-F9EC-AA8558D7B361}"/>
              </a:ext>
            </a:extLst>
          </p:cNvPr>
          <p:cNvSpPr txBox="1"/>
          <p:nvPr/>
        </p:nvSpPr>
        <p:spPr>
          <a:xfrm>
            <a:off x="1472266" y="968408"/>
            <a:ext cx="9247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With No Time to Breath Day Over Day – Need a System to Automate Key Logistical Functions</a:t>
            </a:r>
          </a:p>
        </p:txBody>
      </p:sp>
    </p:spTree>
    <p:extLst>
      <p:ext uri="{BB962C8B-B14F-4D97-AF65-F5344CB8AC3E}">
        <p14:creationId xmlns:p14="http://schemas.microsoft.com/office/powerpoint/2010/main" val="20982180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960F80-1926-6A3F-8B6B-EEBA0A497A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3F8D130-BE63-F0A1-D826-BD90E0934A4A}"/>
              </a:ext>
            </a:extLst>
          </p:cNvPr>
          <p:cNvSpPr txBox="1"/>
          <p:nvPr/>
        </p:nvSpPr>
        <p:spPr>
          <a:xfrm>
            <a:off x="381000" y="335280"/>
            <a:ext cx="48909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Deployment Case </a:t>
            </a:r>
            <a:r>
              <a:rPr lang="en-US" dirty="0"/>
              <a:t>| High Volume CIT Operation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FA18525-0C0A-556A-4943-D0D8E003F761}"/>
              </a:ext>
            </a:extLst>
          </p:cNvPr>
          <p:cNvSpPr txBox="1"/>
          <p:nvPr/>
        </p:nvSpPr>
        <p:spPr>
          <a:xfrm>
            <a:off x="894050" y="1047410"/>
            <a:ext cx="98603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With No Time to Breath Day Over Day – Need a System to Fully Trust Operational Enforcement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1A6AB7F-C8A0-42E5-661A-2B28A84E7151}"/>
              </a:ext>
            </a:extLst>
          </p:cNvPr>
          <p:cNvSpPr txBox="1"/>
          <p:nvPr/>
        </p:nvSpPr>
        <p:spPr>
          <a:xfrm>
            <a:off x="6687367" y="1768627"/>
            <a:ext cx="47701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Key Functional Foundations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Precision User Permissions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1F54B6-60E5-3E61-CF93-4AE1D3E7F80E}"/>
              </a:ext>
            </a:extLst>
          </p:cNvPr>
          <p:cNvSpPr txBox="1"/>
          <p:nvPr/>
        </p:nvSpPr>
        <p:spPr>
          <a:xfrm>
            <a:off x="1322198" y="2415284"/>
            <a:ext cx="349262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Scope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5 Daily Routes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10-20 Stops/Route/Day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3-5 Dedicated Ops Staff/Mgmt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2C0149-E405-1D6B-5D44-9CF7EF7024AD}"/>
              </a:ext>
            </a:extLst>
          </p:cNvPr>
          <p:cNvSpPr txBox="1"/>
          <p:nvPr/>
        </p:nvSpPr>
        <p:spPr>
          <a:xfrm>
            <a:off x="1237574" y="1337740"/>
            <a:ext cx="838200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500" b="1" dirty="0">
                <a:solidFill>
                  <a:schemeClr val="accent2"/>
                </a:solidFill>
              </a:rPr>
              <a:t>~</a:t>
            </a:r>
            <a:endParaRPr lang="en-US" sz="11500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C47A7F8-168C-9A68-F75C-1B8B6F0ADF11}"/>
              </a:ext>
            </a:extLst>
          </p:cNvPr>
          <p:cNvSpPr/>
          <p:nvPr/>
        </p:nvSpPr>
        <p:spPr>
          <a:xfrm>
            <a:off x="4311901" y="5697337"/>
            <a:ext cx="2971800" cy="736430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17525"/>
            <a:r>
              <a:rPr lang="en-US" sz="1600" dirty="0"/>
              <a:t>Zero-Trust Enforcement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8A9481A-E75E-69CC-172D-534D982B1A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9730" y="5846349"/>
            <a:ext cx="427129" cy="42712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6E609B4-EFA0-86FD-409A-983EFF571F82}"/>
              </a:ext>
            </a:extLst>
          </p:cNvPr>
          <p:cNvSpPr txBox="1"/>
          <p:nvPr/>
        </p:nvSpPr>
        <p:spPr>
          <a:xfrm>
            <a:off x="731520" y="5196872"/>
            <a:ext cx="23232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Key Platform Targets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65FCD75-DF4C-8CDC-98F7-600811B0E69B}"/>
              </a:ext>
            </a:extLst>
          </p:cNvPr>
          <p:cNvSpPr/>
          <p:nvPr/>
        </p:nvSpPr>
        <p:spPr>
          <a:xfrm>
            <a:off x="776221" y="5697337"/>
            <a:ext cx="3276600" cy="736430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17525"/>
            <a:r>
              <a:rPr lang="en-US" sz="1600" dirty="0"/>
              <a:t>Full Auditability Established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C28EBED-723B-568E-B8D5-A3FE4F3A66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050" y="5846349"/>
            <a:ext cx="427129" cy="427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94235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3BDC1B-E923-A83E-319F-91B55EA10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65E2130-B256-E178-1C76-114455BEF2FA}"/>
              </a:ext>
            </a:extLst>
          </p:cNvPr>
          <p:cNvSpPr txBox="1"/>
          <p:nvPr/>
        </p:nvSpPr>
        <p:spPr>
          <a:xfrm>
            <a:off x="228600" y="165641"/>
            <a:ext cx="5270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Deployment Case </a:t>
            </a:r>
            <a:r>
              <a:rPr lang="en-US" dirty="0"/>
              <a:t>| FLM Service Provider Operation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5F51FCA-A881-F72D-4888-723EEE95C013}"/>
              </a:ext>
            </a:extLst>
          </p:cNvPr>
          <p:cNvSpPr txBox="1"/>
          <p:nvPr/>
        </p:nvSpPr>
        <p:spPr>
          <a:xfrm>
            <a:off x="1322198" y="767249"/>
            <a:ext cx="95424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No More Non-Industry Specific, Generic One-Sized Fits All Service Management Platforms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57C31A0-11B8-3141-ED92-37C6533A35E8}"/>
              </a:ext>
            </a:extLst>
          </p:cNvPr>
          <p:cNvSpPr txBox="1"/>
          <p:nvPr/>
        </p:nvSpPr>
        <p:spPr>
          <a:xfrm>
            <a:off x="6904557" y="1368857"/>
            <a:ext cx="516636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Key Functional Foundations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Customizable Service Options &amp; Controls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Enforced Compliance per Service Action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Pic/Video Evidence Capture (before/after)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Direct Customer Participation (Create/Cancel)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Machine Service and Truck Checklists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Automated Lock Opening/Closing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Service-Level Agreement Visibility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Simplified Parts Management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ETA Notification Capabilities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Item/Tool/Equipment Checkin/Checkout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Technician Auto Assignment Rules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Preventative Maintenance Schedules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452F62-746A-6D4E-1F2F-FE4223CD4825}"/>
              </a:ext>
            </a:extLst>
          </p:cNvPr>
          <p:cNvSpPr txBox="1"/>
          <p:nvPr/>
        </p:nvSpPr>
        <p:spPr>
          <a:xfrm>
            <a:off x="1322198" y="2415284"/>
            <a:ext cx="28530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Scope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10+ Service Technicians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3BB151C-5384-2180-BA9E-611D2A6ABC82}"/>
              </a:ext>
            </a:extLst>
          </p:cNvPr>
          <p:cNvSpPr/>
          <p:nvPr/>
        </p:nvSpPr>
        <p:spPr>
          <a:xfrm>
            <a:off x="866735" y="5363304"/>
            <a:ext cx="3276600" cy="736430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17525"/>
            <a:r>
              <a:rPr lang="en-US" sz="1600" dirty="0"/>
              <a:t>Custom Configured Model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8EB4D3C-4EE7-1DC3-F878-ABAAC8702C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564" y="5512316"/>
            <a:ext cx="427129" cy="42712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E556501-3148-A9C2-D811-661C55873087}"/>
              </a:ext>
            </a:extLst>
          </p:cNvPr>
          <p:cNvSpPr txBox="1"/>
          <p:nvPr/>
        </p:nvSpPr>
        <p:spPr>
          <a:xfrm>
            <a:off x="1237574" y="1337740"/>
            <a:ext cx="838200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500" b="1" dirty="0">
                <a:solidFill>
                  <a:schemeClr val="accent2"/>
                </a:solidFill>
              </a:rPr>
              <a:t>~</a:t>
            </a:r>
            <a:endParaRPr lang="en-US" sz="115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C3285BB-2AD0-D2CB-1BFC-18EF5E3D7011}"/>
              </a:ext>
            </a:extLst>
          </p:cNvPr>
          <p:cNvSpPr txBox="1"/>
          <p:nvPr/>
        </p:nvSpPr>
        <p:spPr>
          <a:xfrm>
            <a:off x="866735" y="4906136"/>
            <a:ext cx="23232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Key Platform Targets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AAF0439-2CB6-D7B7-F394-B1C98131A882}"/>
              </a:ext>
            </a:extLst>
          </p:cNvPr>
          <p:cNvSpPr/>
          <p:nvPr/>
        </p:nvSpPr>
        <p:spPr>
          <a:xfrm>
            <a:off x="4389808" y="5363304"/>
            <a:ext cx="3794760" cy="736430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17525"/>
            <a:r>
              <a:rPr lang="en-US" sz="1600" dirty="0"/>
              <a:t>Deepen Customer Engagement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8C1695C-C600-FEC4-5D2C-B7B49DBC7B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7637" y="5512316"/>
            <a:ext cx="427129" cy="427129"/>
          </a:xfrm>
          <a:prstGeom prst="rect">
            <a:avLst/>
          </a:prstGeom>
        </p:spPr>
      </p:pic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FEA0F887-2445-B0C6-1425-B10E5C8926FF}"/>
              </a:ext>
            </a:extLst>
          </p:cNvPr>
          <p:cNvSpPr/>
          <p:nvPr/>
        </p:nvSpPr>
        <p:spPr>
          <a:xfrm>
            <a:off x="8431041" y="5354321"/>
            <a:ext cx="3276600" cy="736430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17525"/>
            <a:r>
              <a:rPr lang="en-US" sz="1600" dirty="0"/>
              <a:t>Integrate Lock Operations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C76B3DA-F134-9F5D-7277-3EBC9F9824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8870" y="5503333"/>
            <a:ext cx="427129" cy="427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03326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3D4B0B-1F19-162A-923F-D39B84D9D2E3}"/>
              </a:ext>
            </a:extLst>
          </p:cNvPr>
          <p:cNvSpPr txBox="1"/>
          <p:nvPr/>
        </p:nvSpPr>
        <p:spPr>
          <a:xfrm>
            <a:off x="381000" y="457200"/>
            <a:ext cx="6538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Lock Automation </a:t>
            </a:r>
            <a:r>
              <a:rPr lang="en-US" dirty="0"/>
              <a:t>| Securely Fully Automate Routine Dispatching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74F18E7-5093-02B1-785A-906DD284E9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086" y="1100071"/>
            <a:ext cx="3943350" cy="5334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CC29F54-9FDE-08DD-70E0-BCE759FB49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646" y="2109479"/>
            <a:ext cx="1492707" cy="301557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29A72AF-A070-ADFE-7DCD-F121BBA0359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4114383"/>
            <a:ext cx="1197292" cy="1521482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F5180E2-FAF8-B277-FEB8-26182515CF47}"/>
              </a:ext>
            </a:extLst>
          </p:cNvPr>
          <p:cNvSpPr/>
          <p:nvPr/>
        </p:nvSpPr>
        <p:spPr>
          <a:xfrm>
            <a:off x="5832693" y="2168240"/>
            <a:ext cx="1874520" cy="68664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Kaba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EAA9609-5438-87DF-4F0E-8244306E8693}"/>
              </a:ext>
            </a:extLst>
          </p:cNvPr>
          <p:cNvSpPr/>
          <p:nvPr/>
        </p:nvSpPr>
        <p:spPr>
          <a:xfrm>
            <a:off x="5832693" y="3332704"/>
            <a:ext cx="1874520" cy="68664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S&amp;G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C648527-10B3-06D3-E99B-558A9DD5728E}"/>
              </a:ext>
            </a:extLst>
          </p:cNvPr>
          <p:cNvSpPr/>
          <p:nvPr/>
        </p:nvSpPr>
        <p:spPr>
          <a:xfrm>
            <a:off x="5832693" y="4497169"/>
            <a:ext cx="1874520" cy="68664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Integard</a:t>
            </a:r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362EECD-3669-4E9F-9462-97717D7FD835}"/>
              </a:ext>
            </a:extLst>
          </p:cNvPr>
          <p:cNvSpPr/>
          <p:nvPr/>
        </p:nvSpPr>
        <p:spPr>
          <a:xfrm>
            <a:off x="3079809" y="2511561"/>
            <a:ext cx="2164080" cy="21640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OTC Anywhere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96049C9-A240-F936-4FC1-BE58B7B46F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5495" y="5346169"/>
            <a:ext cx="1492707" cy="301557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46199E4-CDF4-0E71-8933-A977FE48533D}"/>
              </a:ext>
            </a:extLst>
          </p:cNvPr>
          <p:cNvSpPr txBox="1"/>
          <p:nvPr/>
        </p:nvSpPr>
        <p:spPr>
          <a:xfrm>
            <a:off x="8604229" y="2533163"/>
            <a:ext cx="2785058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Geofenced Open Controls</a:t>
            </a:r>
          </a:p>
          <a:p>
            <a:endParaRPr lang="en-US" dirty="0"/>
          </a:p>
          <a:p>
            <a:r>
              <a:rPr lang="en-US" dirty="0"/>
              <a:t>Close Enforcement</a:t>
            </a:r>
          </a:p>
          <a:p>
            <a:endParaRPr lang="en-US" dirty="0"/>
          </a:p>
          <a:p>
            <a:r>
              <a:rPr lang="en-US" dirty="0"/>
              <a:t>Automated Reassigns</a:t>
            </a:r>
          </a:p>
          <a:p>
            <a:endParaRPr lang="en-US" dirty="0"/>
          </a:p>
          <a:p>
            <a:r>
              <a:rPr lang="en-US" dirty="0"/>
              <a:t>Truck Cages/Safes</a:t>
            </a:r>
          </a:p>
        </p:txBody>
      </p:sp>
    </p:spTree>
    <p:extLst>
      <p:ext uri="{BB962C8B-B14F-4D97-AF65-F5344CB8AC3E}">
        <p14:creationId xmlns:p14="http://schemas.microsoft.com/office/powerpoint/2010/main" val="23807646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CA660C7-400D-11BD-ABA0-6B8474B9DBD8}"/>
              </a:ext>
            </a:extLst>
          </p:cNvPr>
          <p:cNvSpPr txBox="1"/>
          <p:nvPr/>
        </p:nvSpPr>
        <p:spPr>
          <a:xfrm>
            <a:off x="433686" y="332239"/>
            <a:ext cx="4962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Integrations</a:t>
            </a:r>
            <a:r>
              <a:rPr lang="en-US" dirty="0"/>
              <a:t> | Expansive Integration Capabilities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6AFC11C-8DBE-6A55-ABC5-37E405087B43}"/>
              </a:ext>
            </a:extLst>
          </p:cNvPr>
          <p:cNvSpPr/>
          <p:nvPr/>
        </p:nvSpPr>
        <p:spPr>
          <a:xfrm>
            <a:off x="670560" y="1722832"/>
            <a:ext cx="1554480" cy="12344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Currency</a:t>
            </a:r>
          </a:p>
          <a:p>
            <a:pPr algn="ctr"/>
            <a:r>
              <a:rPr lang="en-US" dirty="0"/>
              <a:t>Platforms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AA4F772-C2C3-D678-FF56-4A51D6195E9F}"/>
              </a:ext>
            </a:extLst>
          </p:cNvPr>
          <p:cNvSpPr/>
          <p:nvPr/>
        </p:nvSpPr>
        <p:spPr>
          <a:xfrm>
            <a:off x="2529840" y="1722832"/>
            <a:ext cx="1554480" cy="12344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Bank/FI</a:t>
            </a:r>
          </a:p>
          <a:p>
            <a:pPr algn="ctr"/>
            <a:r>
              <a:rPr lang="en-US" dirty="0"/>
              <a:t>Systems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B659E0F-18BF-EE81-32CA-946A7C1E4B0C}"/>
              </a:ext>
            </a:extLst>
          </p:cNvPr>
          <p:cNvSpPr/>
          <p:nvPr/>
        </p:nvSpPr>
        <p:spPr>
          <a:xfrm>
            <a:off x="4389120" y="1722832"/>
            <a:ext cx="1554480" cy="12344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dirty="0"/>
              <a:t>Cash </a:t>
            </a:r>
          </a:p>
          <a:p>
            <a:pPr algn="ctr"/>
            <a:r>
              <a:rPr lang="en-US" dirty="0"/>
              <a:t>Sorters/Safes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C8D395C-CB9A-D336-ED5A-4F89600BD251}"/>
              </a:ext>
            </a:extLst>
          </p:cNvPr>
          <p:cNvSpPr/>
          <p:nvPr/>
        </p:nvSpPr>
        <p:spPr>
          <a:xfrm>
            <a:off x="6248400" y="1722832"/>
            <a:ext cx="1554480" cy="12344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Bluetooth</a:t>
            </a:r>
          </a:p>
          <a:p>
            <a:pPr algn="ctr"/>
            <a:r>
              <a:rPr lang="en-US" dirty="0"/>
              <a:t>Devices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5510701-3A67-35D4-A8C3-2F2B68DBF727}"/>
              </a:ext>
            </a:extLst>
          </p:cNvPr>
          <p:cNvSpPr/>
          <p:nvPr/>
        </p:nvSpPr>
        <p:spPr>
          <a:xfrm>
            <a:off x="8107680" y="1722832"/>
            <a:ext cx="1554480" cy="12344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Core</a:t>
            </a:r>
          </a:p>
          <a:p>
            <a:pPr algn="ctr"/>
            <a:r>
              <a:rPr lang="en-US" dirty="0"/>
              <a:t>Processes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9EF490-F025-021D-1F18-FF325A88A675}"/>
              </a:ext>
            </a:extLst>
          </p:cNvPr>
          <p:cNvSpPr txBox="1"/>
          <p:nvPr/>
        </p:nvSpPr>
        <p:spPr>
          <a:xfrm>
            <a:off x="671639" y="3169920"/>
            <a:ext cx="14273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22238" indent="-122238">
              <a:buFont typeface="Arial" panose="020B0604020202020204" pitchFamily="34" charset="0"/>
              <a:buChar char="•"/>
            </a:pPr>
            <a:r>
              <a:rPr lang="en-US" sz="1200" dirty="0"/>
              <a:t>Shipment Import</a:t>
            </a:r>
          </a:p>
          <a:p>
            <a:pPr marL="122238" indent="-122238">
              <a:buFont typeface="Arial" panose="020B0604020202020204" pitchFamily="34" charset="0"/>
              <a:buChar char="•"/>
            </a:pPr>
            <a:r>
              <a:rPr lang="en-US" sz="1200" dirty="0"/>
              <a:t>Status Updates</a:t>
            </a:r>
          </a:p>
          <a:p>
            <a:pPr marL="122238" indent="-122238">
              <a:buFont typeface="Arial" panose="020B0604020202020204" pitchFamily="34" charset="0"/>
              <a:buChar char="•"/>
            </a:pPr>
            <a:r>
              <a:rPr lang="en-US" sz="1200" dirty="0"/>
              <a:t>Location Detail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2779470-8E82-D753-583C-EF724461D6CF}"/>
              </a:ext>
            </a:extLst>
          </p:cNvPr>
          <p:cNvSpPr/>
          <p:nvPr/>
        </p:nvSpPr>
        <p:spPr>
          <a:xfrm>
            <a:off x="9966960" y="1722832"/>
            <a:ext cx="1554480" cy="12344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External</a:t>
            </a:r>
          </a:p>
          <a:p>
            <a:pPr algn="ctr"/>
            <a:r>
              <a:rPr lang="en-US" dirty="0"/>
              <a:t>Solutions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49B4B7-535B-FEDE-D006-727E6A99B7F5}"/>
              </a:ext>
            </a:extLst>
          </p:cNvPr>
          <p:cNvSpPr txBox="1"/>
          <p:nvPr/>
        </p:nvSpPr>
        <p:spPr>
          <a:xfrm>
            <a:off x="2457822" y="3115899"/>
            <a:ext cx="193129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22238" indent="-122238">
              <a:buFont typeface="Arial" panose="020B0604020202020204" pitchFamily="34" charset="0"/>
              <a:buChar char="•"/>
            </a:pPr>
            <a:r>
              <a:rPr lang="en-US" sz="1200" dirty="0"/>
              <a:t>Adaptive I/O Framework</a:t>
            </a:r>
          </a:p>
          <a:p>
            <a:pPr marL="122238" indent="-122238">
              <a:buFont typeface="Arial" panose="020B0604020202020204" pitchFamily="34" charset="0"/>
              <a:buChar char="•"/>
            </a:pPr>
            <a:r>
              <a:rPr lang="en-US" sz="1200" dirty="0"/>
              <a:t>Cash/Coin Ordering</a:t>
            </a:r>
          </a:p>
          <a:p>
            <a:pPr marL="122238" indent="-122238">
              <a:buFont typeface="Arial" panose="020B0604020202020204" pitchFamily="34" charset="0"/>
              <a:buChar char="•"/>
            </a:pPr>
            <a:r>
              <a:rPr lang="en-US" sz="1200" dirty="0"/>
              <a:t>Vault Balance/Activity</a:t>
            </a:r>
          </a:p>
          <a:p>
            <a:pPr marL="122238" indent="-122238">
              <a:buFont typeface="Arial" panose="020B0604020202020204" pitchFamily="34" charset="0"/>
              <a:buChar char="•"/>
            </a:pPr>
            <a:r>
              <a:rPr lang="en-US" sz="1200" dirty="0"/>
              <a:t>Approved Shipments</a:t>
            </a:r>
          </a:p>
          <a:p>
            <a:pPr marL="122238" indent="-122238">
              <a:buFont typeface="Arial" panose="020B0604020202020204" pitchFamily="34" charset="0"/>
              <a:buChar char="•"/>
            </a:pPr>
            <a:r>
              <a:rPr lang="en-US" sz="1200" dirty="0"/>
              <a:t>Order Timing Controls</a:t>
            </a:r>
          </a:p>
          <a:p>
            <a:pPr marL="122238" indent="-122238">
              <a:buFont typeface="Arial" panose="020B0604020202020204" pitchFamily="34" charset="0"/>
              <a:buChar char="•"/>
            </a:pPr>
            <a:r>
              <a:rPr lang="en-US" sz="1200" dirty="0"/>
              <a:t>Deposit Out Procedures</a:t>
            </a:r>
          </a:p>
          <a:p>
            <a:pPr marL="122238" indent="-122238">
              <a:buFont typeface="Arial" panose="020B0604020202020204" pitchFamily="34" charset="0"/>
              <a:buChar char="•"/>
            </a:pPr>
            <a:r>
              <a:rPr lang="en-US" sz="1200" dirty="0"/>
              <a:t>Regular/EC Ledgering</a:t>
            </a:r>
          </a:p>
          <a:p>
            <a:pPr marL="122238" indent="-122238">
              <a:buFont typeface="Arial" panose="020B0604020202020204" pitchFamily="34" charset="0"/>
              <a:buChar char="•"/>
            </a:pPr>
            <a:r>
              <a:rPr lang="en-US" sz="1200" dirty="0"/>
              <a:t>Data Directly Accessible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E633876-146A-0891-2819-F3A3BE7D7FC1}"/>
              </a:ext>
            </a:extLst>
          </p:cNvPr>
          <p:cNvSpPr txBox="1"/>
          <p:nvPr/>
        </p:nvSpPr>
        <p:spPr>
          <a:xfrm>
            <a:off x="4584149" y="3169920"/>
            <a:ext cx="11644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22238" indent="-122238">
              <a:buFont typeface="Arial" panose="020B0604020202020204" pitchFamily="34" charset="0"/>
              <a:buChar char="•"/>
            </a:pPr>
            <a:r>
              <a:rPr lang="en-US" sz="1200" dirty="0"/>
              <a:t>Semacon</a:t>
            </a:r>
          </a:p>
          <a:p>
            <a:pPr marL="122238" indent="-122238">
              <a:buFont typeface="Arial" panose="020B0604020202020204" pitchFamily="34" charset="0"/>
              <a:buChar char="•"/>
            </a:pPr>
            <a:r>
              <a:rPr lang="en-US" sz="1200" dirty="0"/>
              <a:t>Glory</a:t>
            </a:r>
          </a:p>
          <a:p>
            <a:pPr marL="122238" indent="-122238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6"/>
                </a:solidFill>
              </a:rPr>
              <a:t>Recommend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14E5F54-C649-88F3-AB46-C9E2BC8BBA45}"/>
              </a:ext>
            </a:extLst>
          </p:cNvPr>
          <p:cNvSpPr txBox="1"/>
          <p:nvPr/>
        </p:nvSpPr>
        <p:spPr>
          <a:xfrm>
            <a:off x="6248400" y="3169920"/>
            <a:ext cx="16207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22238" indent="-122238">
              <a:buFont typeface="Arial" panose="020B0604020202020204" pitchFamily="34" charset="0"/>
              <a:buChar char="•"/>
            </a:pPr>
            <a:r>
              <a:rPr lang="en-US" sz="1200" dirty="0"/>
              <a:t>HID Laser Scanners</a:t>
            </a:r>
          </a:p>
          <a:p>
            <a:pPr marL="122238" indent="-122238">
              <a:buFont typeface="Arial" panose="020B0604020202020204" pitchFamily="34" charset="0"/>
              <a:buChar char="•"/>
            </a:pPr>
            <a:r>
              <a:rPr lang="en-US" sz="1200" dirty="0"/>
              <a:t>Printers</a:t>
            </a:r>
          </a:p>
          <a:p>
            <a:pPr marL="122238" indent="-122238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6"/>
                </a:solidFill>
              </a:rPr>
              <a:t>Recommend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53AC1AF-B2FB-2E2C-F1AD-716906A0FC88}"/>
              </a:ext>
            </a:extLst>
          </p:cNvPr>
          <p:cNvSpPr txBox="1"/>
          <p:nvPr/>
        </p:nvSpPr>
        <p:spPr>
          <a:xfrm>
            <a:off x="8107680" y="3115899"/>
            <a:ext cx="1850571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22238" indent="-122238">
              <a:buFont typeface="Arial" panose="020B0604020202020204" pitchFamily="34" charset="0"/>
              <a:buChar char="•"/>
            </a:pPr>
            <a:r>
              <a:rPr lang="en-US" sz="1200" dirty="0"/>
              <a:t>Shipment Batch Create</a:t>
            </a:r>
          </a:p>
          <a:p>
            <a:pPr marL="122238" indent="-122238">
              <a:buFont typeface="Arial" panose="020B0604020202020204" pitchFamily="34" charset="0"/>
              <a:buChar char="•"/>
            </a:pPr>
            <a:r>
              <a:rPr lang="en-US" sz="1200" dirty="0"/>
              <a:t>Shipment File Import</a:t>
            </a:r>
          </a:p>
          <a:p>
            <a:pPr marL="122238" indent="-122238">
              <a:buFont typeface="Arial" panose="020B0604020202020204" pitchFamily="34" charset="0"/>
              <a:buChar char="•"/>
            </a:pPr>
            <a:r>
              <a:rPr lang="en-US" sz="1200" dirty="0"/>
              <a:t>Machine Balances</a:t>
            </a:r>
          </a:p>
          <a:p>
            <a:pPr marL="122238" indent="-122238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22238" indent="-122238">
              <a:buFont typeface="Arial" panose="020B0604020202020204" pitchFamily="34" charset="0"/>
              <a:buChar char="•"/>
            </a:pPr>
            <a:r>
              <a:rPr lang="en-US" sz="1200" dirty="0"/>
              <a:t>Change Management</a:t>
            </a:r>
          </a:p>
          <a:p>
            <a:pPr marL="122238" indent="-122238">
              <a:buFont typeface="Arial" panose="020B0604020202020204" pitchFamily="34" charset="0"/>
              <a:buChar char="•"/>
            </a:pPr>
            <a:r>
              <a:rPr lang="en-US" sz="1200" dirty="0"/>
              <a:t>User Time Exports</a:t>
            </a:r>
          </a:p>
          <a:p>
            <a:pPr marL="122238" indent="-122238">
              <a:buFont typeface="Arial" panose="020B0604020202020204" pitchFamily="34" charset="0"/>
              <a:buChar char="•"/>
            </a:pPr>
            <a:r>
              <a:rPr lang="en-US" sz="1200" dirty="0"/>
              <a:t>Billing Exports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05C16CB-BE97-BFB3-411C-808D8074E4A1}"/>
              </a:ext>
            </a:extLst>
          </p:cNvPr>
          <p:cNvSpPr txBox="1"/>
          <p:nvPr/>
        </p:nvSpPr>
        <p:spPr>
          <a:xfrm>
            <a:off x="10079595" y="3115899"/>
            <a:ext cx="13292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22238" indent="-122238">
              <a:buFont typeface="Arial" panose="020B0604020202020204" pitchFamily="34" charset="0"/>
              <a:buChar char="•"/>
            </a:pPr>
            <a:r>
              <a:rPr lang="en-US" sz="1200" dirty="0"/>
              <a:t>Invoicing AP/AR</a:t>
            </a:r>
            <a:endParaRPr lang="en-US" sz="1200" dirty="0">
              <a:solidFill>
                <a:schemeClr val="accent6"/>
              </a:solidFill>
            </a:endParaRPr>
          </a:p>
          <a:p>
            <a:pPr marL="122238" indent="-122238">
              <a:buFont typeface="Arial" panose="020B0604020202020204" pitchFamily="34" charset="0"/>
              <a:buChar char="•"/>
            </a:pPr>
            <a:r>
              <a:rPr lang="en-US" sz="1200" dirty="0"/>
              <a:t>API –Based</a:t>
            </a:r>
          </a:p>
          <a:p>
            <a:pPr marL="122238" indent="-122238">
              <a:buFont typeface="Arial" panose="020B0604020202020204" pitchFamily="34" charset="0"/>
              <a:buChar char="•"/>
            </a:pPr>
            <a:r>
              <a:rPr lang="en-US" sz="1200" dirty="0"/>
              <a:t>SFTP Transfer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6DDD6E5-16E8-0FAD-B75C-E68FF6B0D74D}"/>
              </a:ext>
            </a:extLst>
          </p:cNvPr>
          <p:cNvSpPr txBox="1"/>
          <p:nvPr/>
        </p:nvSpPr>
        <p:spPr>
          <a:xfrm>
            <a:off x="4311312" y="981369"/>
            <a:ext cx="35693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We Work On-Demand Too</a:t>
            </a:r>
          </a:p>
        </p:txBody>
      </p:sp>
    </p:spTree>
    <p:extLst>
      <p:ext uri="{BB962C8B-B14F-4D97-AF65-F5344CB8AC3E}">
        <p14:creationId xmlns:p14="http://schemas.microsoft.com/office/powerpoint/2010/main" val="2077925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34B4984-88B5-994C-4644-9B8EF836D8AA}"/>
              </a:ext>
            </a:extLst>
          </p:cNvPr>
          <p:cNvSpPr txBox="1"/>
          <p:nvPr/>
        </p:nvSpPr>
        <p:spPr>
          <a:xfrm>
            <a:off x="426720" y="401465"/>
            <a:ext cx="40493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Process</a:t>
            </a:r>
            <a:r>
              <a:rPr lang="en-US" dirty="0"/>
              <a:t> | Direct Platform Management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4CEA33-E870-A5FE-AEE3-599714B025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2560" y="1599014"/>
            <a:ext cx="8717280" cy="485752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F774847-760A-4598-01CD-789DF1900E5B}"/>
              </a:ext>
            </a:extLst>
          </p:cNvPr>
          <p:cNvSpPr txBox="1"/>
          <p:nvPr/>
        </p:nvSpPr>
        <p:spPr>
          <a:xfrm>
            <a:off x="2306464" y="954073"/>
            <a:ext cx="69694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You Help Drive and Direct Weekly Platform Updates</a:t>
            </a:r>
          </a:p>
        </p:txBody>
      </p:sp>
    </p:spTree>
    <p:extLst>
      <p:ext uri="{BB962C8B-B14F-4D97-AF65-F5344CB8AC3E}">
        <p14:creationId xmlns:p14="http://schemas.microsoft.com/office/powerpoint/2010/main" val="24176577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F4A9810-1D43-BD87-4C8E-DC98030788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0" y="887510"/>
            <a:ext cx="10615580" cy="5082980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11B9D46-36B5-2A6B-8BD3-CFE6B3451DF8}"/>
              </a:ext>
            </a:extLst>
          </p:cNvPr>
          <p:cNvSpPr/>
          <p:nvPr/>
        </p:nvSpPr>
        <p:spPr>
          <a:xfrm>
            <a:off x="6096000" y="5237921"/>
            <a:ext cx="3250096" cy="47707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Support@Coorworks.com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93D684-F11B-8363-C83D-F86AE6FBC225}"/>
              </a:ext>
            </a:extLst>
          </p:cNvPr>
          <p:cNvSpPr txBox="1"/>
          <p:nvPr/>
        </p:nvSpPr>
        <p:spPr>
          <a:xfrm>
            <a:off x="2087880" y="573305"/>
            <a:ext cx="1957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Schedule A Demo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7740E3A-98D4-FB58-1E03-A0079882A72E}"/>
              </a:ext>
            </a:extLst>
          </p:cNvPr>
          <p:cNvCxnSpPr/>
          <p:nvPr/>
        </p:nvCxnSpPr>
        <p:spPr>
          <a:xfrm flipH="1">
            <a:off x="2545080" y="1035862"/>
            <a:ext cx="243840" cy="44196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00E85ED9-34C3-C92F-F0A4-FC64F7B2614E}"/>
              </a:ext>
            </a:extLst>
          </p:cNvPr>
          <p:cNvSpPr txBox="1"/>
          <p:nvPr/>
        </p:nvSpPr>
        <p:spPr>
          <a:xfrm>
            <a:off x="6675120" y="3581400"/>
            <a:ext cx="24651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Tell us about your operation…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9EE0DA2-001B-0844-2B69-04C92020D493}"/>
              </a:ext>
            </a:extLst>
          </p:cNvPr>
          <p:cNvCxnSpPr/>
          <p:nvPr/>
        </p:nvCxnSpPr>
        <p:spPr>
          <a:xfrm>
            <a:off x="6827520" y="3429000"/>
            <a:ext cx="172212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D21FABD-130B-DE8D-9DF4-4EF7AC9804DF}"/>
              </a:ext>
            </a:extLst>
          </p:cNvPr>
          <p:cNvCxnSpPr>
            <a:cxnSpLocks/>
          </p:cNvCxnSpPr>
          <p:nvPr/>
        </p:nvCxnSpPr>
        <p:spPr>
          <a:xfrm>
            <a:off x="1143000" y="2392680"/>
            <a:ext cx="3481587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ABF05CC-5BBB-43A4-55BC-BBE731ABB00A}"/>
              </a:ext>
            </a:extLst>
          </p:cNvPr>
          <p:cNvSpPr txBox="1"/>
          <p:nvPr/>
        </p:nvSpPr>
        <p:spPr>
          <a:xfrm>
            <a:off x="4342731" y="518178"/>
            <a:ext cx="3506537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Schedule an hour to understand the scope </a:t>
            </a:r>
          </a:p>
          <a:p>
            <a:r>
              <a:rPr lang="en-US" sz="1400" dirty="0">
                <a:solidFill>
                  <a:srgbClr val="FF0000"/>
                </a:solidFill>
              </a:rPr>
              <a:t>of TNT and where it can move the needle in</a:t>
            </a:r>
          </a:p>
          <a:p>
            <a:r>
              <a:rPr lang="en-US" sz="1400" dirty="0">
                <a:solidFill>
                  <a:srgbClr val="FF0000"/>
                </a:solidFill>
              </a:rPr>
              <a:t>your CIT/ATM/FLM service operation.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9E4351E-487A-5AC5-3F71-03E78931E54C}"/>
              </a:ext>
            </a:extLst>
          </p:cNvPr>
          <p:cNvCxnSpPr>
            <a:cxnSpLocks/>
          </p:cNvCxnSpPr>
          <p:nvPr/>
        </p:nvCxnSpPr>
        <p:spPr>
          <a:xfrm>
            <a:off x="1142999" y="2651760"/>
            <a:ext cx="238087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1CA43C7-0B75-3F2A-A533-82BE7FBFD92A}"/>
              </a:ext>
            </a:extLst>
          </p:cNvPr>
          <p:cNvCxnSpPr/>
          <p:nvPr/>
        </p:nvCxnSpPr>
        <p:spPr>
          <a:xfrm flipH="1">
            <a:off x="4328160" y="1256842"/>
            <a:ext cx="609600" cy="101391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64554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EC840EB-C331-1AA1-7E21-E022EFC56155}"/>
              </a:ext>
            </a:extLst>
          </p:cNvPr>
          <p:cNvSpPr txBox="1"/>
          <p:nvPr/>
        </p:nvSpPr>
        <p:spPr>
          <a:xfrm>
            <a:off x="3483980" y="3429000"/>
            <a:ext cx="32661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{Do Not Include Past this point}</a:t>
            </a:r>
          </a:p>
        </p:txBody>
      </p:sp>
    </p:spTree>
    <p:extLst>
      <p:ext uri="{BB962C8B-B14F-4D97-AF65-F5344CB8AC3E}">
        <p14:creationId xmlns:p14="http://schemas.microsoft.com/office/powerpoint/2010/main" val="1866748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DDE0D1-CFC1-8D06-581C-AAB841486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FE98EF6-F31C-4042-87BB-DEC41CE49D6C}"/>
              </a:ext>
            </a:extLst>
          </p:cNvPr>
          <p:cNvSpPr/>
          <p:nvPr/>
        </p:nvSpPr>
        <p:spPr>
          <a:xfrm>
            <a:off x="2579077" y="1755947"/>
            <a:ext cx="7408985" cy="4993151"/>
          </a:xfrm>
          <a:prstGeom prst="roundRect">
            <a:avLst>
              <a:gd name="adj" fmla="val 305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D628EC-A5D9-7552-C25D-84F37D1AB3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1133" y="1917087"/>
            <a:ext cx="6930929" cy="4641657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E328C412-88D1-AF48-A131-38262A911DD6}"/>
              </a:ext>
            </a:extLst>
          </p:cNvPr>
          <p:cNvSpPr txBox="1"/>
          <p:nvPr/>
        </p:nvSpPr>
        <p:spPr>
          <a:xfrm>
            <a:off x="364659" y="1125595"/>
            <a:ext cx="44932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ONE PLATFORM | INFINITE EXPANSION</a:t>
            </a: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53921E5C-67C0-88F5-780F-31928C51ED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89" y="274804"/>
            <a:ext cx="5359288" cy="84747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677F12F-1D8B-EAC4-AC2F-16061A506E4A}"/>
              </a:ext>
            </a:extLst>
          </p:cNvPr>
          <p:cNvSpPr/>
          <p:nvPr/>
        </p:nvSpPr>
        <p:spPr>
          <a:xfrm>
            <a:off x="0" y="6858000"/>
            <a:ext cx="12192000" cy="990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D9F48DD-7FBF-4FC5-F781-6E6796BF7F59}"/>
              </a:ext>
            </a:extLst>
          </p:cNvPr>
          <p:cNvSpPr txBox="1"/>
          <p:nvPr/>
        </p:nvSpPr>
        <p:spPr>
          <a:xfrm>
            <a:off x="3110075" y="7261423"/>
            <a:ext cx="5476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Evolve Your CIT/ATM/FLM Business Anyway </a:t>
            </a:r>
            <a:r>
              <a:rPr lang="en-US" u="sng" dirty="0"/>
              <a:t>YOU</a:t>
            </a:r>
            <a:r>
              <a:rPr lang="en-US" dirty="0"/>
              <a:t> Want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23B1B54A-18F9-CF33-0652-558642E56611}"/>
              </a:ext>
            </a:extLst>
          </p:cNvPr>
          <p:cNvGrpSpPr/>
          <p:nvPr/>
        </p:nvGrpSpPr>
        <p:grpSpPr>
          <a:xfrm>
            <a:off x="1116253" y="7814271"/>
            <a:ext cx="1762935" cy="1325215"/>
            <a:chOff x="403779" y="5357194"/>
            <a:chExt cx="1456080" cy="1325215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56A2D905-23D3-F5FA-0C6A-26DB73108D8C}"/>
                </a:ext>
              </a:extLst>
            </p:cNvPr>
            <p:cNvSpPr/>
            <p:nvPr/>
          </p:nvSpPr>
          <p:spPr>
            <a:xfrm>
              <a:off x="403780" y="5801140"/>
              <a:ext cx="1456079" cy="881269"/>
            </a:xfrm>
            <a:prstGeom prst="roundRect">
              <a:avLst>
                <a:gd name="adj" fmla="val 7644"/>
              </a:avLst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b"/>
            <a:lstStyle/>
            <a:p>
              <a:pPr algn="ctr"/>
              <a:r>
                <a:rPr lang="en-US" sz="1100" dirty="0"/>
                <a:t>BRANCHES</a:t>
              </a:r>
            </a:p>
          </p:txBody>
        </p:sp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D343A88E-D0FD-1580-C584-45DC1A73DAA7}"/>
                </a:ext>
              </a:extLst>
            </p:cNvPr>
            <p:cNvSpPr/>
            <p:nvPr/>
          </p:nvSpPr>
          <p:spPr>
            <a:xfrm>
              <a:off x="403779" y="5357194"/>
              <a:ext cx="1456079" cy="887894"/>
            </a:xfrm>
            <a:prstGeom prst="roundRect">
              <a:avLst>
                <a:gd name="adj" fmla="val 7644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b"/>
            <a:lstStyle/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1000" dirty="0"/>
                <a:t>CENTRALIZED MGMT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1000" dirty="0"/>
                <a:t>ACTION PERMISSIONS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1000" dirty="0"/>
                <a:t>OPERATION DESIGN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1000" dirty="0"/>
                <a:t>PROCEDURE DESIGN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1000" dirty="0"/>
                <a:t>SECURED TRANSFER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75F557D8-2140-0EB5-0F4B-105E0A5C262C}"/>
              </a:ext>
            </a:extLst>
          </p:cNvPr>
          <p:cNvGrpSpPr/>
          <p:nvPr/>
        </p:nvGrpSpPr>
        <p:grpSpPr>
          <a:xfrm>
            <a:off x="2984789" y="7814271"/>
            <a:ext cx="1762935" cy="1325215"/>
            <a:chOff x="1732514" y="5357194"/>
            <a:chExt cx="1456080" cy="1325215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EC9CCA7F-E4BA-F8CF-0742-2A8E138FE1A5}"/>
                </a:ext>
              </a:extLst>
            </p:cNvPr>
            <p:cNvSpPr/>
            <p:nvPr/>
          </p:nvSpPr>
          <p:spPr>
            <a:xfrm>
              <a:off x="1732515" y="5801140"/>
              <a:ext cx="1456079" cy="881269"/>
            </a:xfrm>
            <a:prstGeom prst="roundRect">
              <a:avLst>
                <a:gd name="adj" fmla="val 7644"/>
              </a:avLst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b"/>
            <a:lstStyle/>
            <a:p>
              <a:pPr algn="ctr"/>
              <a:r>
                <a:rPr lang="en-US" sz="1100" dirty="0"/>
                <a:t>CASH VAULTS</a:t>
              </a:r>
            </a:p>
          </p:txBody>
        </p:sp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E43A0641-CF8F-549C-0117-4462CC9AB39C}"/>
                </a:ext>
              </a:extLst>
            </p:cNvPr>
            <p:cNvSpPr/>
            <p:nvPr/>
          </p:nvSpPr>
          <p:spPr>
            <a:xfrm>
              <a:off x="1732514" y="5357194"/>
              <a:ext cx="1456079" cy="887894"/>
            </a:xfrm>
            <a:prstGeom prst="roundRect">
              <a:avLst>
                <a:gd name="adj" fmla="val 7644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b"/>
            <a:lstStyle/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1000" dirty="0"/>
                <a:t>REAL-TIME CASH VISIBILITY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1000" dirty="0"/>
                <a:t>PACK/COUNT/DEPOSIT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1000" dirty="0"/>
                <a:t>CUSTOMIZABLE LEDGERS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1000" dirty="0"/>
                <a:t>BANK/FI ORDER MGMT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1000" dirty="0"/>
                <a:t>FULLY AUDTIABLE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07275487-F16D-3A69-BA31-02C691948A49}"/>
              </a:ext>
            </a:extLst>
          </p:cNvPr>
          <p:cNvGrpSpPr/>
          <p:nvPr/>
        </p:nvGrpSpPr>
        <p:grpSpPr>
          <a:xfrm>
            <a:off x="4853324" y="7814271"/>
            <a:ext cx="1762935" cy="1318591"/>
            <a:chOff x="3056286" y="5367130"/>
            <a:chExt cx="1456080" cy="1318591"/>
          </a:xfrm>
        </p:grpSpPr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EA0482FF-2921-A6B5-0985-E6EBBD5E1261}"/>
                </a:ext>
              </a:extLst>
            </p:cNvPr>
            <p:cNvSpPr/>
            <p:nvPr/>
          </p:nvSpPr>
          <p:spPr>
            <a:xfrm>
              <a:off x="3056287" y="5804452"/>
              <a:ext cx="1456079" cy="881269"/>
            </a:xfrm>
            <a:prstGeom prst="roundRect">
              <a:avLst>
                <a:gd name="adj" fmla="val 7644"/>
              </a:avLst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b"/>
            <a:lstStyle/>
            <a:p>
              <a:pPr algn="ctr"/>
              <a:r>
                <a:rPr lang="en-US" sz="1100" dirty="0"/>
                <a:t>CUSTOMERS</a:t>
              </a:r>
            </a:p>
          </p:txBody>
        </p:sp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A6F88148-EB8E-8F98-E347-5CBF51D1048E}"/>
                </a:ext>
              </a:extLst>
            </p:cNvPr>
            <p:cNvSpPr/>
            <p:nvPr/>
          </p:nvSpPr>
          <p:spPr>
            <a:xfrm>
              <a:off x="3056286" y="5367130"/>
              <a:ext cx="1456079" cy="881269"/>
            </a:xfrm>
            <a:prstGeom prst="roundRect">
              <a:avLst>
                <a:gd name="adj" fmla="val 7644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b"/>
            <a:lstStyle/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1000" dirty="0"/>
                <a:t>DIRECT OPS PARTICPATION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1000" dirty="0"/>
                <a:t>REAL-TIME VISIBILITY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1000" dirty="0"/>
                <a:t>LIVE PICKUP REQUESTS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1000" dirty="0"/>
                <a:t>EVENT NOTIFICATIONS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1000" dirty="0"/>
                <a:t>RECEIPTS/MANIFESTS</a:t>
              </a:r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B9587B02-BDAC-4554-B47B-0A5FD1192065}"/>
              </a:ext>
            </a:extLst>
          </p:cNvPr>
          <p:cNvGrpSpPr/>
          <p:nvPr/>
        </p:nvGrpSpPr>
        <p:grpSpPr>
          <a:xfrm>
            <a:off x="2985031" y="9231059"/>
            <a:ext cx="1762935" cy="1318591"/>
            <a:chOff x="403779" y="6995447"/>
            <a:chExt cx="1456080" cy="1318591"/>
          </a:xfrm>
        </p:grpSpPr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42088DF6-9A90-E93F-476A-8D4BE20F897E}"/>
                </a:ext>
              </a:extLst>
            </p:cNvPr>
            <p:cNvSpPr/>
            <p:nvPr/>
          </p:nvSpPr>
          <p:spPr>
            <a:xfrm>
              <a:off x="403780" y="7432769"/>
              <a:ext cx="1456079" cy="881269"/>
            </a:xfrm>
            <a:prstGeom prst="roundRect">
              <a:avLst>
                <a:gd name="adj" fmla="val 7644"/>
              </a:avLst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b"/>
            <a:lstStyle/>
            <a:p>
              <a:pPr algn="ctr"/>
              <a:r>
                <a:rPr lang="en-US" sz="1100" dirty="0"/>
                <a:t>ROUTES</a:t>
              </a:r>
            </a:p>
          </p:txBody>
        </p: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618A13CD-8071-59C6-E3B3-F2CE02265622}"/>
                </a:ext>
              </a:extLst>
            </p:cNvPr>
            <p:cNvSpPr/>
            <p:nvPr/>
          </p:nvSpPr>
          <p:spPr>
            <a:xfrm>
              <a:off x="403779" y="6995447"/>
              <a:ext cx="1456079" cy="881269"/>
            </a:xfrm>
            <a:prstGeom prst="roundRect">
              <a:avLst>
                <a:gd name="adj" fmla="val 7644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b"/>
            <a:lstStyle/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1000" dirty="0"/>
                <a:t>REAL-TIME TRACKING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1000" dirty="0"/>
                <a:t>DYNAMIC &amp; AUTO REROUTING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1000" dirty="0"/>
                <a:t>DRIVE OPTIMIZATION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1000" dirty="0"/>
                <a:t>ETA TIME/MILEAGE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1000" dirty="0"/>
                <a:t>LIABILITY ENFORCED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AA8ED93B-9EBD-54BF-DF60-02FE628804E7}"/>
              </a:ext>
            </a:extLst>
          </p:cNvPr>
          <p:cNvGrpSpPr/>
          <p:nvPr/>
        </p:nvGrpSpPr>
        <p:grpSpPr>
          <a:xfrm>
            <a:off x="6721859" y="7814271"/>
            <a:ext cx="1762935" cy="1318591"/>
            <a:chOff x="3056286" y="5367130"/>
            <a:chExt cx="1456080" cy="1318591"/>
          </a:xfrm>
        </p:grpSpPr>
        <p:sp>
          <p:nvSpPr>
            <p:cNvPr id="44" name="Rectangle: Rounded Corners 43">
              <a:extLst>
                <a:ext uri="{FF2B5EF4-FFF2-40B4-BE49-F238E27FC236}">
                  <a16:creationId xmlns:a16="http://schemas.microsoft.com/office/drawing/2014/main" id="{125DA7C1-97E3-077C-1910-9FEC87AE59FC}"/>
                </a:ext>
              </a:extLst>
            </p:cNvPr>
            <p:cNvSpPr/>
            <p:nvPr/>
          </p:nvSpPr>
          <p:spPr>
            <a:xfrm>
              <a:off x="3056287" y="5804452"/>
              <a:ext cx="1456079" cy="881269"/>
            </a:xfrm>
            <a:prstGeom prst="roundRect">
              <a:avLst>
                <a:gd name="adj" fmla="val 7644"/>
              </a:avLst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b"/>
            <a:lstStyle/>
            <a:p>
              <a:pPr algn="ctr"/>
              <a:r>
                <a:rPr lang="en-US" sz="1100" dirty="0"/>
                <a:t>CONTRACTS</a:t>
              </a:r>
            </a:p>
          </p:txBody>
        </p:sp>
        <p:sp>
          <p:nvSpPr>
            <p:cNvPr id="47" name="Rectangle: Rounded Corners 46">
              <a:extLst>
                <a:ext uri="{FF2B5EF4-FFF2-40B4-BE49-F238E27FC236}">
                  <a16:creationId xmlns:a16="http://schemas.microsoft.com/office/drawing/2014/main" id="{3F9649FB-AF9E-A6B2-5725-08006F8E1F9A}"/>
                </a:ext>
              </a:extLst>
            </p:cNvPr>
            <p:cNvSpPr/>
            <p:nvPr/>
          </p:nvSpPr>
          <p:spPr>
            <a:xfrm>
              <a:off x="3056286" y="5367130"/>
              <a:ext cx="1456079" cy="881269"/>
            </a:xfrm>
            <a:prstGeom prst="roundRect">
              <a:avLst>
                <a:gd name="adj" fmla="val 7644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b"/>
            <a:lstStyle/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1000" dirty="0"/>
                <a:t>BILLING COORDINATION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1000" dirty="0"/>
                <a:t>EVENT -&gt; BILLING RULES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1000" dirty="0"/>
                <a:t>SERVICE COORDINATION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1000" dirty="0"/>
                <a:t>CHANGE MGMT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1000" dirty="0"/>
                <a:t>DOCUMENT MGMT</a:t>
              </a:r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67665178-024D-7753-1056-0018E21A4360}"/>
              </a:ext>
            </a:extLst>
          </p:cNvPr>
          <p:cNvGrpSpPr/>
          <p:nvPr/>
        </p:nvGrpSpPr>
        <p:grpSpPr>
          <a:xfrm>
            <a:off x="8590394" y="7814271"/>
            <a:ext cx="1762935" cy="1318591"/>
            <a:chOff x="6633113" y="5357194"/>
            <a:chExt cx="1456080" cy="1318591"/>
          </a:xfrm>
        </p:grpSpPr>
        <p:sp>
          <p:nvSpPr>
            <p:cNvPr id="50" name="Rectangle: Rounded Corners 49">
              <a:extLst>
                <a:ext uri="{FF2B5EF4-FFF2-40B4-BE49-F238E27FC236}">
                  <a16:creationId xmlns:a16="http://schemas.microsoft.com/office/drawing/2014/main" id="{A9DB9FAF-E062-FCA4-ECD3-1EDE699892ED}"/>
                </a:ext>
              </a:extLst>
            </p:cNvPr>
            <p:cNvSpPr/>
            <p:nvPr/>
          </p:nvSpPr>
          <p:spPr>
            <a:xfrm>
              <a:off x="6633114" y="5794516"/>
              <a:ext cx="1456079" cy="881269"/>
            </a:xfrm>
            <a:prstGeom prst="roundRect">
              <a:avLst>
                <a:gd name="adj" fmla="val 7644"/>
              </a:avLst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b"/>
            <a:lstStyle/>
            <a:p>
              <a:pPr algn="ctr"/>
              <a:r>
                <a:rPr lang="en-US" sz="1100" dirty="0"/>
                <a:t>LOCATIONS</a:t>
              </a:r>
            </a:p>
          </p:txBody>
        </p:sp>
        <p:sp>
          <p:nvSpPr>
            <p:cNvPr id="52" name="Rectangle: Rounded Corners 51">
              <a:extLst>
                <a:ext uri="{FF2B5EF4-FFF2-40B4-BE49-F238E27FC236}">
                  <a16:creationId xmlns:a16="http://schemas.microsoft.com/office/drawing/2014/main" id="{4BE6C455-B3BB-3830-4DD2-D9BDE9B715D4}"/>
                </a:ext>
              </a:extLst>
            </p:cNvPr>
            <p:cNvSpPr/>
            <p:nvPr/>
          </p:nvSpPr>
          <p:spPr>
            <a:xfrm>
              <a:off x="6633113" y="5357194"/>
              <a:ext cx="1456079" cy="881269"/>
            </a:xfrm>
            <a:prstGeom prst="roundRect">
              <a:avLst>
                <a:gd name="adj" fmla="val 7644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b"/>
            <a:lstStyle/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1000" dirty="0"/>
                <a:t>DYNAMICALLY ROUTABLE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1000" dirty="0"/>
                <a:t>RECURRING SCHEDULES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1000" dirty="0"/>
                <a:t>SHIP TYPE ROUTING MGMT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1000" dirty="0"/>
                <a:t>EMPTY/FILL FORECASTING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1000" dirty="0"/>
                <a:t>KABA/S&amp;G INTEGRATED</a:t>
              </a:r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E4454285-340F-7A38-6527-B615E41BF55F}"/>
              </a:ext>
            </a:extLst>
          </p:cNvPr>
          <p:cNvGrpSpPr/>
          <p:nvPr/>
        </p:nvGrpSpPr>
        <p:grpSpPr>
          <a:xfrm>
            <a:off x="1116738" y="9231059"/>
            <a:ext cx="1762935" cy="1325215"/>
            <a:chOff x="8190445" y="5347257"/>
            <a:chExt cx="1456080" cy="1325215"/>
          </a:xfrm>
        </p:grpSpPr>
        <p:sp>
          <p:nvSpPr>
            <p:cNvPr id="53" name="Rectangle: Rounded Corners 52">
              <a:extLst>
                <a:ext uri="{FF2B5EF4-FFF2-40B4-BE49-F238E27FC236}">
                  <a16:creationId xmlns:a16="http://schemas.microsoft.com/office/drawing/2014/main" id="{5B90BC62-CB26-F240-2E8A-326EDB9FF4CA}"/>
                </a:ext>
              </a:extLst>
            </p:cNvPr>
            <p:cNvSpPr/>
            <p:nvPr/>
          </p:nvSpPr>
          <p:spPr>
            <a:xfrm>
              <a:off x="8190446" y="5791203"/>
              <a:ext cx="1456079" cy="881269"/>
            </a:xfrm>
            <a:prstGeom prst="roundRect">
              <a:avLst>
                <a:gd name="adj" fmla="val 7644"/>
              </a:avLst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b"/>
            <a:lstStyle/>
            <a:p>
              <a:pPr algn="ctr"/>
              <a:r>
                <a:rPr lang="en-US" sz="1100" dirty="0"/>
                <a:t>SHIPMENTS</a:t>
              </a:r>
            </a:p>
          </p:txBody>
        </p:sp>
        <p:sp>
          <p:nvSpPr>
            <p:cNvPr id="54" name="Rectangle: Rounded Corners 53">
              <a:extLst>
                <a:ext uri="{FF2B5EF4-FFF2-40B4-BE49-F238E27FC236}">
                  <a16:creationId xmlns:a16="http://schemas.microsoft.com/office/drawing/2014/main" id="{0C49DE45-27DA-5BE4-A402-3AFFAE67CE36}"/>
                </a:ext>
              </a:extLst>
            </p:cNvPr>
            <p:cNvSpPr/>
            <p:nvPr/>
          </p:nvSpPr>
          <p:spPr>
            <a:xfrm>
              <a:off x="8190445" y="5347257"/>
              <a:ext cx="1456079" cy="887894"/>
            </a:xfrm>
            <a:prstGeom prst="roundRect">
              <a:avLst>
                <a:gd name="adj" fmla="val 7644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b"/>
            <a:lstStyle/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1000" dirty="0"/>
                <a:t>FORECAST CREATABLE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1000" dirty="0"/>
                <a:t>AUTO-CREATE SCHEDULES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1000" dirty="0"/>
                <a:t>RECEIPT/POD CAPTURE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1000" dirty="0"/>
                <a:t>ON-ROUTE DELIVERABLE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1000" dirty="0"/>
                <a:t>DELIVERY CUTOFFS</a:t>
              </a:r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C464F40F-6685-751C-F3E4-9FA266C04603}"/>
              </a:ext>
            </a:extLst>
          </p:cNvPr>
          <p:cNvGrpSpPr/>
          <p:nvPr/>
        </p:nvGrpSpPr>
        <p:grpSpPr>
          <a:xfrm>
            <a:off x="4853323" y="9231059"/>
            <a:ext cx="1762935" cy="1318591"/>
            <a:chOff x="9747776" y="5350568"/>
            <a:chExt cx="1456080" cy="1318591"/>
          </a:xfrm>
        </p:grpSpPr>
        <p:sp>
          <p:nvSpPr>
            <p:cNvPr id="55" name="Rectangle: Rounded Corners 54">
              <a:extLst>
                <a:ext uri="{FF2B5EF4-FFF2-40B4-BE49-F238E27FC236}">
                  <a16:creationId xmlns:a16="http://schemas.microsoft.com/office/drawing/2014/main" id="{9467ED08-1F1C-08F0-DD04-5EAFDE7E4380}"/>
                </a:ext>
              </a:extLst>
            </p:cNvPr>
            <p:cNvSpPr/>
            <p:nvPr/>
          </p:nvSpPr>
          <p:spPr>
            <a:xfrm>
              <a:off x="9747777" y="5787890"/>
              <a:ext cx="1456079" cy="881269"/>
            </a:xfrm>
            <a:prstGeom prst="roundRect">
              <a:avLst>
                <a:gd name="adj" fmla="val 7644"/>
              </a:avLst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b"/>
            <a:lstStyle/>
            <a:p>
              <a:pPr algn="ctr"/>
              <a:r>
                <a:rPr lang="en-US" sz="1100" dirty="0"/>
                <a:t>STOPS</a:t>
              </a:r>
            </a:p>
          </p:txBody>
        </p:sp>
        <p:sp>
          <p:nvSpPr>
            <p:cNvPr id="56" name="Rectangle: Rounded Corners 55">
              <a:extLst>
                <a:ext uri="{FF2B5EF4-FFF2-40B4-BE49-F238E27FC236}">
                  <a16:creationId xmlns:a16="http://schemas.microsoft.com/office/drawing/2014/main" id="{492EEEC2-89AD-4726-F3D5-F7CFF0220E39}"/>
                </a:ext>
              </a:extLst>
            </p:cNvPr>
            <p:cNvSpPr/>
            <p:nvPr/>
          </p:nvSpPr>
          <p:spPr>
            <a:xfrm>
              <a:off x="9747776" y="5350568"/>
              <a:ext cx="1456079" cy="881269"/>
            </a:xfrm>
            <a:prstGeom prst="roundRect">
              <a:avLst>
                <a:gd name="adj" fmla="val 7644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b"/>
            <a:lstStyle/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1000" dirty="0"/>
                <a:t>SEQUENCED VS. ACTUAL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1000" dirty="0"/>
                <a:t>LIVE ROUTE TRANSFER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1000" dirty="0"/>
                <a:t>PER STOP OPTIMIZATION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1000" dirty="0"/>
                <a:t>ETA MANAGEMENT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1000" dirty="0"/>
                <a:t>TRUCK TRANSFERS</a:t>
              </a:r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C725F1FA-375B-107A-4855-E09BD865E5C2}"/>
              </a:ext>
            </a:extLst>
          </p:cNvPr>
          <p:cNvGrpSpPr/>
          <p:nvPr/>
        </p:nvGrpSpPr>
        <p:grpSpPr>
          <a:xfrm>
            <a:off x="8587666" y="9231059"/>
            <a:ext cx="1762935" cy="1318591"/>
            <a:chOff x="1961113" y="6995447"/>
            <a:chExt cx="1456080" cy="1318591"/>
          </a:xfrm>
        </p:grpSpPr>
        <p:sp>
          <p:nvSpPr>
            <p:cNvPr id="57" name="Rectangle: Rounded Corners 56">
              <a:extLst>
                <a:ext uri="{FF2B5EF4-FFF2-40B4-BE49-F238E27FC236}">
                  <a16:creationId xmlns:a16="http://schemas.microsoft.com/office/drawing/2014/main" id="{AE81BDC1-B4A0-CAFA-1573-D994F71ABDFF}"/>
                </a:ext>
              </a:extLst>
            </p:cNvPr>
            <p:cNvSpPr/>
            <p:nvPr/>
          </p:nvSpPr>
          <p:spPr>
            <a:xfrm>
              <a:off x="1961114" y="7432769"/>
              <a:ext cx="1456079" cy="881269"/>
            </a:xfrm>
            <a:prstGeom prst="roundRect">
              <a:avLst>
                <a:gd name="adj" fmla="val 7644"/>
              </a:avLst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b"/>
            <a:lstStyle/>
            <a:p>
              <a:pPr algn="ctr"/>
              <a:r>
                <a:rPr lang="en-US" sz="1100" dirty="0"/>
                <a:t>TRUCKS</a:t>
              </a:r>
            </a:p>
          </p:txBody>
        </p:sp>
        <p:sp>
          <p:nvSpPr>
            <p:cNvPr id="58" name="Rectangle: Rounded Corners 57">
              <a:extLst>
                <a:ext uri="{FF2B5EF4-FFF2-40B4-BE49-F238E27FC236}">
                  <a16:creationId xmlns:a16="http://schemas.microsoft.com/office/drawing/2014/main" id="{DD469B1A-C24E-F9BB-66E2-6FCBC6545AD7}"/>
                </a:ext>
              </a:extLst>
            </p:cNvPr>
            <p:cNvSpPr/>
            <p:nvPr/>
          </p:nvSpPr>
          <p:spPr>
            <a:xfrm>
              <a:off x="1961113" y="6995447"/>
              <a:ext cx="1456079" cy="881269"/>
            </a:xfrm>
            <a:prstGeom prst="roundRect">
              <a:avLst>
                <a:gd name="adj" fmla="val 7644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b"/>
            <a:lstStyle/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1000" dirty="0"/>
                <a:t>LIABILITY ENFORCEMENT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1000" dirty="0"/>
                <a:t>FIXED ROUTE ASSIGNMENT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1000" dirty="0"/>
                <a:t>CAGE/SAFE INTEGRATION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1000" dirty="0"/>
                <a:t>TRUCK PRE-TRIP CHECKS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1000" dirty="0"/>
                <a:t>GEO-FENCED ACCESS</a:t>
              </a:r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8FEA6AED-95C6-C75C-539A-3D611E4FD1A8}"/>
              </a:ext>
            </a:extLst>
          </p:cNvPr>
          <p:cNvGrpSpPr/>
          <p:nvPr/>
        </p:nvGrpSpPr>
        <p:grpSpPr>
          <a:xfrm>
            <a:off x="6719130" y="9231059"/>
            <a:ext cx="1762935" cy="1318591"/>
            <a:chOff x="3518448" y="6992134"/>
            <a:chExt cx="1456080" cy="1318591"/>
          </a:xfrm>
        </p:grpSpPr>
        <p:sp>
          <p:nvSpPr>
            <p:cNvPr id="59" name="Rectangle: Rounded Corners 58">
              <a:extLst>
                <a:ext uri="{FF2B5EF4-FFF2-40B4-BE49-F238E27FC236}">
                  <a16:creationId xmlns:a16="http://schemas.microsoft.com/office/drawing/2014/main" id="{25296925-23BB-D34E-3C35-988AB7312261}"/>
                </a:ext>
              </a:extLst>
            </p:cNvPr>
            <p:cNvSpPr/>
            <p:nvPr/>
          </p:nvSpPr>
          <p:spPr>
            <a:xfrm>
              <a:off x="3518449" y="7429456"/>
              <a:ext cx="1456079" cy="881269"/>
            </a:xfrm>
            <a:prstGeom prst="roundRect">
              <a:avLst>
                <a:gd name="adj" fmla="val 7644"/>
              </a:avLst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b"/>
            <a:lstStyle/>
            <a:p>
              <a:pPr algn="ctr"/>
              <a:r>
                <a:rPr lang="en-US" sz="1100" dirty="0"/>
                <a:t>FIELD USERS</a:t>
              </a:r>
            </a:p>
          </p:txBody>
        </p:sp>
        <p:sp>
          <p:nvSpPr>
            <p:cNvPr id="60" name="Rectangle: Rounded Corners 59">
              <a:extLst>
                <a:ext uri="{FF2B5EF4-FFF2-40B4-BE49-F238E27FC236}">
                  <a16:creationId xmlns:a16="http://schemas.microsoft.com/office/drawing/2014/main" id="{FDC094EE-826D-2756-2CC3-BDCF5F8CD4BE}"/>
                </a:ext>
              </a:extLst>
            </p:cNvPr>
            <p:cNvSpPr/>
            <p:nvPr/>
          </p:nvSpPr>
          <p:spPr>
            <a:xfrm>
              <a:off x="3518448" y="6992134"/>
              <a:ext cx="1456079" cy="881269"/>
            </a:xfrm>
            <a:prstGeom prst="roundRect">
              <a:avLst>
                <a:gd name="adj" fmla="val 7644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b"/>
            <a:lstStyle/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1000" dirty="0"/>
                <a:t>WORKFLOW-CONTROLLED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1000" dirty="0"/>
                <a:t>STOP/STEP ENFORCED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1000" dirty="0"/>
                <a:t>REAL-TIME WORK UPDATES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1000" dirty="0"/>
                <a:t>JUST-IN-TIME OPEN CODES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1000" dirty="0"/>
                <a:t>PERIPHERALS (PRINT/SCAN)</a:t>
              </a:r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0C248246-2DDA-F09C-184F-89B73B111892}"/>
              </a:ext>
            </a:extLst>
          </p:cNvPr>
          <p:cNvGrpSpPr/>
          <p:nvPr/>
        </p:nvGrpSpPr>
        <p:grpSpPr>
          <a:xfrm>
            <a:off x="1114008" y="10665176"/>
            <a:ext cx="1762935" cy="1318591"/>
            <a:chOff x="5075781" y="6988821"/>
            <a:chExt cx="1456080" cy="1318591"/>
          </a:xfrm>
        </p:grpSpPr>
        <p:sp>
          <p:nvSpPr>
            <p:cNvPr id="61" name="Rectangle: Rounded Corners 60">
              <a:extLst>
                <a:ext uri="{FF2B5EF4-FFF2-40B4-BE49-F238E27FC236}">
                  <a16:creationId xmlns:a16="http://schemas.microsoft.com/office/drawing/2014/main" id="{E2D863C8-7288-4194-D63C-6BB67577C072}"/>
                </a:ext>
              </a:extLst>
            </p:cNvPr>
            <p:cNvSpPr/>
            <p:nvPr/>
          </p:nvSpPr>
          <p:spPr>
            <a:xfrm>
              <a:off x="5075782" y="7426143"/>
              <a:ext cx="1456079" cy="881269"/>
            </a:xfrm>
            <a:prstGeom prst="roundRect">
              <a:avLst>
                <a:gd name="adj" fmla="val 7644"/>
              </a:avLst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b"/>
            <a:lstStyle/>
            <a:p>
              <a:pPr algn="ctr"/>
              <a:r>
                <a:rPr lang="en-US" sz="1100" dirty="0"/>
                <a:t>CIT/FI</a:t>
              </a:r>
            </a:p>
          </p:txBody>
        </p:sp>
        <p:sp>
          <p:nvSpPr>
            <p:cNvPr id="62" name="Rectangle: Rounded Corners 61">
              <a:extLst>
                <a:ext uri="{FF2B5EF4-FFF2-40B4-BE49-F238E27FC236}">
                  <a16:creationId xmlns:a16="http://schemas.microsoft.com/office/drawing/2014/main" id="{BBAA14E4-7E30-F2D5-B471-68A8D3CC7789}"/>
                </a:ext>
              </a:extLst>
            </p:cNvPr>
            <p:cNvSpPr/>
            <p:nvPr/>
          </p:nvSpPr>
          <p:spPr>
            <a:xfrm>
              <a:off x="5075781" y="6988821"/>
              <a:ext cx="1456079" cy="881269"/>
            </a:xfrm>
            <a:prstGeom prst="roundRect">
              <a:avLst>
                <a:gd name="adj" fmla="val 7644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b"/>
            <a:lstStyle/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1000" dirty="0"/>
                <a:t>SERVICE MONITORING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1000" dirty="0"/>
                <a:t>SAME-DAY DELIVERIES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1000" dirty="0"/>
                <a:t>BATCH PROCESSING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1000" dirty="0"/>
                <a:t>COIN + COIN MANAGEMENT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1000" dirty="0"/>
                <a:t>DELIVERY/COUNT CONTROLS</a:t>
              </a:r>
            </a:p>
          </p:txBody>
        </p: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7E2FEA82-D041-7E4F-999E-DA1F32F051CA}"/>
              </a:ext>
            </a:extLst>
          </p:cNvPr>
          <p:cNvGrpSpPr/>
          <p:nvPr/>
        </p:nvGrpSpPr>
        <p:grpSpPr>
          <a:xfrm>
            <a:off x="2982543" y="10665176"/>
            <a:ext cx="1762935" cy="1318591"/>
            <a:chOff x="6633113" y="6985508"/>
            <a:chExt cx="1456080" cy="1318591"/>
          </a:xfrm>
        </p:grpSpPr>
        <p:sp>
          <p:nvSpPr>
            <p:cNvPr id="63" name="Rectangle: Rounded Corners 62">
              <a:extLst>
                <a:ext uri="{FF2B5EF4-FFF2-40B4-BE49-F238E27FC236}">
                  <a16:creationId xmlns:a16="http://schemas.microsoft.com/office/drawing/2014/main" id="{E0AB23DF-4A1A-BF1C-ADBE-70E1039EC8BE}"/>
                </a:ext>
              </a:extLst>
            </p:cNvPr>
            <p:cNvSpPr/>
            <p:nvPr/>
          </p:nvSpPr>
          <p:spPr>
            <a:xfrm>
              <a:off x="6633114" y="7422830"/>
              <a:ext cx="1456079" cy="881269"/>
            </a:xfrm>
            <a:prstGeom prst="roundRect">
              <a:avLst>
                <a:gd name="adj" fmla="val 7644"/>
              </a:avLst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b"/>
            <a:lstStyle/>
            <a:p>
              <a:pPr algn="ctr"/>
              <a:r>
                <a:rPr lang="en-US" sz="1100" dirty="0"/>
                <a:t>RETAIL/FI ATM</a:t>
              </a:r>
            </a:p>
          </p:txBody>
        </p:sp>
        <p:sp>
          <p:nvSpPr>
            <p:cNvPr id="64" name="Rectangle: Rounded Corners 63">
              <a:extLst>
                <a:ext uri="{FF2B5EF4-FFF2-40B4-BE49-F238E27FC236}">
                  <a16:creationId xmlns:a16="http://schemas.microsoft.com/office/drawing/2014/main" id="{BFC2F3EC-7A07-CEB1-A468-E718B49E3562}"/>
                </a:ext>
              </a:extLst>
            </p:cNvPr>
            <p:cNvSpPr/>
            <p:nvPr/>
          </p:nvSpPr>
          <p:spPr>
            <a:xfrm>
              <a:off x="6633113" y="6985508"/>
              <a:ext cx="1456079" cy="881269"/>
            </a:xfrm>
            <a:prstGeom prst="roundRect">
              <a:avLst>
                <a:gd name="adj" fmla="val 7644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b"/>
            <a:lstStyle/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1000" dirty="0"/>
                <a:t>ORDER TYPE WORKFLOWS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1000" dirty="0"/>
                <a:t>SAME-DAY DECASH/RECASH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1000" dirty="0"/>
                <a:t>AUTOMATED LOCK DISPATCH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1000" dirty="0"/>
                <a:t>REQUIRED DEPOSITS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1000" dirty="0"/>
                <a:t>SERVICE CHECKLISTS</a:t>
              </a:r>
            </a:p>
          </p:txBody>
        </p: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AA82F3CE-5D90-9EDE-622C-CD03EDAC7E09}"/>
              </a:ext>
            </a:extLst>
          </p:cNvPr>
          <p:cNvGrpSpPr/>
          <p:nvPr/>
        </p:nvGrpSpPr>
        <p:grpSpPr>
          <a:xfrm>
            <a:off x="4851078" y="10665176"/>
            <a:ext cx="1762935" cy="1318591"/>
            <a:chOff x="8190444" y="6982195"/>
            <a:chExt cx="1456080" cy="1318591"/>
          </a:xfrm>
        </p:grpSpPr>
        <p:sp>
          <p:nvSpPr>
            <p:cNvPr id="65" name="Rectangle: Rounded Corners 64">
              <a:extLst>
                <a:ext uri="{FF2B5EF4-FFF2-40B4-BE49-F238E27FC236}">
                  <a16:creationId xmlns:a16="http://schemas.microsoft.com/office/drawing/2014/main" id="{D530595E-4446-0476-E512-CFBD73EAD7EF}"/>
                </a:ext>
              </a:extLst>
            </p:cNvPr>
            <p:cNvSpPr/>
            <p:nvPr/>
          </p:nvSpPr>
          <p:spPr>
            <a:xfrm>
              <a:off x="8190445" y="7419517"/>
              <a:ext cx="1456079" cy="881269"/>
            </a:xfrm>
            <a:prstGeom prst="roundRect">
              <a:avLst>
                <a:gd name="adj" fmla="val 7644"/>
              </a:avLst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b"/>
            <a:lstStyle/>
            <a:p>
              <a:pPr algn="ctr"/>
              <a:r>
                <a:rPr lang="en-US" sz="1100" dirty="0"/>
                <a:t>FLM/SLM</a:t>
              </a:r>
            </a:p>
          </p:txBody>
        </p:sp>
        <p:sp>
          <p:nvSpPr>
            <p:cNvPr id="66" name="Rectangle: Rounded Corners 65">
              <a:extLst>
                <a:ext uri="{FF2B5EF4-FFF2-40B4-BE49-F238E27FC236}">
                  <a16:creationId xmlns:a16="http://schemas.microsoft.com/office/drawing/2014/main" id="{5D4F40A0-3FB4-C37F-9409-0406CBD9C0EE}"/>
                </a:ext>
              </a:extLst>
            </p:cNvPr>
            <p:cNvSpPr/>
            <p:nvPr/>
          </p:nvSpPr>
          <p:spPr>
            <a:xfrm>
              <a:off x="8190444" y="6982195"/>
              <a:ext cx="1456079" cy="881269"/>
            </a:xfrm>
            <a:prstGeom prst="roundRect">
              <a:avLst>
                <a:gd name="adj" fmla="val 7644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b"/>
            <a:lstStyle/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1000" dirty="0"/>
                <a:t>CUSTOMIZABLE MODEL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1000" dirty="0"/>
                <a:t>AUTO-TICKET ASSIGNMENT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1000" dirty="0"/>
                <a:t>EXTERNAL COORDINATION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1000" dirty="0"/>
                <a:t>CUSTOMER PORTAL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1000" dirty="0"/>
                <a:t>ON-ROUTE ASSIGNMENTS</a:t>
              </a:r>
            </a:p>
          </p:txBody>
        </p: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B22DCCED-8359-B635-8675-0365BAD1CA40}"/>
              </a:ext>
            </a:extLst>
          </p:cNvPr>
          <p:cNvGrpSpPr/>
          <p:nvPr/>
        </p:nvGrpSpPr>
        <p:grpSpPr>
          <a:xfrm>
            <a:off x="8587665" y="10665176"/>
            <a:ext cx="1762935" cy="1318591"/>
            <a:chOff x="9747776" y="6978882"/>
            <a:chExt cx="1456080" cy="1318591"/>
          </a:xfrm>
        </p:grpSpPr>
        <p:sp>
          <p:nvSpPr>
            <p:cNvPr id="67" name="Rectangle: Rounded Corners 66">
              <a:extLst>
                <a:ext uri="{FF2B5EF4-FFF2-40B4-BE49-F238E27FC236}">
                  <a16:creationId xmlns:a16="http://schemas.microsoft.com/office/drawing/2014/main" id="{8D01947D-8E4A-38C5-142B-D738BAAA3263}"/>
                </a:ext>
              </a:extLst>
            </p:cNvPr>
            <p:cNvSpPr/>
            <p:nvPr/>
          </p:nvSpPr>
          <p:spPr>
            <a:xfrm>
              <a:off x="9747777" y="7416204"/>
              <a:ext cx="1456079" cy="881269"/>
            </a:xfrm>
            <a:prstGeom prst="roundRect">
              <a:avLst>
                <a:gd name="adj" fmla="val 7644"/>
              </a:avLst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b"/>
            <a:lstStyle/>
            <a:p>
              <a:pPr algn="ctr"/>
              <a:r>
                <a:rPr lang="en-US" sz="1100" dirty="0"/>
                <a:t>ANALYTICS</a:t>
              </a:r>
            </a:p>
          </p:txBody>
        </p:sp>
        <p:sp>
          <p:nvSpPr>
            <p:cNvPr id="68" name="Rectangle: Rounded Corners 67">
              <a:extLst>
                <a:ext uri="{FF2B5EF4-FFF2-40B4-BE49-F238E27FC236}">
                  <a16:creationId xmlns:a16="http://schemas.microsoft.com/office/drawing/2014/main" id="{ABDA5B54-BE55-D7B3-BF2B-829B6E2A94AC}"/>
                </a:ext>
              </a:extLst>
            </p:cNvPr>
            <p:cNvSpPr/>
            <p:nvPr/>
          </p:nvSpPr>
          <p:spPr>
            <a:xfrm>
              <a:off x="9747776" y="6978882"/>
              <a:ext cx="1456079" cy="881269"/>
            </a:xfrm>
            <a:prstGeom prst="roundRect">
              <a:avLst>
                <a:gd name="adj" fmla="val 7644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b"/>
            <a:lstStyle/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1000" dirty="0"/>
                <a:t>TOP PERFORMERS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1000" dirty="0"/>
                <a:t>ROUTE/STOP TIMING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1000" dirty="0"/>
                <a:t> UTILIZATION TRENDING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1000" dirty="0"/>
                <a:t>SERVICE REPONSIVENESS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1000" dirty="0"/>
                <a:t>FIELD/VAULT COMPLIANCE</a:t>
              </a:r>
            </a:p>
          </p:txBody>
        </p: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D5ADBEC8-2A24-ADEC-8083-511EA699813F}"/>
              </a:ext>
            </a:extLst>
          </p:cNvPr>
          <p:cNvGrpSpPr/>
          <p:nvPr/>
        </p:nvGrpSpPr>
        <p:grpSpPr>
          <a:xfrm>
            <a:off x="1105641" y="13812485"/>
            <a:ext cx="1762935" cy="1318591"/>
            <a:chOff x="11305107" y="6992134"/>
            <a:chExt cx="1456080" cy="1318591"/>
          </a:xfrm>
        </p:grpSpPr>
        <p:sp>
          <p:nvSpPr>
            <p:cNvPr id="69" name="Rectangle: Rounded Corners 68">
              <a:extLst>
                <a:ext uri="{FF2B5EF4-FFF2-40B4-BE49-F238E27FC236}">
                  <a16:creationId xmlns:a16="http://schemas.microsoft.com/office/drawing/2014/main" id="{4E873963-4270-7B32-CB74-D4C4D53F87AA}"/>
                </a:ext>
              </a:extLst>
            </p:cNvPr>
            <p:cNvSpPr/>
            <p:nvPr/>
          </p:nvSpPr>
          <p:spPr>
            <a:xfrm>
              <a:off x="11305108" y="7429456"/>
              <a:ext cx="1456079" cy="881269"/>
            </a:xfrm>
            <a:prstGeom prst="roundRect">
              <a:avLst>
                <a:gd name="adj" fmla="val 7644"/>
              </a:avLst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b"/>
            <a:lstStyle/>
            <a:p>
              <a:pPr algn="ctr"/>
              <a:r>
                <a:rPr lang="en-US" sz="1100" dirty="0"/>
                <a:t>INTEGRATIONS</a:t>
              </a:r>
            </a:p>
          </p:txBody>
        </p:sp>
        <p:sp>
          <p:nvSpPr>
            <p:cNvPr id="70" name="Rectangle: Rounded Corners 69">
              <a:extLst>
                <a:ext uri="{FF2B5EF4-FFF2-40B4-BE49-F238E27FC236}">
                  <a16:creationId xmlns:a16="http://schemas.microsoft.com/office/drawing/2014/main" id="{7D9E7108-B936-35B2-FDBD-A13DB6E046C8}"/>
                </a:ext>
              </a:extLst>
            </p:cNvPr>
            <p:cNvSpPr/>
            <p:nvPr/>
          </p:nvSpPr>
          <p:spPr>
            <a:xfrm>
              <a:off x="11305107" y="6992134"/>
              <a:ext cx="1456079" cy="881269"/>
            </a:xfrm>
            <a:prstGeom prst="roundRect">
              <a:avLst>
                <a:gd name="adj" fmla="val 7644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b"/>
            <a:lstStyle/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1000" dirty="0"/>
                <a:t>CURRENCY PLATFORMS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1000" dirty="0"/>
                <a:t>BLUETOOTH DEVICES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1000" dirty="0"/>
                <a:t>CASH SORTERS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1000" dirty="0"/>
                <a:t>BANK/FI PLATFORMS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1000" dirty="0"/>
                <a:t>ENTERPRISE SYSTEMS</a:t>
              </a:r>
            </a:p>
          </p:txBody>
        </p: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C3289C30-2435-9755-650E-4E45AE16F494}"/>
              </a:ext>
            </a:extLst>
          </p:cNvPr>
          <p:cNvGrpSpPr/>
          <p:nvPr/>
        </p:nvGrpSpPr>
        <p:grpSpPr>
          <a:xfrm>
            <a:off x="6719372" y="10665176"/>
            <a:ext cx="1762935" cy="1318591"/>
            <a:chOff x="8190444" y="6982195"/>
            <a:chExt cx="1456080" cy="1318591"/>
          </a:xfrm>
        </p:grpSpPr>
        <p:sp>
          <p:nvSpPr>
            <p:cNvPr id="83" name="Rectangle: Rounded Corners 82">
              <a:extLst>
                <a:ext uri="{FF2B5EF4-FFF2-40B4-BE49-F238E27FC236}">
                  <a16:creationId xmlns:a16="http://schemas.microsoft.com/office/drawing/2014/main" id="{46CD1B2E-BCED-54BA-4EE7-0C4C4F94EE3E}"/>
                </a:ext>
              </a:extLst>
            </p:cNvPr>
            <p:cNvSpPr/>
            <p:nvPr/>
          </p:nvSpPr>
          <p:spPr>
            <a:xfrm>
              <a:off x="8190445" y="7419517"/>
              <a:ext cx="1456079" cy="881269"/>
            </a:xfrm>
            <a:prstGeom prst="roundRect">
              <a:avLst>
                <a:gd name="adj" fmla="val 7644"/>
              </a:avLst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b"/>
            <a:lstStyle/>
            <a:p>
              <a:pPr algn="ctr"/>
              <a:r>
                <a:rPr lang="en-US" sz="1100" dirty="0"/>
                <a:t>BILLING</a:t>
              </a:r>
            </a:p>
          </p:txBody>
        </p:sp>
        <p:sp>
          <p:nvSpPr>
            <p:cNvPr id="84" name="Rectangle: Rounded Corners 83">
              <a:extLst>
                <a:ext uri="{FF2B5EF4-FFF2-40B4-BE49-F238E27FC236}">
                  <a16:creationId xmlns:a16="http://schemas.microsoft.com/office/drawing/2014/main" id="{2E20F40C-296B-0772-C6F3-B18DA559F493}"/>
                </a:ext>
              </a:extLst>
            </p:cNvPr>
            <p:cNvSpPr/>
            <p:nvPr/>
          </p:nvSpPr>
          <p:spPr>
            <a:xfrm>
              <a:off x="8190444" y="6982195"/>
              <a:ext cx="1456079" cy="881269"/>
            </a:xfrm>
            <a:prstGeom prst="roundRect">
              <a:avLst>
                <a:gd name="adj" fmla="val 7644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b"/>
            <a:lstStyle/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1000" dirty="0"/>
                <a:t>REAL-TIME EVENT BILLING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1000" dirty="0"/>
                <a:t>ALL SERVICES APPLICABLE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1000" dirty="0"/>
                <a:t>MISSED BILLABLE EVENTS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1000" dirty="0"/>
                <a:t>CUSTOMER ACCESSIBLE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1000" dirty="0"/>
                <a:t>SYSTEM EXPORTABLE</a:t>
              </a:r>
            </a:p>
          </p:txBody>
        </p:sp>
      </p:grp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091F0C9-FFB4-31F5-E61D-0DFB6629B81F}"/>
              </a:ext>
            </a:extLst>
          </p:cNvPr>
          <p:cNvSpPr/>
          <p:nvPr/>
        </p:nvSpPr>
        <p:spPr>
          <a:xfrm>
            <a:off x="1697610" y="3126009"/>
            <a:ext cx="2147560" cy="3876681"/>
          </a:xfrm>
          <a:prstGeom prst="roundRect">
            <a:avLst>
              <a:gd name="adj" fmla="val 305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2A34DC3-137E-3584-6AF5-CFD16FEDC4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99666" y="3268420"/>
            <a:ext cx="1762934" cy="356148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B2E2F0A-C3B5-2A5D-8C35-62BA38576D9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3574" y="10198003"/>
            <a:ext cx="302084" cy="302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77083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F93812-85E7-9169-457F-AA43E1630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>
            <a:extLst>
              <a:ext uri="{FF2B5EF4-FFF2-40B4-BE49-F238E27FC236}">
                <a16:creationId xmlns:a16="http://schemas.microsoft.com/office/drawing/2014/main" id="{5992F0CC-2833-1571-E749-F5360975FBF5}"/>
              </a:ext>
            </a:extLst>
          </p:cNvPr>
          <p:cNvSpPr txBox="1"/>
          <p:nvPr/>
        </p:nvSpPr>
        <p:spPr>
          <a:xfrm>
            <a:off x="364659" y="1125595"/>
            <a:ext cx="44932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ONE PLATFORM | INFINITE EXPANSION</a:t>
            </a: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CE519163-11D7-2C0F-6925-952EA8A1D2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89" y="274804"/>
            <a:ext cx="5359288" cy="847478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13047274-5CE2-398F-E9C7-2C3456994996}"/>
              </a:ext>
            </a:extLst>
          </p:cNvPr>
          <p:cNvSpPr txBox="1"/>
          <p:nvPr/>
        </p:nvSpPr>
        <p:spPr>
          <a:xfrm>
            <a:off x="6429329" y="1794147"/>
            <a:ext cx="5476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Evolve Your CIT/ATM/FLM Business Anyway </a:t>
            </a:r>
            <a:r>
              <a:rPr lang="en-US" u="sng" dirty="0"/>
              <a:t>YOU</a:t>
            </a:r>
            <a:r>
              <a:rPr lang="en-US" dirty="0"/>
              <a:t> Want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6D974B1-40B0-CAC5-AFEE-A51BF758337D}"/>
              </a:ext>
            </a:extLst>
          </p:cNvPr>
          <p:cNvGrpSpPr/>
          <p:nvPr/>
        </p:nvGrpSpPr>
        <p:grpSpPr>
          <a:xfrm>
            <a:off x="-830442" y="2692364"/>
            <a:ext cx="1762935" cy="1325215"/>
            <a:chOff x="403779" y="5357194"/>
            <a:chExt cx="1456080" cy="1325215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B3B2D2E2-D56C-9173-935B-55C3AC508C90}"/>
                </a:ext>
              </a:extLst>
            </p:cNvPr>
            <p:cNvSpPr/>
            <p:nvPr/>
          </p:nvSpPr>
          <p:spPr>
            <a:xfrm>
              <a:off x="403780" y="5801140"/>
              <a:ext cx="1456079" cy="881269"/>
            </a:xfrm>
            <a:prstGeom prst="roundRect">
              <a:avLst>
                <a:gd name="adj" fmla="val 7644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b"/>
            <a:lstStyle/>
            <a:p>
              <a:pPr algn="ctr"/>
              <a:r>
                <a:rPr lang="en-US" sz="1100" dirty="0"/>
                <a:t>BRANCHES</a:t>
              </a:r>
            </a:p>
          </p:txBody>
        </p:sp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6F39B003-330E-9D67-F57D-DB5FEE1A4373}"/>
                </a:ext>
              </a:extLst>
            </p:cNvPr>
            <p:cNvSpPr/>
            <p:nvPr/>
          </p:nvSpPr>
          <p:spPr>
            <a:xfrm>
              <a:off x="403779" y="5357194"/>
              <a:ext cx="1456079" cy="887894"/>
            </a:xfrm>
            <a:prstGeom prst="roundRect">
              <a:avLst>
                <a:gd name="adj" fmla="val 7644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b"/>
            <a:lstStyle/>
            <a:p>
              <a:pPr algn="ctr"/>
              <a:r>
                <a:rPr lang="en-US" sz="1000" dirty="0"/>
                <a:t>CENTRALIZED MGMT</a:t>
              </a:r>
            </a:p>
            <a:p>
              <a:pPr algn="ctr"/>
              <a:r>
                <a:rPr lang="en-US" sz="1000" dirty="0"/>
                <a:t>ACTION PERMISSIONS</a:t>
              </a:r>
            </a:p>
            <a:p>
              <a:pPr algn="ctr"/>
              <a:r>
                <a:rPr lang="en-US" sz="1000" dirty="0"/>
                <a:t>OPERATION DESIGN</a:t>
              </a:r>
            </a:p>
            <a:p>
              <a:pPr algn="ctr"/>
              <a:r>
                <a:rPr lang="en-US" sz="1000" dirty="0"/>
                <a:t>PROCEDURE DESIGN</a:t>
              </a:r>
            </a:p>
            <a:p>
              <a:pPr algn="ctr"/>
              <a:r>
                <a:rPr lang="en-US" sz="1000" dirty="0"/>
                <a:t>SECURED TRANSFER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F39FF388-FF64-155C-3980-92E7867077FA}"/>
              </a:ext>
            </a:extLst>
          </p:cNvPr>
          <p:cNvGrpSpPr/>
          <p:nvPr/>
        </p:nvGrpSpPr>
        <p:grpSpPr>
          <a:xfrm>
            <a:off x="1038094" y="2692364"/>
            <a:ext cx="1762935" cy="1325215"/>
            <a:chOff x="1732514" y="5357194"/>
            <a:chExt cx="1456080" cy="1325215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3F0229B1-C1EC-D929-607C-FF9B1EE2F594}"/>
                </a:ext>
              </a:extLst>
            </p:cNvPr>
            <p:cNvSpPr/>
            <p:nvPr/>
          </p:nvSpPr>
          <p:spPr>
            <a:xfrm>
              <a:off x="1732515" y="5801140"/>
              <a:ext cx="1456079" cy="881269"/>
            </a:xfrm>
            <a:prstGeom prst="roundRect">
              <a:avLst>
                <a:gd name="adj" fmla="val 7644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b"/>
            <a:lstStyle/>
            <a:p>
              <a:pPr algn="ctr"/>
              <a:r>
                <a:rPr lang="en-US" sz="1100" dirty="0"/>
                <a:t>CASH VAULTS</a:t>
              </a:r>
            </a:p>
          </p:txBody>
        </p:sp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3A731C44-708B-71BA-016C-8FBC5D83CE51}"/>
                </a:ext>
              </a:extLst>
            </p:cNvPr>
            <p:cNvSpPr/>
            <p:nvPr/>
          </p:nvSpPr>
          <p:spPr>
            <a:xfrm>
              <a:off x="1732514" y="5357194"/>
              <a:ext cx="1456079" cy="887894"/>
            </a:xfrm>
            <a:prstGeom prst="roundRect">
              <a:avLst>
                <a:gd name="adj" fmla="val 7644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b"/>
            <a:lstStyle/>
            <a:p>
              <a:pPr algn="ctr"/>
              <a:r>
                <a:rPr lang="en-US" sz="1000" dirty="0"/>
                <a:t>REAL-TIME CASH</a:t>
              </a:r>
            </a:p>
            <a:p>
              <a:pPr algn="ctr"/>
              <a:r>
                <a:rPr lang="en-US" sz="1000" dirty="0"/>
                <a:t>PACK/COUNT/DEPOSIT</a:t>
              </a:r>
            </a:p>
            <a:p>
              <a:pPr algn="ctr"/>
              <a:r>
                <a:rPr lang="en-US" sz="1000" dirty="0"/>
                <a:t>CUSTOMIZABLE LEDGERS</a:t>
              </a:r>
            </a:p>
            <a:p>
              <a:pPr algn="ctr"/>
              <a:r>
                <a:rPr lang="en-US" sz="1000" dirty="0"/>
                <a:t>BANK/FI ORDER MGMT</a:t>
              </a:r>
            </a:p>
            <a:p>
              <a:pPr algn="ctr"/>
              <a:r>
                <a:rPr lang="en-US" sz="1000" dirty="0"/>
                <a:t>FULLY AUDTIABLE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152C14D7-C35F-9432-E45E-11EB915822FD}"/>
              </a:ext>
            </a:extLst>
          </p:cNvPr>
          <p:cNvGrpSpPr/>
          <p:nvPr/>
        </p:nvGrpSpPr>
        <p:grpSpPr>
          <a:xfrm>
            <a:off x="2906629" y="2692364"/>
            <a:ext cx="1762935" cy="1318591"/>
            <a:chOff x="3056286" y="5367130"/>
            <a:chExt cx="1456080" cy="1318591"/>
          </a:xfrm>
        </p:grpSpPr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4599C015-AEC5-D37E-D006-DCC97D9C6511}"/>
                </a:ext>
              </a:extLst>
            </p:cNvPr>
            <p:cNvSpPr/>
            <p:nvPr/>
          </p:nvSpPr>
          <p:spPr>
            <a:xfrm>
              <a:off x="3056287" y="5804452"/>
              <a:ext cx="1456079" cy="881269"/>
            </a:xfrm>
            <a:prstGeom prst="roundRect">
              <a:avLst>
                <a:gd name="adj" fmla="val 7644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b"/>
            <a:lstStyle/>
            <a:p>
              <a:pPr algn="ctr"/>
              <a:r>
                <a:rPr lang="en-US" sz="1100" dirty="0"/>
                <a:t>CUSTOMERS</a:t>
              </a:r>
            </a:p>
          </p:txBody>
        </p:sp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0276D1AB-4052-565C-A653-4C7627F9553B}"/>
                </a:ext>
              </a:extLst>
            </p:cNvPr>
            <p:cNvSpPr/>
            <p:nvPr/>
          </p:nvSpPr>
          <p:spPr>
            <a:xfrm>
              <a:off x="3056286" y="5367130"/>
              <a:ext cx="1456079" cy="881269"/>
            </a:xfrm>
            <a:prstGeom prst="roundRect">
              <a:avLst>
                <a:gd name="adj" fmla="val 7644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b"/>
            <a:lstStyle/>
            <a:p>
              <a:pPr algn="ctr"/>
              <a:r>
                <a:rPr lang="en-US" sz="1000" dirty="0"/>
                <a:t>REAL-TIME VISIBILITY</a:t>
              </a:r>
            </a:p>
            <a:p>
              <a:pPr algn="ctr"/>
              <a:r>
                <a:rPr lang="en-US" sz="1000" dirty="0"/>
                <a:t>OPS PARTICPATION</a:t>
              </a:r>
            </a:p>
            <a:p>
              <a:pPr algn="ctr"/>
              <a:r>
                <a:rPr lang="en-US" sz="1000" dirty="0"/>
                <a:t>LIVE PICKUP REQUESTS</a:t>
              </a:r>
            </a:p>
            <a:p>
              <a:pPr algn="ctr"/>
              <a:r>
                <a:rPr lang="en-US" sz="1000" dirty="0"/>
                <a:t>EVENT NOTIFICATIONS</a:t>
              </a:r>
            </a:p>
            <a:p>
              <a:pPr algn="ctr"/>
              <a:r>
                <a:rPr lang="en-US" sz="1000" dirty="0"/>
                <a:t>RECEIPTS/MANIFESTS</a:t>
              </a:r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37F36052-CE23-C97C-C1A4-5B700F8B4FE3}"/>
              </a:ext>
            </a:extLst>
          </p:cNvPr>
          <p:cNvGrpSpPr/>
          <p:nvPr/>
        </p:nvGrpSpPr>
        <p:grpSpPr>
          <a:xfrm>
            <a:off x="10380286" y="2692364"/>
            <a:ext cx="1762935" cy="1318591"/>
            <a:chOff x="403779" y="6995447"/>
            <a:chExt cx="1456080" cy="1318591"/>
          </a:xfrm>
        </p:grpSpPr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A9B5AA9F-EB7F-7ED1-90C9-24CCC5F849AC}"/>
                </a:ext>
              </a:extLst>
            </p:cNvPr>
            <p:cNvSpPr/>
            <p:nvPr/>
          </p:nvSpPr>
          <p:spPr>
            <a:xfrm>
              <a:off x="403780" y="7432769"/>
              <a:ext cx="1456079" cy="881269"/>
            </a:xfrm>
            <a:prstGeom prst="roundRect">
              <a:avLst>
                <a:gd name="adj" fmla="val 7644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b"/>
            <a:lstStyle/>
            <a:p>
              <a:pPr algn="ctr"/>
              <a:r>
                <a:rPr lang="en-US" sz="1100" dirty="0"/>
                <a:t>ROUTES</a:t>
              </a:r>
            </a:p>
          </p:txBody>
        </p: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CE46FCCC-B87A-991D-49A1-45764B1919E2}"/>
                </a:ext>
              </a:extLst>
            </p:cNvPr>
            <p:cNvSpPr/>
            <p:nvPr/>
          </p:nvSpPr>
          <p:spPr>
            <a:xfrm>
              <a:off x="403779" y="6995447"/>
              <a:ext cx="1456079" cy="881269"/>
            </a:xfrm>
            <a:prstGeom prst="roundRect">
              <a:avLst>
                <a:gd name="adj" fmla="val 7644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b"/>
            <a:lstStyle/>
            <a:p>
              <a:pPr algn="ctr"/>
              <a:r>
                <a:rPr lang="en-US" sz="1000" dirty="0"/>
                <a:t>REAL-TIME TRACKING</a:t>
              </a:r>
            </a:p>
            <a:p>
              <a:pPr algn="ctr"/>
              <a:r>
                <a:rPr lang="en-US" sz="1000" dirty="0"/>
                <a:t>DYNAMIC MGMT</a:t>
              </a:r>
            </a:p>
            <a:p>
              <a:pPr algn="ctr"/>
              <a:r>
                <a:rPr lang="en-US" sz="1000" dirty="0"/>
                <a:t>DRIVE OPTIMIZATION</a:t>
              </a:r>
            </a:p>
            <a:p>
              <a:pPr algn="ctr"/>
              <a:r>
                <a:rPr lang="en-US" sz="1000" dirty="0"/>
                <a:t>ETA TIME/MILEAGE</a:t>
              </a:r>
            </a:p>
            <a:p>
              <a:pPr algn="ctr"/>
              <a:r>
                <a:rPr lang="en-US" sz="1000" dirty="0"/>
                <a:t>LIABILITY ENFORCED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A21AB112-8781-E54D-A6FA-D8310DA71326}"/>
              </a:ext>
            </a:extLst>
          </p:cNvPr>
          <p:cNvGrpSpPr/>
          <p:nvPr/>
        </p:nvGrpSpPr>
        <p:grpSpPr>
          <a:xfrm>
            <a:off x="4775164" y="2692364"/>
            <a:ext cx="1762935" cy="1318591"/>
            <a:chOff x="3056286" y="5367130"/>
            <a:chExt cx="1456080" cy="1318591"/>
          </a:xfrm>
        </p:grpSpPr>
        <p:sp>
          <p:nvSpPr>
            <p:cNvPr id="44" name="Rectangle: Rounded Corners 43">
              <a:extLst>
                <a:ext uri="{FF2B5EF4-FFF2-40B4-BE49-F238E27FC236}">
                  <a16:creationId xmlns:a16="http://schemas.microsoft.com/office/drawing/2014/main" id="{453BB0D2-55E8-239A-D59D-D752C8B550B7}"/>
                </a:ext>
              </a:extLst>
            </p:cNvPr>
            <p:cNvSpPr/>
            <p:nvPr/>
          </p:nvSpPr>
          <p:spPr>
            <a:xfrm>
              <a:off x="3056287" y="5804452"/>
              <a:ext cx="1456079" cy="881269"/>
            </a:xfrm>
            <a:prstGeom prst="roundRect">
              <a:avLst>
                <a:gd name="adj" fmla="val 7644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b"/>
            <a:lstStyle/>
            <a:p>
              <a:pPr algn="ctr"/>
              <a:r>
                <a:rPr lang="en-US" sz="1100" dirty="0"/>
                <a:t>CONTRACTS</a:t>
              </a:r>
            </a:p>
          </p:txBody>
        </p:sp>
        <p:sp>
          <p:nvSpPr>
            <p:cNvPr id="47" name="Rectangle: Rounded Corners 46">
              <a:extLst>
                <a:ext uri="{FF2B5EF4-FFF2-40B4-BE49-F238E27FC236}">
                  <a16:creationId xmlns:a16="http://schemas.microsoft.com/office/drawing/2014/main" id="{86E20C42-B23F-F3AD-8E29-D476FDA0B2D3}"/>
                </a:ext>
              </a:extLst>
            </p:cNvPr>
            <p:cNvSpPr/>
            <p:nvPr/>
          </p:nvSpPr>
          <p:spPr>
            <a:xfrm>
              <a:off x="3056286" y="5367130"/>
              <a:ext cx="1456079" cy="881269"/>
            </a:xfrm>
            <a:prstGeom prst="roundRect">
              <a:avLst>
                <a:gd name="adj" fmla="val 7644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b"/>
            <a:lstStyle/>
            <a:p>
              <a:pPr algn="ctr"/>
              <a:r>
                <a:rPr lang="en-US" sz="1000" dirty="0"/>
                <a:t>BILLING COORDINATION</a:t>
              </a:r>
            </a:p>
            <a:p>
              <a:pPr algn="ctr"/>
              <a:r>
                <a:rPr lang="en-US" sz="1000" dirty="0"/>
                <a:t>EVENT -&gt; BILLING RULES</a:t>
              </a:r>
            </a:p>
            <a:p>
              <a:pPr algn="ctr"/>
              <a:r>
                <a:rPr lang="en-US" sz="1000" dirty="0"/>
                <a:t>SERVICE COORDINATION</a:t>
              </a:r>
            </a:p>
            <a:p>
              <a:pPr algn="ctr"/>
              <a:r>
                <a:rPr lang="en-US" sz="1000" dirty="0"/>
                <a:t>CHANGE MGMT</a:t>
              </a:r>
            </a:p>
            <a:p>
              <a:pPr algn="ctr"/>
              <a:r>
                <a:rPr lang="en-US" sz="1000" dirty="0"/>
                <a:t>DOCUMENT MGMT</a:t>
              </a:r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85D250A7-89B7-13AF-FB75-0E21CE208B63}"/>
              </a:ext>
            </a:extLst>
          </p:cNvPr>
          <p:cNvGrpSpPr/>
          <p:nvPr/>
        </p:nvGrpSpPr>
        <p:grpSpPr>
          <a:xfrm>
            <a:off x="6643699" y="2692364"/>
            <a:ext cx="1762935" cy="1318591"/>
            <a:chOff x="6633113" y="5357194"/>
            <a:chExt cx="1456080" cy="1318591"/>
          </a:xfrm>
        </p:grpSpPr>
        <p:sp>
          <p:nvSpPr>
            <p:cNvPr id="50" name="Rectangle: Rounded Corners 49">
              <a:extLst>
                <a:ext uri="{FF2B5EF4-FFF2-40B4-BE49-F238E27FC236}">
                  <a16:creationId xmlns:a16="http://schemas.microsoft.com/office/drawing/2014/main" id="{7A351E2D-2ED8-3C05-9BA3-66D02576E1A8}"/>
                </a:ext>
              </a:extLst>
            </p:cNvPr>
            <p:cNvSpPr/>
            <p:nvPr/>
          </p:nvSpPr>
          <p:spPr>
            <a:xfrm>
              <a:off x="6633114" y="5794516"/>
              <a:ext cx="1456079" cy="881269"/>
            </a:xfrm>
            <a:prstGeom prst="roundRect">
              <a:avLst>
                <a:gd name="adj" fmla="val 7644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b"/>
            <a:lstStyle/>
            <a:p>
              <a:pPr algn="ctr"/>
              <a:r>
                <a:rPr lang="en-US" sz="1100" dirty="0"/>
                <a:t>LOCATIONS</a:t>
              </a:r>
            </a:p>
          </p:txBody>
        </p:sp>
        <p:sp>
          <p:nvSpPr>
            <p:cNvPr id="52" name="Rectangle: Rounded Corners 51">
              <a:extLst>
                <a:ext uri="{FF2B5EF4-FFF2-40B4-BE49-F238E27FC236}">
                  <a16:creationId xmlns:a16="http://schemas.microsoft.com/office/drawing/2014/main" id="{9F114293-D421-C1F8-50B7-66F85857D6BC}"/>
                </a:ext>
              </a:extLst>
            </p:cNvPr>
            <p:cNvSpPr/>
            <p:nvPr/>
          </p:nvSpPr>
          <p:spPr>
            <a:xfrm>
              <a:off x="6633113" y="5357194"/>
              <a:ext cx="1456079" cy="881269"/>
            </a:xfrm>
            <a:prstGeom prst="roundRect">
              <a:avLst>
                <a:gd name="adj" fmla="val 7644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b"/>
            <a:lstStyle/>
            <a:p>
              <a:pPr algn="ctr"/>
              <a:r>
                <a:rPr lang="en-US" sz="1000" dirty="0"/>
                <a:t>DYNAMICALLY ROUTABLE</a:t>
              </a:r>
            </a:p>
            <a:p>
              <a:pPr algn="ctr"/>
              <a:r>
                <a:rPr lang="en-US" sz="1000" dirty="0"/>
                <a:t>RECURRING SCHEDULES</a:t>
              </a:r>
            </a:p>
            <a:p>
              <a:pPr algn="ctr"/>
              <a:r>
                <a:rPr lang="en-US" sz="1000" dirty="0"/>
                <a:t>SHIP TYPE ROUTING MGMT</a:t>
              </a:r>
            </a:p>
            <a:p>
              <a:pPr algn="ctr"/>
              <a:r>
                <a:rPr lang="en-US" sz="1000" dirty="0"/>
                <a:t>EMPTY/FILL FORECASTING</a:t>
              </a:r>
            </a:p>
            <a:p>
              <a:pPr algn="ctr"/>
              <a:r>
                <a:rPr lang="en-US" sz="1000" dirty="0"/>
                <a:t>KABA/S&amp;G INTEGRATED</a:t>
              </a:r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F8AC22C3-618D-2E71-22FB-D7DFEDE6D6CA}"/>
              </a:ext>
            </a:extLst>
          </p:cNvPr>
          <p:cNvGrpSpPr/>
          <p:nvPr/>
        </p:nvGrpSpPr>
        <p:grpSpPr>
          <a:xfrm>
            <a:off x="8511993" y="2692364"/>
            <a:ext cx="1762935" cy="1325215"/>
            <a:chOff x="8190445" y="5347257"/>
            <a:chExt cx="1456080" cy="1325215"/>
          </a:xfrm>
        </p:grpSpPr>
        <p:sp>
          <p:nvSpPr>
            <p:cNvPr id="53" name="Rectangle: Rounded Corners 52">
              <a:extLst>
                <a:ext uri="{FF2B5EF4-FFF2-40B4-BE49-F238E27FC236}">
                  <a16:creationId xmlns:a16="http://schemas.microsoft.com/office/drawing/2014/main" id="{20EB9A53-7237-8C95-0769-4F74193F23C1}"/>
                </a:ext>
              </a:extLst>
            </p:cNvPr>
            <p:cNvSpPr/>
            <p:nvPr/>
          </p:nvSpPr>
          <p:spPr>
            <a:xfrm>
              <a:off x="8190446" y="5791203"/>
              <a:ext cx="1456079" cy="881269"/>
            </a:xfrm>
            <a:prstGeom prst="roundRect">
              <a:avLst>
                <a:gd name="adj" fmla="val 7644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b"/>
            <a:lstStyle/>
            <a:p>
              <a:pPr algn="ctr"/>
              <a:r>
                <a:rPr lang="en-US" sz="1100" dirty="0"/>
                <a:t>SHIPMENTS</a:t>
              </a:r>
            </a:p>
          </p:txBody>
        </p:sp>
        <p:sp>
          <p:nvSpPr>
            <p:cNvPr id="54" name="Rectangle: Rounded Corners 53">
              <a:extLst>
                <a:ext uri="{FF2B5EF4-FFF2-40B4-BE49-F238E27FC236}">
                  <a16:creationId xmlns:a16="http://schemas.microsoft.com/office/drawing/2014/main" id="{9E0766E3-4CC1-184B-F3EA-A8B257A82794}"/>
                </a:ext>
              </a:extLst>
            </p:cNvPr>
            <p:cNvSpPr/>
            <p:nvPr/>
          </p:nvSpPr>
          <p:spPr>
            <a:xfrm>
              <a:off x="8190445" y="5347257"/>
              <a:ext cx="1456079" cy="887894"/>
            </a:xfrm>
            <a:prstGeom prst="roundRect">
              <a:avLst>
                <a:gd name="adj" fmla="val 7644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b"/>
            <a:lstStyle/>
            <a:p>
              <a:pPr algn="ctr"/>
              <a:r>
                <a:rPr lang="en-US" sz="1000" dirty="0"/>
                <a:t>FORECAST CREATED</a:t>
              </a:r>
            </a:p>
            <a:p>
              <a:pPr algn="ctr"/>
              <a:r>
                <a:rPr lang="en-US" sz="1000" dirty="0"/>
                <a:t>AUTO-CREATE SCHEDULES</a:t>
              </a:r>
            </a:p>
            <a:p>
              <a:pPr algn="ctr"/>
              <a:r>
                <a:rPr lang="en-US" sz="1000" dirty="0"/>
                <a:t>RECEIPT/POD CAPTURE</a:t>
              </a:r>
            </a:p>
            <a:p>
              <a:pPr algn="ctr"/>
              <a:r>
                <a:rPr lang="en-US" sz="1000" dirty="0"/>
                <a:t>ON-ROUTE DELIVERABLE</a:t>
              </a:r>
            </a:p>
            <a:p>
              <a:pPr algn="ctr"/>
              <a:r>
                <a:rPr lang="en-US" sz="1000" dirty="0"/>
                <a:t>DELIVERY CUTOFFS</a:t>
              </a:r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CDC9E3FF-4CF8-4891-54CB-C1CFDEE1F6C5}"/>
              </a:ext>
            </a:extLst>
          </p:cNvPr>
          <p:cNvGrpSpPr/>
          <p:nvPr/>
        </p:nvGrpSpPr>
        <p:grpSpPr>
          <a:xfrm>
            <a:off x="12248578" y="2692364"/>
            <a:ext cx="1762935" cy="1318591"/>
            <a:chOff x="9747776" y="5350568"/>
            <a:chExt cx="1456080" cy="1318591"/>
          </a:xfrm>
        </p:grpSpPr>
        <p:sp>
          <p:nvSpPr>
            <p:cNvPr id="55" name="Rectangle: Rounded Corners 54">
              <a:extLst>
                <a:ext uri="{FF2B5EF4-FFF2-40B4-BE49-F238E27FC236}">
                  <a16:creationId xmlns:a16="http://schemas.microsoft.com/office/drawing/2014/main" id="{83B887F6-5859-96A0-1576-2BEDF8087698}"/>
                </a:ext>
              </a:extLst>
            </p:cNvPr>
            <p:cNvSpPr/>
            <p:nvPr/>
          </p:nvSpPr>
          <p:spPr>
            <a:xfrm>
              <a:off x="9747777" y="5787890"/>
              <a:ext cx="1456079" cy="881269"/>
            </a:xfrm>
            <a:prstGeom prst="roundRect">
              <a:avLst>
                <a:gd name="adj" fmla="val 7644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b"/>
            <a:lstStyle/>
            <a:p>
              <a:pPr algn="ctr"/>
              <a:r>
                <a:rPr lang="en-US" sz="1100" dirty="0"/>
                <a:t>STOPS</a:t>
              </a:r>
            </a:p>
          </p:txBody>
        </p:sp>
        <p:sp>
          <p:nvSpPr>
            <p:cNvPr id="56" name="Rectangle: Rounded Corners 55">
              <a:extLst>
                <a:ext uri="{FF2B5EF4-FFF2-40B4-BE49-F238E27FC236}">
                  <a16:creationId xmlns:a16="http://schemas.microsoft.com/office/drawing/2014/main" id="{A2534E2F-1827-ED5A-A5F1-5BDA8D1C197D}"/>
                </a:ext>
              </a:extLst>
            </p:cNvPr>
            <p:cNvSpPr/>
            <p:nvPr/>
          </p:nvSpPr>
          <p:spPr>
            <a:xfrm>
              <a:off x="9747776" y="5350568"/>
              <a:ext cx="1456079" cy="881269"/>
            </a:xfrm>
            <a:prstGeom prst="roundRect">
              <a:avLst>
                <a:gd name="adj" fmla="val 7644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b"/>
            <a:lstStyle/>
            <a:p>
              <a:pPr algn="ctr"/>
              <a:r>
                <a:rPr lang="en-US" sz="1000" dirty="0"/>
                <a:t>SEQUENCED VS. ACTUAL</a:t>
              </a:r>
            </a:p>
            <a:p>
              <a:pPr algn="ctr"/>
              <a:r>
                <a:rPr lang="en-US" sz="1000" dirty="0"/>
                <a:t>LIVE ROUTE TRANSFER</a:t>
              </a:r>
            </a:p>
            <a:p>
              <a:pPr algn="ctr"/>
              <a:r>
                <a:rPr lang="en-US" sz="1000" dirty="0"/>
                <a:t>PER STOP OPTIMIZATION</a:t>
              </a:r>
            </a:p>
            <a:p>
              <a:pPr algn="ctr"/>
              <a:r>
                <a:rPr lang="en-US" sz="1000" dirty="0"/>
                <a:t>ETA MANAGEMENT</a:t>
              </a:r>
            </a:p>
            <a:p>
              <a:pPr algn="ctr"/>
              <a:r>
                <a:rPr lang="en-US" sz="1000" dirty="0"/>
                <a:t>TRUCK TRANSFERS</a:t>
              </a:r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709F441E-8493-B23C-CF0B-D6C38799D4A2}"/>
              </a:ext>
            </a:extLst>
          </p:cNvPr>
          <p:cNvGrpSpPr/>
          <p:nvPr/>
        </p:nvGrpSpPr>
        <p:grpSpPr>
          <a:xfrm>
            <a:off x="1038094" y="4141956"/>
            <a:ext cx="1762935" cy="1318591"/>
            <a:chOff x="1961113" y="6995447"/>
            <a:chExt cx="1456080" cy="1318591"/>
          </a:xfrm>
        </p:grpSpPr>
        <p:sp>
          <p:nvSpPr>
            <p:cNvPr id="57" name="Rectangle: Rounded Corners 56">
              <a:extLst>
                <a:ext uri="{FF2B5EF4-FFF2-40B4-BE49-F238E27FC236}">
                  <a16:creationId xmlns:a16="http://schemas.microsoft.com/office/drawing/2014/main" id="{DEF1843E-D6FF-8D9E-EC42-0A1F8CD591FC}"/>
                </a:ext>
              </a:extLst>
            </p:cNvPr>
            <p:cNvSpPr/>
            <p:nvPr/>
          </p:nvSpPr>
          <p:spPr>
            <a:xfrm>
              <a:off x="1961114" y="7432769"/>
              <a:ext cx="1456079" cy="881269"/>
            </a:xfrm>
            <a:prstGeom prst="roundRect">
              <a:avLst>
                <a:gd name="adj" fmla="val 7644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b"/>
            <a:lstStyle/>
            <a:p>
              <a:pPr algn="ctr"/>
              <a:r>
                <a:rPr lang="en-US" sz="1100" dirty="0"/>
                <a:t>TRUCKS</a:t>
              </a:r>
            </a:p>
          </p:txBody>
        </p:sp>
        <p:sp>
          <p:nvSpPr>
            <p:cNvPr id="58" name="Rectangle: Rounded Corners 57">
              <a:extLst>
                <a:ext uri="{FF2B5EF4-FFF2-40B4-BE49-F238E27FC236}">
                  <a16:creationId xmlns:a16="http://schemas.microsoft.com/office/drawing/2014/main" id="{68A0D489-17ED-F094-295E-A94D68FFB9DA}"/>
                </a:ext>
              </a:extLst>
            </p:cNvPr>
            <p:cNvSpPr/>
            <p:nvPr/>
          </p:nvSpPr>
          <p:spPr>
            <a:xfrm>
              <a:off x="1961113" y="6995447"/>
              <a:ext cx="1456079" cy="881269"/>
            </a:xfrm>
            <a:prstGeom prst="roundRect">
              <a:avLst>
                <a:gd name="adj" fmla="val 7644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b"/>
            <a:lstStyle/>
            <a:p>
              <a:pPr algn="ctr"/>
              <a:r>
                <a:rPr lang="en-US" sz="1000" dirty="0"/>
                <a:t>LIABILITY ENFORCEMENT</a:t>
              </a:r>
            </a:p>
            <a:p>
              <a:pPr algn="ctr"/>
              <a:r>
                <a:rPr lang="en-US" sz="1000" dirty="0"/>
                <a:t>FIXED ROUTE ASSIGN</a:t>
              </a:r>
            </a:p>
            <a:p>
              <a:pPr algn="ctr"/>
              <a:r>
                <a:rPr lang="en-US" sz="1000" dirty="0"/>
                <a:t>CAGE/SAFE INTEGRATION</a:t>
              </a:r>
            </a:p>
            <a:p>
              <a:pPr algn="ctr"/>
              <a:r>
                <a:rPr lang="en-US" sz="1000" dirty="0"/>
                <a:t>GEO-FENCED ACCESS</a:t>
              </a:r>
            </a:p>
            <a:p>
              <a:pPr algn="ctr"/>
              <a:r>
                <a:rPr lang="en-US" sz="1000" dirty="0"/>
                <a:t>NFC TAGGABLE</a:t>
              </a:r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DEBEB553-2BD1-1701-1DB5-0F2CAE82E212}"/>
              </a:ext>
            </a:extLst>
          </p:cNvPr>
          <p:cNvGrpSpPr/>
          <p:nvPr/>
        </p:nvGrpSpPr>
        <p:grpSpPr>
          <a:xfrm>
            <a:off x="-830442" y="4141956"/>
            <a:ext cx="1762935" cy="1318591"/>
            <a:chOff x="3518448" y="6992134"/>
            <a:chExt cx="1456080" cy="1318591"/>
          </a:xfrm>
        </p:grpSpPr>
        <p:sp>
          <p:nvSpPr>
            <p:cNvPr id="59" name="Rectangle: Rounded Corners 58">
              <a:extLst>
                <a:ext uri="{FF2B5EF4-FFF2-40B4-BE49-F238E27FC236}">
                  <a16:creationId xmlns:a16="http://schemas.microsoft.com/office/drawing/2014/main" id="{FEDDE30E-6112-164B-46F9-2281EAD6A3EB}"/>
                </a:ext>
              </a:extLst>
            </p:cNvPr>
            <p:cNvSpPr/>
            <p:nvPr/>
          </p:nvSpPr>
          <p:spPr>
            <a:xfrm>
              <a:off x="3518449" y="7429456"/>
              <a:ext cx="1456079" cy="881269"/>
            </a:xfrm>
            <a:prstGeom prst="roundRect">
              <a:avLst>
                <a:gd name="adj" fmla="val 7644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b"/>
            <a:lstStyle/>
            <a:p>
              <a:pPr algn="ctr"/>
              <a:r>
                <a:rPr lang="en-US" sz="1100" dirty="0"/>
                <a:t>FIELD USERS</a:t>
              </a:r>
            </a:p>
          </p:txBody>
        </p:sp>
        <p:sp>
          <p:nvSpPr>
            <p:cNvPr id="60" name="Rectangle: Rounded Corners 59">
              <a:extLst>
                <a:ext uri="{FF2B5EF4-FFF2-40B4-BE49-F238E27FC236}">
                  <a16:creationId xmlns:a16="http://schemas.microsoft.com/office/drawing/2014/main" id="{9FD2FB63-9B66-5BAC-159F-A55D0F4737F7}"/>
                </a:ext>
              </a:extLst>
            </p:cNvPr>
            <p:cNvSpPr/>
            <p:nvPr/>
          </p:nvSpPr>
          <p:spPr>
            <a:xfrm>
              <a:off x="3518448" y="6992134"/>
              <a:ext cx="1456079" cy="881269"/>
            </a:xfrm>
            <a:prstGeom prst="roundRect">
              <a:avLst>
                <a:gd name="adj" fmla="val 7644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b"/>
            <a:lstStyle/>
            <a:p>
              <a:pPr algn="ctr"/>
              <a:r>
                <a:rPr lang="en-US" sz="1000" dirty="0"/>
                <a:t>WORKFLOW-CONTROLS</a:t>
              </a:r>
            </a:p>
            <a:p>
              <a:pPr algn="ctr"/>
              <a:r>
                <a:rPr lang="en-US" sz="1000" dirty="0"/>
                <a:t>STOP/STEP ENFORCED</a:t>
              </a:r>
            </a:p>
            <a:p>
              <a:pPr algn="ctr"/>
              <a:r>
                <a:rPr lang="en-US" sz="1000" dirty="0"/>
                <a:t>STOP OPTIMIZATION</a:t>
              </a:r>
            </a:p>
            <a:p>
              <a:pPr algn="ctr"/>
              <a:r>
                <a:rPr lang="en-US" sz="1000" dirty="0"/>
                <a:t>DYNAMIC UPDATING</a:t>
              </a:r>
            </a:p>
            <a:p>
              <a:pPr algn="ctr"/>
              <a:r>
                <a:rPr lang="en-US" sz="1000" dirty="0"/>
                <a:t>PERIPHERALS</a:t>
              </a:r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D14647BB-50CE-9161-37CF-49DE09C9D334}"/>
              </a:ext>
            </a:extLst>
          </p:cNvPr>
          <p:cNvGrpSpPr/>
          <p:nvPr/>
        </p:nvGrpSpPr>
        <p:grpSpPr>
          <a:xfrm>
            <a:off x="2906629" y="4141956"/>
            <a:ext cx="1762935" cy="1318591"/>
            <a:chOff x="5075781" y="6988821"/>
            <a:chExt cx="1456080" cy="1318591"/>
          </a:xfrm>
        </p:grpSpPr>
        <p:sp>
          <p:nvSpPr>
            <p:cNvPr id="61" name="Rectangle: Rounded Corners 60">
              <a:extLst>
                <a:ext uri="{FF2B5EF4-FFF2-40B4-BE49-F238E27FC236}">
                  <a16:creationId xmlns:a16="http://schemas.microsoft.com/office/drawing/2014/main" id="{74453F8D-0A22-34F4-952D-18BF093E8FA5}"/>
                </a:ext>
              </a:extLst>
            </p:cNvPr>
            <p:cNvSpPr/>
            <p:nvPr/>
          </p:nvSpPr>
          <p:spPr>
            <a:xfrm>
              <a:off x="5075782" y="7426143"/>
              <a:ext cx="1456079" cy="881269"/>
            </a:xfrm>
            <a:prstGeom prst="roundRect">
              <a:avLst>
                <a:gd name="adj" fmla="val 7644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b"/>
            <a:lstStyle/>
            <a:p>
              <a:pPr algn="ctr"/>
              <a:r>
                <a:rPr lang="en-US" sz="1100" dirty="0"/>
                <a:t>CIT/FI DEPOSITS</a:t>
              </a:r>
            </a:p>
          </p:txBody>
        </p:sp>
        <p:sp>
          <p:nvSpPr>
            <p:cNvPr id="62" name="Rectangle: Rounded Corners 61">
              <a:extLst>
                <a:ext uri="{FF2B5EF4-FFF2-40B4-BE49-F238E27FC236}">
                  <a16:creationId xmlns:a16="http://schemas.microsoft.com/office/drawing/2014/main" id="{AF003A5E-A821-C6DF-A01F-AF52DC1198C7}"/>
                </a:ext>
              </a:extLst>
            </p:cNvPr>
            <p:cNvSpPr/>
            <p:nvPr/>
          </p:nvSpPr>
          <p:spPr>
            <a:xfrm>
              <a:off x="5075781" y="6988821"/>
              <a:ext cx="1456079" cy="881269"/>
            </a:xfrm>
            <a:prstGeom prst="roundRect">
              <a:avLst>
                <a:gd name="adj" fmla="val 7644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b"/>
            <a:lstStyle/>
            <a:p>
              <a:pPr algn="ctr"/>
              <a:r>
                <a:rPr lang="en-US" sz="1000" dirty="0"/>
                <a:t>SERVICE MONITORING</a:t>
              </a:r>
            </a:p>
            <a:p>
              <a:pPr algn="ctr"/>
              <a:r>
                <a:rPr lang="en-US" sz="1000" dirty="0"/>
                <a:t>ON-ROUTE DELIVERY</a:t>
              </a:r>
            </a:p>
            <a:p>
              <a:pPr algn="ctr"/>
              <a:r>
                <a:rPr lang="en-US" sz="1000" dirty="0"/>
                <a:t>BATCH PROCESSING</a:t>
              </a:r>
            </a:p>
            <a:p>
              <a:pPr algn="ctr"/>
              <a:r>
                <a:rPr lang="en-US" sz="1000" dirty="0"/>
                <a:t>COIN + COIN MANAGEMENT</a:t>
              </a:r>
            </a:p>
            <a:p>
              <a:pPr algn="ctr"/>
              <a:r>
                <a:rPr lang="en-US" sz="1000" dirty="0"/>
                <a:t>DELIVER/COUNT CONTROLS</a:t>
              </a:r>
            </a:p>
          </p:txBody>
        </p: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A79E724D-C638-3793-C679-C43A6564E84B}"/>
              </a:ext>
            </a:extLst>
          </p:cNvPr>
          <p:cNvGrpSpPr/>
          <p:nvPr/>
        </p:nvGrpSpPr>
        <p:grpSpPr>
          <a:xfrm>
            <a:off x="4775164" y="4141956"/>
            <a:ext cx="1762935" cy="1318591"/>
            <a:chOff x="6633113" y="6985508"/>
            <a:chExt cx="1456080" cy="1318591"/>
          </a:xfrm>
        </p:grpSpPr>
        <p:sp>
          <p:nvSpPr>
            <p:cNvPr id="63" name="Rectangle: Rounded Corners 62">
              <a:extLst>
                <a:ext uri="{FF2B5EF4-FFF2-40B4-BE49-F238E27FC236}">
                  <a16:creationId xmlns:a16="http://schemas.microsoft.com/office/drawing/2014/main" id="{E0A90EC7-9E2B-E54E-03F6-682F843A258E}"/>
                </a:ext>
              </a:extLst>
            </p:cNvPr>
            <p:cNvSpPr/>
            <p:nvPr/>
          </p:nvSpPr>
          <p:spPr>
            <a:xfrm>
              <a:off x="6633114" y="7422830"/>
              <a:ext cx="1456079" cy="881269"/>
            </a:xfrm>
            <a:prstGeom prst="roundRect">
              <a:avLst>
                <a:gd name="adj" fmla="val 7644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b"/>
            <a:lstStyle/>
            <a:p>
              <a:pPr algn="ctr"/>
              <a:r>
                <a:rPr lang="en-US" sz="1100" dirty="0"/>
                <a:t>RETAIL/FI ATM ORDERS</a:t>
              </a:r>
            </a:p>
          </p:txBody>
        </p:sp>
        <p:sp>
          <p:nvSpPr>
            <p:cNvPr id="64" name="Rectangle: Rounded Corners 63">
              <a:extLst>
                <a:ext uri="{FF2B5EF4-FFF2-40B4-BE49-F238E27FC236}">
                  <a16:creationId xmlns:a16="http://schemas.microsoft.com/office/drawing/2014/main" id="{AE3561F3-A83E-20A9-EF07-AC790E3034A9}"/>
                </a:ext>
              </a:extLst>
            </p:cNvPr>
            <p:cNvSpPr/>
            <p:nvPr/>
          </p:nvSpPr>
          <p:spPr>
            <a:xfrm>
              <a:off x="6633113" y="6985508"/>
              <a:ext cx="1456079" cy="881269"/>
            </a:xfrm>
            <a:prstGeom prst="roundRect">
              <a:avLst>
                <a:gd name="adj" fmla="val 7644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b"/>
            <a:lstStyle/>
            <a:p>
              <a:pPr algn="ctr"/>
              <a:r>
                <a:rPr lang="en-US" sz="1000" dirty="0"/>
                <a:t>ORDER TYPE WORKFLOWS</a:t>
              </a:r>
            </a:p>
            <a:p>
              <a:pPr algn="ctr"/>
              <a:r>
                <a:rPr lang="en-US" sz="1000" dirty="0"/>
                <a:t>SAME DAY DECASH/RECASH</a:t>
              </a:r>
            </a:p>
            <a:p>
              <a:pPr algn="ctr"/>
              <a:r>
                <a:rPr lang="en-US" sz="1000" dirty="0"/>
                <a:t>AUTO LOCK DISPATCH</a:t>
              </a:r>
            </a:p>
            <a:p>
              <a:pPr algn="ctr"/>
              <a:r>
                <a:rPr lang="en-US" sz="1000" dirty="0"/>
                <a:t>REQUIRED DEPOSITS</a:t>
              </a:r>
            </a:p>
            <a:p>
              <a:pPr algn="ctr"/>
              <a:r>
                <a:rPr lang="en-US" sz="1000" dirty="0"/>
                <a:t>SERVICE CHECKLISTS</a:t>
              </a:r>
            </a:p>
          </p:txBody>
        </p: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3859F94F-C146-C965-0B8A-C55FA1060BF8}"/>
              </a:ext>
            </a:extLst>
          </p:cNvPr>
          <p:cNvGrpSpPr/>
          <p:nvPr/>
        </p:nvGrpSpPr>
        <p:grpSpPr>
          <a:xfrm>
            <a:off x="6643699" y="4141956"/>
            <a:ext cx="1762935" cy="1318591"/>
            <a:chOff x="8190444" y="6982195"/>
            <a:chExt cx="1456080" cy="1318591"/>
          </a:xfrm>
        </p:grpSpPr>
        <p:sp>
          <p:nvSpPr>
            <p:cNvPr id="65" name="Rectangle: Rounded Corners 64">
              <a:extLst>
                <a:ext uri="{FF2B5EF4-FFF2-40B4-BE49-F238E27FC236}">
                  <a16:creationId xmlns:a16="http://schemas.microsoft.com/office/drawing/2014/main" id="{0A7231E0-CEE4-66A4-9CFC-F98E1ACFA999}"/>
                </a:ext>
              </a:extLst>
            </p:cNvPr>
            <p:cNvSpPr/>
            <p:nvPr/>
          </p:nvSpPr>
          <p:spPr>
            <a:xfrm>
              <a:off x="8190445" y="7419517"/>
              <a:ext cx="1456079" cy="881269"/>
            </a:xfrm>
            <a:prstGeom prst="roundRect">
              <a:avLst>
                <a:gd name="adj" fmla="val 7644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b"/>
            <a:lstStyle/>
            <a:p>
              <a:pPr algn="ctr"/>
              <a:r>
                <a:rPr lang="en-US" sz="1100" dirty="0"/>
                <a:t>SERVICE FLM/SLM</a:t>
              </a:r>
            </a:p>
          </p:txBody>
        </p:sp>
        <p:sp>
          <p:nvSpPr>
            <p:cNvPr id="66" name="Rectangle: Rounded Corners 65">
              <a:extLst>
                <a:ext uri="{FF2B5EF4-FFF2-40B4-BE49-F238E27FC236}">
                  <a16:creationId xmlns:a16="http://schemas.microsoft.com/office/drawing/2014/main" id="{9CD7F6E8-4734-973D-920C-7B23A58CCB34}"/>
                </a:ext>
              </a:extLst>
            </p:cNvPr>
            <p:cNvSpPr/>
            <p:nvPr/>
          </p:nvSpPr>
          <p:spPr>
            <a:xfrm>
              <a:off x="8190444" y="6982195"/>
              <a:ext cx="1456079" cy="881269"/>
            </a:xfrm>
            <a:prstGeom prst="roundRect">
              <a:avLst>
                <a:gd name="adj" fmla="val 7644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b"/>
            <a:lstStyle/>
            <a:p>
              <a:pPr algn="ctr"/>
              <a:r>
                <a:rPr lang="en-US" sz="1000" dirty="0"/>
                <a:t>CUSTOMIZABLE MODEL</a:t>
              </a:r>
            </a:p>
            <a:p>
              <a:pPr algn="ctr"/>
              <a:r>
                <a:rPr lang="en-US" sz="1000" dirty="0"/>
                <a:t>AUTO TICKET ASSIGN</a:t>
              </a:r>
            </a:p>
            <a:p>
              <a:pPr algn="ctr"/>
              <a:r>
                <a:rPr lang="en-US" sz="1000" dirty="0"/>
                <a:t>EXTERNAL COORDINATION</a:t>
              </a:r>
            </a:p>
            <a:p>
              <a:pPr algn="ctr"/>
              <a:r>
                <a:rPr lang="en-US" sz="1000" dirty="0"/>
                <a:t>CUSTOMER CREATION</a:t>
              </a:r>
            </a:p>
            <a:p>
              <a:pPr algn="ctr"/>
              <a:r>
                <a:rPr lang="en-US" sz="1000" dirty="0"/>
                <a:t>ROUTE ASSIGNMENTS</a:t>
              </a:r>
            </a:p>
          </p:txBody>
        </p: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E3741C32-E551-DA86-8CF7-DCE756207B4B}"/>
              </a:ext>
            </a:extLst>
          </p:cNvPr>
          <p:cNvGrpSpPr/>
          <p:nvPr/>
        </p:nvGrpSpPr>
        <p:grpSpPr>
          <a:xfrm>
            <a:off x="10380286" y="4141956"/>
            <a:ext cx="1762935" cy="1318591"/>
            <a:chOff x="9747776" y="6978882"/>
            <a:chExt cx="1456080" cy="1318591"/>
          </a:xfrm>
        </p:grpSpPr>
        <p:sp>
          <p:nvSpPr>
            <p:cNvPr id="67" name="Rectangle: Rounded Corners 66">
              <a:extLst>
                <a:ext uri="{FF2B5EF4-FFF2-40B4-BE49-F238E27FC236}">
                  <a16:creationId xmlns:a16="http://schemas.microsoft.com/office/drawing/2014/main" id="{42D14063-9790-2592-5AC9-8F6EE3FF8073}"/>
                </a:ext>
              </a:extLst>
            </p:cNvPr>
            <p:cNvSpPr/>
            <p:nvPr/>
          </p:nvSpPr>
          <p:spPr>
            <a:xfrm>
              <a:off x="9747777" y="7416204"/>
              <a:ext cx="1456079" cy="881269"/>
            </a:xfrm>
            <a:prstGeom prst="roundRect">
              <a:avLst>
                <a:gd name="adj" fmla="val 7644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b"/>
            <a:lstStyle/>
            <a:p>
              <a:pPr algn="ctr"/>
              <a:r>
                <a:rPr lang="en-US" sz="1100" dirty="0"/>
                <a:t>ANALYTICS</a:t>
              </a:r>
            </a:p>
          </p:txBody>
        </p:sp>
        <p:sp>
          <p:nvSpPr>
            <p:cNvPr id="68" name="Rectangle: Rounded Corners 67">
              <a:extLst>
                <a:ext uri="{FF2B5EF4-FFF2-40B4-BE49-F238E27FC236}">
                  <a16:creationId xmlns:a16="http://schemas.microsoft.com/office/drawing/2014/main" id="{1FDEB61E-B972-DCB1-21D9-0B451B74B89B}"/>
                </a:ext>
              </a:extLst>
            </p:cNvPr>
            <p:cNvSpPr/>
            <p:nvPr/>
          </p:nvSpPr>
          <p:spPr>
            <a:xfrm>
              <a:off x="9747776" y="6978882"/>
              <a:ext cx="1456079" cy="881269"/>
            </a:xfrm>
            <a:prstGeom prst="roundRect">
              <a:avLst>
                <a:gd name="adj" fmla="val 7644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b"/>
            <a:lstStyle/>
            <a:p>
              <a:pPr algn="ctr"/>
              <a:r>
                <a:rPr lang="en-US" sz="1000" dirty="0"/>
                <a:t>TOP PERFORMERS</a:t>
              </a:r>
            </a:p>
            <a:p>
              <a:pPr algn="ctr"/>
              <a:r>
                <a:rPr lang="en-US" sz="1000" dirty="0"/>
                <a:t>ROUTE/STOP TIMING</a:t>
              </a:r>
            </a:p>
            <a:p>
              <a:pPr algn="ctr"/>
              <a:r>
                <a:rPr lang="en-US" sz="1000" dirty="0"/>
                <a:t> UTILIZATION TRENDING</a:t>
              </a:r>
            </a:p>
            <a:p>
              <a:pPr algn="ctr"/>
              <a:r>
                <a:rPr lang="en-US" sz="1000" dirty="0"/>
                <a:t>SERVICE REPONSE</a:t>
              </a:r>
            </a:p>
            <a:p>
              <a:pPr algn="ctr"/>
              <a:r>
                <a:rPr lang="en-US" sz="1000" dirty="0"/>
                <a:t>FIELD/VAULT COMPLIANCE</a:t>
              </a:r>
            </a:p>
          </p:txBody>
        </p: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ED70DCC1-1413-7DCA-CC7B-CF1C10ACC3DB}"/>
              </a:ext>
            </a:extLst>
          </p:cNvPr>
          <p:cNvGrpSpPr/>
          <p:nvPr/>
        </p:nvGrpSpPr>
        <p:grpSpPr>
          <a:xfrm>
            <a:off x="12248578" y="4141956"/>
            <a:ext cx="1762935" cy="1318591"/>
            <a:chOff x="11305107" y="6992134"/>
            <a:chExt cx="1456080" cy="1318591"/>
          </a:xfrm>
        </p:grpSpPr>
        <p:sp>
          <p:nvSpPr>
            <p:cNvPr id="69" name="Rectangle: Rounded Corners 68">
              <a:extLst>
                <a:ext uri="{FF2B5EF4-FFF2-40B4-BE49-F238E27FC236}">
                  <a16:creationId xmlns:a16="http://schemas.microsoft.com/office/drawing/2014/main" id="{18F574F6-FD84-24CA-1AC0-E1B377EDE80D}"/>
                </a:ext>
              </a:extLst>
            </p:cNvPr>
            <p:cNvSpPr/>
            <p:nvPr/>
          </p:nvSpPr>
          <p:spPr>
            <a:xfrm>
              <a:off x="11305108" y="7429456"/>
              <a:ext cx="1456079" cy="881269"/>
            </a:xfrm>
            <a:prstGeom prst="roundRect">
              <a:avLst>
                <a:gd name="adj" fmla="val 7644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b"/>
            <a:lstStyle/>
            <a:p>
              <a:pPr algn="ctr"/>
              <a:r>
                <a:rPr lang="en-US" sz="1100" dirty="0"/>
                <a:t>INTEGRATIONS</a:t>
              </a:r>
            </a:p>
          </p:txBody>
        </p:sp>
        <p:sp>
          <p:nvSpPr>
            <p:cNvPr id="70" name="Rectangle: Rounded Corners 69">
              <a:extLst>
                <a:ext uri="{FF2B5EF4-FFF2-40B4-BE49-F238E27FC236}">
                  <a16:creationId xmlns:a16="http://schemas.microsoft.com/office/drawing/2014/main" id="{D99985F1-4365-7EDD-9D7E-D2F198321ED7}"/>
                </a:ext>
              </a:extLst>
            </p:cNvPr>
            <p:cNvSpPr/>
            <p:nvPr/>
          </p:nvSpPr>
          <p:spPr>
            <a:xfrm>
              <a:off x="11305107" y="6992134"/>
              <a:ext cx="1456079" cy="881269"/>
            </a:xfrm>
            <a:prstGeom prst="roundRect">
              <a:avLst>
                <a:gd name="adj" fmla="val 7644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b"/>
            <a:lstStyle/>
            <a:p>
              <a:pPr algn="ctr"/>
              <a:r>
                <a:rPr lang="en-US" sz="1000" dirty="0"/>
                <a:t>CURRENCY PLATFORMS</a:t>
              </a:r>
            </a:p>
            <a:p>
              <a:pPr algn="ctr"/>
              <a:r>
                <a:rPr lang="en-US" sz="1000" dirty="0"/>
                <a:t>BLUETOOTH DEVICES</a:t>
              </a:r>
            </a:p>
            <a:p>
              <a:pPr algn="ctr"/>
              <a:r>
                <a:rPr lang="en-US" sz="1000" dirty="0"/>
                <a:t>CASH SORTERS</a:t>
              </a:r>
            </a:p>
            <a:p>
              <a:pPr algn="ctr"/>
              <a:r>
                <a:rPr lang="en-US" sz="1000" dirty="0"/>
                <a:t>BANK/FI PLATFORMS</a:t>
              </a:r>
            </a:p>
            <a:p>
              <a:pPr algn="ctr"/>
              <a:r>
                <a:rPr lang="en-US" sz="1000" dirty="0"/>
                <a:t>ENTERPRISE SYSTEMS</a:t>
              </a:r>
            </a:p>
          </p:txBody>
        </p: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C131D4AB-C95A-F5CB-6925-53DD4292BCF2}"/>
              </a:ext>
            </a:extLst>
          </p:cNvPr>
          <p:cNvGrpSpPr/>
          <p:nvPr/>
        </p:nvGrpSpPr>
        <p:grpSpPr>
          <a:xfrm>
            <a:off x="8511993" y="4141956"/>
            <a:ext cx="1762935" cy="1318591"/>
            <a:chOff x="8190444" y="6982195"/>
            <a:chExt cx="1456080" cy="1318591"/>
          </a:xfrm>
        </p:grpSpPr>
        <p:sp>
          <p:nvSpPr>
            <p:cNvPr id="83" name="Rectangle: Rounded Corners 82">
              <a:extLst>
                <a:ext uri="{FF2B5EF4-FFF2-40B4-BE49-F238E27FC236}">
                  <a16:creationId xmlns:a16="http://schemas.microsoft.com/office/drawing/2014/main" id="{5023C466-9D6C-E738-609E-AD86873E40EF}"/>
                </a:ext>
              </a:extLst>
            </p:cNvPr>
            <p:cNvSpPr/>
            <p:nvPr/>
          </p:nvSpPr>
          <p:spPr>
            <a:xfrm>
              <a:off x="8190445" y="7419517"/>
              <a:ext cx="1456079" cy="881269"/>
            </a:xfrm>
            <a:prstGeom prst="roundRect">
              <a:avLst>
                <a:gd name="adj" fmla="val 7644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b"/>
            <a:lstStyle/>
            <a:p>
              <a:pPr algn="ctr"/>
              <a:r>
                <a:rPr lang="en-US" sz="1100" dirty="0"/>
                <a:t>BILLING</a:t>
              </a:r>
            </a:p>
          </p:txBody>
        </p:sp>
        <p:sp>
          <p:nvSpPr>
            <p:cNvPr id="84" name="Rectangle: Rounded Corners 83">
              <a:extLst>
                <a:ext uri="{FF2B5EF4-FFF2-40B4-BE49-F238E27FC236}">
                  <a16:creationId xmlns:a16="http://schemas.microsoft.com/office/drawing/2014/main" id="{931846E9-7640-1C41-54BB-5CE7BA561E77}"/>
                </a:ext>
              </a:extLst>
            </p:cNvPr>
            <p:cNvSpPr/>
            <p:nvPr/>
          </p:nvSpPr>
          <p:spPr>
            <a:xfrm>
              <a:off x="8190444" y="6982195"/>
              <a:ext cx="1456079" cy="881269"/>
            </a:xfrm>
            <a:prstGeom prst="roundRect">
              <a:avLst>
                <a:gd name="adj" fmla="val 7644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b"/>
            <a:lstStyle/>
            <a:p>
              <a:pPr algn="ctr"/>
              <a:r>
                <a:rPr lang="en-US" sz="1000" dirty="0"/>
                <a:t>REAL-TIME EVENT BILLING</a:t>
              </a:r>
            </a:p>
            <a:p>
              <a:pPr algn="ctr"/>
              <a:r>
                <a:rPr lang="en-US" sz="1000" dirty="0"/>
                <a:t>ANY SERVICE CAPABLE</a:t>
              </a:r>
            </a:p>
            <a:p>
              <a:pPr algn="ctr"/>
              <a:r>
                <a:rPr lang="en-US" sz="1000" dirty="0"/>
                <a:t>MISSED BILLABLE EVENTS</a:t>
              </a:r>
            </a:p>
            <a:p>
              <a:pPr algn="ctr"/>
              <a:r>
                <a:rPr lang="en-US" sz="1000" dirty="0"/>
                <a:t>CUSTOMER SHARABLE</a:t>
              </a:r>
            </a:p>
            <a:p>
              <a:pPr algn="ctr"/>
              <a:r>
                <a:rPr lang="en-US" sz="1000" dirty="0"/>
                <a:t>EXPORTABLE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094206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F2542A9-68E5-6437-C808-F12A803AA8D6}"/>
              </a:ext>
            </a:extLst>
          </p:cNvPr>
          <p:cNvSpPr/>
          <p:nvPr/>
        </p:nvSpPr>
        <p:spPr>
          <a:xfrm>
            <a:off x="2176671" y="3170583"/>
            <a:ext cx="884583" cy="8746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b"/>
          <a:lstStyle/>
          <a:p>
            <a:pPr algn="ctr"/>
            <a:r>
              <a:rPr lang="en-US" sz="1100" dirty="0"/>
              <a:t>CUSTOMERS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E4720BE-F5F8-0785-1E70-8271AFC72651}"/>
              </a:ext>
            </a:extLst>
          </p:cNvPr>
          <p:cNvSpPr/>
          <p:nvPr/>
        </p:nvSpPr>
        <p:spPr>
          <a:xfrm>
            <a:off x="4825452" y="3170583"/>
            <a:ext cx="884583" cy="8746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b"/>
          <a:lstStyle/>
          <a:p>
            <a:pPr algn="ctr"/>
            <a:r>
              <a:rPr lang="en-US" sz="1100" dirty="0"/>
              <a:t>SHIPMENTS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82545C5-DC63-0E78-5518-EE150DEE39E0}"/>
              </a:ext>
            </a:extLst>
          </p:cNvPr>
          <p:cNvSpPr/>
          <p:nvPr/>
        </p:nvSpPr>
        <p:spPr>
          <a:xfrm>
            <a:off x="5715002" y="3170583"/>
            <a:ext cx="884583" cy="8746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b"/>
          <a:lstStyle/>
          <a:p>
            <a:pPr algn="ctr"/>
            <a:r>
              <a:rPr lang="en-US" sz="1100" dirty="0"/>
              <a:t>STOPS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B280831-9AFF-B57D-0310-C6DD72CFF740}"/>
              </a:ext>
            </a:extLst>
          </p:cNvPr>
          <p:cNvSpPr/>
          <p:nvPr/>
        </p:nvSpPr>
        <p:spPr>
          <a:xfrm>
            <a:off x="8363784" y="3170583"/>
            <a:ext cx="884583" cy="8746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b"/>
          <a:lstStyle/>
          <a:p>
            <a:pPr algn="ctr"/>
            <a:r>
              <a:rPr lang="en-US" sz="1100" dirty="0"/>
              <a:t>FIELD USERS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4495D30-7344-06CD-1832-80C40783E052}"/>
              </a:ext>
            </a:extLst>
          </p:cNvPr>
          <p:cNvSpPr/>
          <p:nvPr/>
        </p:nvSpPr>
        <p:spPr>
          <a:xfrm>
            <a:off x="7486654" y="3170583"/>
            <a:ext cx="884583" cy="8746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b"/>
          <a:lstStyle/>
          <a:p>
            <a:pPr algn="ctr"/>
            <a:r>
              <a:rPr lang="en-US" sz="1100" dirty="0"/>
              <a:t>TRUCKS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7A16AE1-15B0-E5CD-5098-5C6ED7569BF8}"/>
              </a:ext>
            </a:extLst>
          </p:cNvPr>
          <p:cNvSpPr/>
          <p:nvPr/>
        </p:nvSpPr>
        <p:spPr>
          <a:xfrm>
            <a:off x="3940869" y="3170583"/>
            <a:ext cx="884583" cy="8746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b"/>
          <a:lstStyle/>
          <a:p>
            <a:pPr algn="ctr"/>
            <a:r>
              <a:rPr lang="en-US" sz="1100" dirty="0"/>
              <a:t>LOCATIONS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2A52B26-2140-BC2D-61A9-0741264FE93D}"/>
              </a:ext>
            </a:extLst>
          </p:cNvPr>
          <p:cNvSpPr/>
          <p:nvPr/>
        </p:nvSpPr>
        <p:spPr>
          <a:xfrm>
            <a:off x="6594618" y="3170583"/>
            <a:ext cx="884583" cy="8746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b"/>
          <a:lstStyle/>
          <a:p>
            <a:pPr algn="ctr"/>
            <a:r>
              <a:rPr lang="en-US" sz="1100" dirty="0"/>
              <a:t>ROUTES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A475E99-6F9D-AA38-0A56-FE819644CCFC}"/>
              </a:ext>
            </a:extLst>
          </p:cNvPr>
          <p:cNvSpPr/>
          <p:nvPr/>
        </p:nvSpPr>
        <p:spPr>
          <a:xfrm>
            <a:off x="1294568" y="3170583"/>
            <a:ext cx="884583" cy="8746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b"/>
          <a:lstStyle/>
          <a:p>
            <a:pPr algn="ctr"/>
            <a:r>
              <a:rPr lang="en-US" sz="1100" dirty="0"/>
              <a:t>CASH VAULTS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023248-C450-68EA-BF99-C32E309AE93C}"/>
              </a:ext>
            </a:extLst>
          </p:cNvPr>
          <p:cNvSpPr/>
          <p:nvPr/>
        </p:nvSpPr>
        <p:spPr>
          <a:xfrm>
            <a:off x="4825452" y="2295939"/>
            <a:ext cx="884583" cy="8746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b"/>
          <a:lstStyle/>
          <a:p>
            <a:pPr algn="ctr"/>
            <a:r>
              <a:rPr lang="en-US" sz="1000" dirty="0"/>
              <a:t>FORECAST/</a:t>
            </a:r>
          </a:p>
          <a:p>
            <a:pPr algn="ctr"/>
            <a:r>
              <a:rPr lang="en-US" sz="1000" dirty="0"/>
              <a:t>AUTO CREATE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D49232F-82E5-7187-B02F-D702544FB39D}"/>
              </a:ext>
            </a:extLst>
          </p:cNvPr>
          <p:cNvSpPr/>
          <p:nvPr/>
        </p:nvSpPr>
        <p:spPr>
          <a:xfrm>
            <a:off x="3056286" y="2295939"/>
            <a:ext cx="884583" cy="8746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b"/>
          <a:lstStyle/>
          <a:p>
            <a:pPr algn="ctr"/>
            <a:r>
              <a:rPr lang="en-US" sz="1000" dirty="0"/>
              <a:t>REAL TIME</a:t>
            </a:r>
          </a:p>
          <a:p>
            <a:pPr algn="ctr"/>
            <a:r>
              <a:rPr lang="en-US" sz="1000" dirty="0"/>
              <a:t>BILLING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399BC6A-4C4C-158F-15F1-7DEA95C08444}"/>
              </a:ext>
            </a:extLst>
          </p:cNvPr>
          <p:cNvSpPr/>
          <p:nvPr/>
        </p:nvSpPr>
        <p:spPr>
          <a:xfrm>
            <a:off x="405030" y="4048540"/>
            <a:ext cx="11502049" cy="4439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000" dirty="0"/>
              <a:t>CUSTODY CONTROLS | OPERATIONS + LIABILITY ENFORCEMENTS | COMPLETE AUDIT TRAILS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BF91280-4D1B-BDC7-47AD-4245A4F33D3B}"/>
              </a:ext>
            </a:extLst>
          </p:cNvPr>
          <p:cNvSpPr/>
          <p:nvPr/>
        </p:nvSpPr>
        <p:spPr>
          <a:xfrm>
            <a:off x="11022496" y="3170583"/>
            <a:ext cx="884583" cy="8746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b"/>
          <a:lstStyle/>
          <a:p>
            <a:pPr algn="ctr"/>
            <a:r>
              <a:rPr lang="en-US" sz="1000" dirty="0"/>
              <a:t>SERVICE</a:t>
            </a:r>
          </a:p>
          <a:p>
            <a:pPr algn="ctr"/>
            <a:r>
              <a:rPr lang="en-US" sz="1000" dirty="0"/>
              <a:t>FLM/SLM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DD4163C-BB33-8371-680E-2491C00089F1}"/>
              </a:ext>
            </a:extLst>
          </p:cNvPr>
          <p:cNvSpPr/>
          <p:nvPr/>
        </p:nvSpPr>
        <p:spPr>
          <a:xfrm>
            <a:off x="9248371" y="3170583"/>
            <a:ext cx="884583" cy="8746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b"/>
          <a:lstStyle/>
          <a:p>
            <a:pPr algn="ctr"/>
            <a:r>
              <a:rPr lang="en-US" sz="1100" dirty="0"/>
              <a:t>CIT/FI</a:t>
            </a:r>
          </a:p>
          <a:p>
            <a:pPr algn="ctr"/>
            <a:r>
              <a:rPr lang="en-US" sz="1100" dirty="0"/>
              <a:t>DEPOSITS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45FA058-596F-0F8D-378B-4DFB6BFCDAC6}"/>
              </a:ext>
            </a:extLst>
          </p:cNvPr>
          <p:cNvSpPr/>
          <p:nvPr/>
        </p:nvSpPr>
        <p:spPr>
          <a:xfrm>
            <a:off x="3056286" y="3170583"/>
            <a:ext cx="884583" cy="8746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b"/>
          <a:lstStyle/>
          <a:p>
            <a:pPr algn="ctr"/>
            <a:r>
              <a:rPr lang="en-US" sz="1100" dirty="0"/>
              <a:t>CONTRACTS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D838CAE-4A97-40B7-749E-AE13AD93B316}"/>
              </a:ext>
            </a:extLst>
          </p:cNvPr>
          <p:cNvSpPr/>
          <p:nvPr/>
        </p:nvSpPr>
        <p:spPr>
          <a:xfrm>
            <a:off x="10132958" y="2295939"/>
            <a:ext cx="884583" cy="8746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b"/>
          <a:lstStyle/>
          <a:p>
            <a:pPr algn="ctr"/>
            <a:r>
              <a:rPr lang="en-US" sz="1000" dirty="0"/>
              <a:t>AUTO LOCK </a:t>
            </a:r>
          </a:p>
          <a:p>
            <a:pPr algn="ctr"/>
            <a:r>
              <a:rPr lang="en-US" sz="1000" dirty="0"/>
              <a:t>DISPATCH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C8A0451-9C22-FFC3-95A7-4F68926A0172}"/>
              </a:ext>
            </a:extLst>
          </p:cNvPr>
          <p:cNvSpPr/>
          <p:nvPr/>
        </p:nvSpPr>
        <p:spPr>
          <a:xfrm>
            <a:off x="405030" y="3170583"/>
            <a:ext cx="884583" cy="8746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b"/>
          <a:lstStyle/>
          <a:p>
            <a:pPr algn="ctr"/>
            <a:r>
              <a:rPr lang="en-US" sz="1100" dirty="0"/>
              <a:t>BRANCHES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43B4F32-582D-5899-ED15-C521702EB890}"/>
              </a:ext>
            </a:extLst>
          </p:cNvPr>
          <p:cNvSpPr/>
          <p:nvPr/>
        </p:nvSpPr>
        <p:spPr>
          <a:xfrm>
            <a:off x="7486654" y="2295939"/>
            <a:ext cx="884583" cy="8746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b"/>
          <a:lstStyle/>
          <a:p>
            <a:pPr algn="ctr"/>
            <a:r>
              <a:rPr lang="en-US" sz="1000" dirty="0"/>
              <a:t>CAGES/SAFES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F0AE00A-09D6-456C-4D4A-522B7B597EEF}"/>
              </a:ext>
            </a:extLst>
          </p:cNvPr>
          <p:cNvSpPr/>
          <p:nvPr/>
        </p:nvSpPr>
        <p:spPr>
          <a:xfrm>
            <a:off x="5715002" y="2295939"/>
            <a:ext cx="884583" cy="8746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b"/>
          <a:lstStyle/>
          <a:p>
            <a:pPr algn="ctr"/>
            <a:r>
              <a:rPr lang="en-US" sz="1000" dirty="0"/>
              <a:t>ORDER-BASED</a:t>
            </a:r>
          </a:p>
          <a:p>
            <a:pPr algn="ctr"/>
            <a:r>
              <a:rPr lang="en-US" sz="1000" dirty="0"/>
              <a:t>WORKFLOWS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E61558B-32F6-E521-0FAD-006FB774F3C9}"/>
              </a:ext>
            </a:extLst>
          </p:cNvPr>
          <p:cNvSpPr/>
          <p:nvPr/>
        </p:nvSpPr>
        <p:spPr>
          <a:xfrm>
            <a:off x="1294568" y="2295939"/>
            <a:ext cx="884583" cy="8746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b"/>
          <a:lstStyle/>
          <a:p>
            <a:pPr algn="ctr"/>
            <a:r>
              <a:rPr lang="en-US" sz="1000" dirty="0"/>
              <a:t>BANK/FI</a:t>
            </a:r>
          </a:p>
          <a:p>
            <a:pPr algn="ctr"/>
            <a:r>
              <a:rPr lang="en-US" sz="1000" dirty="0"/>
              <a:t> ORDERING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2790E5C-72F0-E35C-C64A-681CB40857F8}"/>
              </a:ext>
            </a:extLst>
          </p:cNvPr>
          <p:cNvSpPr/>
          <p:nvPr/>
        </p:nvSpPr>
        <p:spPr>
          <a:xfrm>
            <a:off x="2176671" y="2295939"/>
            <a:ext cx="884583" cy="8746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b"/>
          <a:lstStyle/>
          <a:p>
            <a:pPr algn="ctr"/>
            <a:r>
              <a:rPr lang="en-US" sz="1000" dirty="0"/>
              <a:t>REAL-TIME</a:t>
            </a:r>
          </a:p>
          <a:p>
            <a:pPr algn="ctr"/>
            <a:r>
              <a:rPr lang="en-US" sz="1000" dirty="0"/>
              <a:t>PICKUP REQUESTS</a:t>
            </a:r>
          </a:p>
          <a:p>
            <a:pPr algn="ctr"/>
            <a:r>
              <a:rPr lang="en-US" sz="1000" dirty="0"/>
              <a:t>NOTIFICATIONS</a:t>
            </a:r>
          </a:p>
          <a:p>
            <a:pPr algn="ctr"/>
            <a:r>
              <a:rPr lang="en-US" sz="1000" dirty="0"/>
              <a:t>RECEIPTS</a:t>
            </a:r>
          </a:p>
          <a:p>
            <a:pPr algn="ctr"/>
            <a:r>
              <a:rPr lang="en-US" sz="1000" dirty="0"/>
              <a:t>MANIFESTS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058D601-628D-3E76-B174-17C8C9A05EE9}"/>
              </a:ext>
            </a:extLst>
          </p:cNvPr>
          <p:cNvSpPr/>
          <p:nvPr/>
        </p:nvSpPr>
        <p:spPr>
          <a:xfrm>
            <a:off x="6594618" y="2295939"/>
            <a:ext cx="884583" cy="8746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b"/>
          <a:lstStyle/>
          <a:p>
            <a:pPr algn="ctr"/>
            <a:r>
              <a:rPr lang="en-US" sz="1000" dirty="0"/>
              <a:t>AUTO ROUTING</a:t>
            </a:r>
          </a:p>
          <a:p>
            <a:pPr algn="ctr"/>
            <a:r>
              <a:rPr lang="en-US" sz="1000" dirty="0"/>
              <a:t>AUTO OPTIMIZE</a:t>
            </a:r>
          </a:p>
          <a:p>
            <a:pPr algn="ctr"/>
            <a:r>
              <a:rPr lang="en-US" sz="1000" dirty="0"/>
              <a:t>ETA TRACKING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7C4087E-2A75-C18E-4E97-CBA65D5482F3}"/>
              </a:ext>
            </a:extLst>
          </p:cNvPr>
          <p:cNvSpPr/>
          <p:nvPr/>
        </p:nvSpPr>
        <p:spPr>
          <a:xfrm>
            <a:off x="8363784" y="2295939"/>
            <a:ext cx="884583" cy="8746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b"/>
          <a:lstStyle/>
          <a:p>
            <a:pPr algn="ctr"/>
            <a:r>
              <a:rPr lang="en-US" sz="1000" dirty="0"/>
              <a:t>USER</a:t>
            </a:r>
          </a:p>
          <a:p>
            <a:pPr algn="ctr"/>
            <a:r>
              <a:rPr lang="en-US" sz="1000" dirty="0"/>
              <a:t>PERMISSIONS</a:t>
            </a:r>
          </a:p>
          <a:p>
            <a:pPr algn="ctr"/>
            <a:r>
              <a:rPr lang="en-US" sz="1000" dirty="0"/>
              <a:t>PERIPHERALS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813F181-2EDA-28B6-53FB-2480E524BC71}"/>
              </a:ext>
            </a:extLst>
          </p:cNvPr>
          <p:cNvSpPr/>
          <p:nvPr/>
        </p:nvSpPr>
        <p:spPr>
          <a:xfrm>
            <a:off x="405030" y="4482549"/>
            <a:ext cx="11502049" cy="4439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000" dirty="0"/>
              <a:t>REPORTING/ANALYTICS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6BB034D-6964-310F-A3FE-EF0613EADBC3}"/>
              </a:ext>
            </a:extLst>
          </p:cNvPr>
          <p:cNvSpPr/>
          <p:nvPr/>
        </p:nvSpPr>
        <p:spPr>
          <a:xfrm>
            <a:off x="9248371" y="2295939"/>
            <a:ext cx="884583" cy="8746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b"/>
          <a:lstStyle/>
          <a:p>
            <a:pPr algn="ctr"/>
            <a:r>
              <a:rPr lang="en-US" sz="1100" dirty="0"/>
              <a:t>REAL-TIME</a:t>
            </a:r>
          </a:p>
          <a:p>
            <a:pPr algn="ctr"/>
            <a:r>
              <a:rPr lang="en-US" sz="1100" dirty="0"/>
              <a:t>TRACKING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86AFFBF-87A9-6F5C-3824-9F224CCBA943}"/>
              </a:ext>
            </a:extLst>
          </p:cNvPr>
          <p:cNvSpPr/>
          <p:nvPr/>
        </p:nvSpPr>
        <p:spPr>
          <a:xfrm>
            <a:off x="10132958" y="3170583"/>
            <a:ext cx="884583" cy="8746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b"/>
          <a:lstStyle/>
          <a:p>
            <a:pPr algn="ctr"/>
            <a:r>
              <a:rPr lang="en-US" sz="1100" dirty="0"/>
              <a:t>RETAIL/FI</a:t>
            </a:r>
          </a:p>
          <a:p>
            <a:pPr algn="ctr"/>
            <a:r>
              <a:rPr lang="en-US" sz="1100" dirty="0"/>
              <a:t>ATM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D07EE40-5BFF-DEDF-5041-808232E53268}"/>
              </a:ext>
            </a:extLst>
          </p:cNvPr>
          <p:cNvSpPr/>
          <p:nvPr/>
        </p:nvSpPr>
        <p:spPr>
          <a:xfrm>
            <a:off x="405030" y="2295939"/>
            <a:ext cx="884583" cy="8746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b"/>
          <a:lstStyle/>
          <a:p>
            <a:pPr algn="ctr"/>
            <a:r>
              <a:rPr lang="en-US" sz="1000" dirty="0"/>
              <a:t>CENTRALIZED</a:t>
            </a:r>
          </a:p>
          <a:p>
            <a:pPr algn="ctr"/>
            <a:r>
              <a:rPr lang="en-US" sz="1000" dirty="0"/>
              <a:t>MANAGEMENT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6E3306D-A02B-8DAE-7A83-92C56297B273}"/>
              </a:ext>
            </a:extLst>
          </p:cNvPr>
          <p:cNvSpPr/>
          <p:nvPr/>
        </p:nvSpPr>
        <p:spPr>
          <a:xfrm>
            <a:off x="403779" y="4926496"/>
            <a:ext cx="11502049" cy="4439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000" dirty="0"/>
              <a:t>INTEGRATIONS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094E2A2-C515-8258-0939-FF5CAB53E18D}"/>
              </a:ext>
            </a:extLst>
          </p:cNvPr>
          <p:cNvSpPr/>
          <p:nvPr/>
        </p:nvSpPr>
        <p:spPr>
          <a:xfrm>
            <a:off x="11022496" y="2295939"/>
            <a:ext cx="884583" cy="8746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b"/>
          <a:lstStyle/>
          <a:p>
            <a:pPr algn="ctr"/>
            <a:r>
              <a:rPr lang="en-US" sz="1000" dirty="0"/>
              <a:t>AUTO TICKET</a:t>
            </a:r>
          </a:p>
          <a:p>
            <a:pPr algn="ctr"/>
            <a:r>
              <a:rPr lang="en-US" sz="1000" dirty="0"/>
              <a:t>DISPATCH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9F17F5CD-EFB6-3CC5-7D92-5668B9C7110F}"/>
              </a:ext>
            </a:extLst>
          </p:cNvPr>
          <p:cNvSpPr/>
          <p:nvPr/>
        </p:nvSpPr>
        <p:spPr>
          <a:xfrm>
            <a:off x="3940869" y="2295939"/>
            <a:ext cx="884583" cy="8746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b"/>
          <a:lstStyle/>
          <a:p>
            <a:pPr algn="ctr"/>
            <a:r>
              <a:rPr lang="en-US" sz="1000" dirty="0"/>
              <a:t>STATIC</a:t>
            </a:r>
          </a:p>
          <a:p>
            <a:pPr algn="ctr"/>
            <a:r>
              <a:rPr lang="en-US" sz="1000" dirty="0"/>
              <a:t>RECURRING</a:t>
            </a:r>
          </a:p>
          <a:p>
            <a:pPr algn="ctr"/>
            <a:r>
              <a:rPr lang="en-US" sz="1000" dirty="0"/>
              <a:t>DYNAMIC</a:t>
            </a:r>
          </a:p>
          <a:p>
            <a:pPr algn="ctr"/>
            <a:r>
              <a:rPr lang="en-US" sz="1000" dirty="0"/>
              <a:t>ROUTING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A0C305E-2098-E764-97D4-81CD3B7EB549}"/>
              </a:ext>
            </a:extLst>
          </p:cNvPr>
          <p:cNvSpPr txBox="1"/>
          <p:nvPr/>
        </p:nvSpPr>
        <p:spPr>
          <a:xfrm>
            <a:off x="364659" y="1125595"/>
            <a:ext cx="44932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ONE PLATFORM | INFINITE EXPANSION</a:t>
            </a: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5F9D096D-2707-CCC8-55C4-D862F58270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89" y="274804"/>
            <a:ext cx="5359288" cy="847478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3FDCC73F-D739-4878-4CAD-111B358FC0AF}"/>
              </a:ext>
            </a:extLst>
          </p:cNvPr>
          <p:cNvSpPr txBox="1"/>
          <p:nvPr/>
        </p:nvSpPr>
        <p:spPr>
          <a:xfrm>
            <a:off x="3428351" y="5801140"/>
            <a:ext cx="56099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CONTINUTAL EVOLUTION  |  ITERATIVE OPTIMIZATION  |  MAXIMUM ROI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9257F14-4ECA-44E0-3D74-94ECC3F4A4DE}"/>
              </a:ext>
            </a:extLst>
          </p:cNvPr>
          <p:cNvSpPr txBox="1"/>
          <p:nvPr/>
        </p:nvSpPr>
        <p:spPr>
          <a:xfrm>
            <a:off x="6429329" y="1794147"/>
            <a:ext cx="5476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Evolve Your CIT/ATM/FLM Business Anyway </a:t>
            </a:r>
            <a:r>
              <a:rPr lang="en-US" u="sng" dirty="0"/>
              <a:t>YOU</a:t>
            </a:r>
            <a:r>
              <a:rPr lang="en-US" dirty="0"/>
              <a:t> Want</a:t>
            </a:r>
          </a:p>
        </p:txBody>
      </p:sp>
    </p:spTree>
    <p:extLst>
      <p:ext uri="{BB962C8B-B14F-4D97-AF65-F5344CB8AC3E}">
        <p14:creationId xmlns:p14="http://schemas.microsoft.com/office/powerpoint/2010/main" val="5065011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10517</TotalTime>
  <Words>1574</Words>
  <Application>Microsoft Office PowerPoint</Application>
  <PresentationFormat>Widescreen</PresentationFormat>
  <Paragraphs>538</Paragraphs>
  <Slides>16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Mike Borek</dc:creator>
  <cp:lastModifiedBy>Mike Borek</cp:lastModifiedBy>
  <cp:revision>19</cp:revision>
  <dcterms:created xsi:type="dcterms:W3CDTF">2026-04-09T22:10:04Z</dcterms:created>
  <dcterms:modified xsi:type="dcterms:W3CDTF">2026-04-25T17:33:53Z</dcterms:modified>
</cp:coreProperties>
</file>