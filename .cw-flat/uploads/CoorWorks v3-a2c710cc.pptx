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3" r:id="rId4"/>
    <p:sldId id="274" r:id="rId5"/>
    <p:sldId id="287" r:id="rId6"/>
    <p:sldId id="260" r:id="rId7"/>
    <p:sldId id="281" r:id="rId8"/>
    <p:sldId id="276" r:id="rId9"/>
    <p:sldId id="282" r:id="rId10"/>
    <p:sldId id="277" r:id="rId11"/>
    <p:sldId id="283" r:id="rId12"/>
    <p:sldId id="278" r:id="rId13"/>
    <p:sldId id="284" r:id="rId14"/>
    <p:sldId id="280" r:id="rId15"/>
    <p:sldId id="259" r:id="rId16"/>
    <p:sldId id="286" r:id="rId17"/>
    <p:sldId id="285" r:id="rId18"/>
    <p:sldId id="279" r:id="rId19"/>
    <p:sldId id="263" r:id="rId20"/>
    <p:sldId id="270" r:id="rId21"/>
    <p:sldId id="257" r:id="rId22"/>
    <p:sldId id="266" r:id="rId23"/>
    <p:sldId id="261" r:id="rId24"/>
    <p:sldId id="267" r:id="rId25"/>
    <p:sldId id="262" r:id="rId26"/>
    <p:sldId id="268" r:id="rId27"/>
    <p:sldId id="264" r:id="rId28"/>
    <p:sldId id="269" r:id="rId29"/>
    <p:sldId id="26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02072E"/>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66" d="100"/>
          <a:sy n="66" d="100"/>
        </p:scale>
        <p:origin x="490" y="5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FCC1-36C3-8F5F-A2E9-3BC0E112AF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A094B8-DEBF-9F30-0248-2079843260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2373B6-5A88-3101-36ED-BE21BAEEAEEA}"/>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84A9536B-E709-5C4A-89F0-D0E16A9E3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9F65E-296F-C756-0CB0-BDBAD6FC00DC}"/>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222042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9F08-96F4-F971-8B6B-F3CC4B6C9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EED5C-FA0E-D559-26C7-CFDB284C16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A768B-29C3-364F-EC61-5608247813F2}"/>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FBE14D58-EBD9-0420-EDC5-C2C4371C4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C6E5E-9CBB-BC0C-BB8C-0B92D7D24E44}"/>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24131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4025-0846-E445-EACA-296CC059FD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3567AE-EF1E-483D-0D34-095B9E6280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AD04C-570D-4B77-C3EE-E681B989C695}"/>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3B2EC635-AFE5-6686-9955-1B00551A8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63562-9C5C-EE77-099B-343301BCB39E}"/>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557206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4EAB-F196-A31D-039E-358B6B260D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E725C-8DC4-FCD0-DABA-91F520F554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BF0F90-F178-C40C-755F-10F159A3E3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8A8331-B360-9756-1740-47B8195E031B}"/>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F8BACBCC-59D0-D5CD-04A8-43CB5C9BEA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C6E972-0098-CFEE-6B3D-EEBCB9A55AA2}"/>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95017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67F2-8195-BA81-AB08-422AB18A11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7ED8C2-06DD-319B-6172-C88F07178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42497A-8497-2117-F006-11360A2D1C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7A0F-C4D3-9AF6-B11F-CAC24D947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82D186-3561-BC47-8C45-9061CED7A2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79FD08-5081-A253-E505-B60D2D78DDD3}"/>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8" name="Footer Placeholder 7">
            <a:extLst>
              <a:ext uri="{FF2B5EF4-FFF2-40B4-BE49-F238E27FC236}">
                <a16:creationId xmlns:a16="http://schemas.microsoft.com/office/drawing/2014/main" id="{0FC41223-2B43-FE78-CBA5-D4A76587BD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DCEA3D-D885-C011-9DF0-77CAEC369BE6}"/>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96540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CFA8-7F1E-C219-06A4-9FB78DE6D9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619F88-0D1E-F8D4-F0F1-4D10CCA0F01B}"/>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4" name="Footer Placeholder 3">
            <a:extLst>
              <a:ext uri="{FF2B5EF4-FFF2-40B4-BE49-F238E27FC236}">
                <a16:creationId xmlns:a16="http://schemas.microsoft.com/office/drawing/2014/main" id="{4E29143B-6DC6-348A-4534-F17FACDD9C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194672-1E64-5E39-BFCA-C9A80D21FF48}"/>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413232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9DB9A-6C4D-372D-D82D-2CC60457BEF7}"/>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3" name="Footer Placeholder 2">
            <a:extLst>
              <a:ext uri="{FF2B5EF4-FFF2-40B4-BE49-F238E27FC236}">
                <a16:creationId xmlns:a16="http://schemas.microsoft.com/office/drawing/2014/main" id="{F1D12E0C-910C-0D9F-B1EC-6E004E0F60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59E1BD-8C59-D466-926C-7F83031607C8}"/>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27006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44587-D9F7-4E6B-5C2D-FD56F29D8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F0B906-D213-7AF9-1CC9-63946CF507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FADC9-E22E-ED21-7863-30972EAB3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FC8B30-E8F8-5976-2814-00AFAFA67A81}"/>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B1A5B938-3CA1-C9EA-F281-14EC24FD02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D53D3A-7D6C-D757-7FB1-4C4F5A26CCE4}"/>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262030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90FD-945D-78E7-EF61-38C592E1C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5EE2B-2831-FE68-B4E7-F27855382B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CEC64F-C47D-8111-30B0-763A452F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46EA3-80A9-2482-2CB9-DC594D7EC729}"/>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DDAA08A5-57AD-8B81-2FC2-469339997E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8DDC1C-8C2D-FB7E-C517-06D72435802F}"/>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199438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809D-4889-7948-8C56-E4527C5205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8E32C3-539E-62C3-DE69-9C6EB5EA52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0E86B-7D57-CCD7-81FE-CFB919FE1006}"/>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D6237891-2CD3-0812-D9DB-FB8B1EB05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0BE11-AC47-77D0-F8B9-507AF426D243}"/>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195539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B3A89-72DF-D6C7-6EAF-E0D206DAAB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8B935E-0D9A-5C41-1238-C7A0C795B5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59422C-53DB-80C4-DABE-3ACE7466FA01}"/>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0D1961FC-0D4E-F641-0BE9-AD345CC4E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A98BC-9963-7F3A-A315-A2C5BDA278D9}"/>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641722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12EA4-0143-FA4A-48D4-3AE95DA899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1770A9-B745-520A-980E-2FD079AB2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CC785-D10D-C7C8-120A-1788EDC89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D6F24BB4-7F9C-0CFD-BABC-2243ED983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89502F-AC52-C35C-AEAC-C967BA4C31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8CCF63-9F8E-46AB-81C5-6F9D4FB72EAB}" type="slidenum">
              <a:rPr lang="en-US" smtClean="0"/>
              <a:t>‹#›</a:t>
            </a:fld>
            <a:endParaRPr lang="en-US"/>
          </a:p>
        </p:txBody>
      </p:sp>
    </p:spTree>
    <p:extLst>
      <p:ext uri="{BB962C8B-B14F-4D97-AF65-F5344CB8AC3E}">
        <p14:creationId xmlns:p14="http://schemas.microsoft.com/office/powerpoint/2010/main" val="1745874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6.jpe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e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4.png"/><Relationship Id="rId4" Type="http://schemas.openxmlformats.org/officeDocument/2006/relationships/image" Target="../media/image6.jpeg"/><Relationship Id="rId9"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Top 10 Financial Graphs Templates with Examples andSamples">
            <a:extLst>
              <a:ext uri="{FF2B5EF4-FFF2-40B4-BE49-F238E27FC236}">
                <a16:creationId xmlns:a16="http://schemas.microsoft.com/office/drawing/2014/main" id="{012AAED9-7810-E767-4424-491556FBF5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59" t="23326" r="7806" b="19401"/>
          <a:stretch>
            <a:fillRect/>
          </a:stretch>
        </p:blipFill>
        <p:spPr bwMode="auto">
          <a:xfrm>
            <a:off x="885520" y="1276797"/>
            <a:ext cx="9954117" cy="3834566"/>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286;p42">
            <a:extLst>
              <a:ext uri="{FF2B5EF4-FFF2-40B4-BE49-F238E27FC236}">
                <a16:creationId xmlns:a16="http://schemas.microsoft.com/office/drawing/2014/main" id="{F9807DBC-72AA-52CD-CA28-F53FA12DD58E}"/>
              </a:ext>
            </a:extLst>
          </p:cNvPr>
          <p:cNvPicPr preferRelativeResize="0"/>
          <p:nvPr/>
        </p:nvPicPr>
        <p:blipFill rotWithShape="1">
          <a:blip r:embed="rId3">
            <a:alphaModFix/>
          </a:blip>
          <a:srcRect/>
          <a:stretch/>
        </p:blipFill>
        <p:spPr>
          <a:xfrm>
            <a:off x="410994" y="434503"/>
            <a:ext cx="2874524" cy="467314"/>
          </a:xfrm>
          <a:prstGeom prst="rect">
            <a:avLst/>
          </a:prstGeom>
          <a:noFill/>
          <a:ln>
            <a:noFill/>
          </a:ln>
        </p:spPr>
      </p:pic>
      <p:sp>
        <p:nvSpPr>
          <p:cNvPr id="5" name="TextBox 4">
            <a:extLst>
              <a:ext uri="{FF2B5EF4-FFF2-40B4-BE49-F238E27FC236}">
                <a16:creationId xmlns:a16="http://schemas.microsoft.com/office/drawing/2014/main" id="{241799D1-4153-20D8-74FF-6423D9B21A01}"/>
              </a:ext>
            </a:extLst>
          </p:cNvPr>
          <p:cNvSpPr txBox="1"/>
          <p:nvPr/>
        </p:nvSpPr>
        <p:spPr>
          <a:xfrm>
            <a:off x="2226095" y="2348249"/>
            <a:ext cx="7739811" cy="707886"/>
          </a:xfrm>
          <a:prstGeom prst="rect">
            <a:avLst/>
          </a:prstGeom>
          <a:noFill/>
        </p:spPr>
        <p:txBody>
          <a:bodyPr wrap="none" rtlCol="0">
            <a:spAutoFit/>
          </a:bodyPr>
          <a:lstStyle/>
          <a:p>
            <a:pPr algn="ctr"/>
            <a:r>
              <a:rPr lang="en-US" sz="4000" b="1" dirty="0"/>
              <a:t>Revenue &amp; Margin Optimizations</a:t>
            </a:r>
          </a:p>
        </p:txBody>
      </p:sp>
      <p:sp>
        <p:nvSpPr>
          <p:cNvPr id="6" name="TextBox 5">
            <a:extLst>
              <a:ext uri="{FF2B5EF4-FFF2-40B4-BE49-F238E27FC236}">
                <a16:creationId xmlns:a16="http://schemas.microsoft.com/office/drawing/2014/main" id="{47357A35-1CAB-2588-ED5B-85754BC79DEB}"/>
              </a:ext>
            </a:extLst>
          </p:cNvPr>
          <p:cNvSpPr txBox="1"/>
          <p:nvPr/>
        </p:nvSpPr>
        <p:spPr>
          <a:xfrm>
            <a:off x="2762620" y="3056135"/>
            <a:ext cx="6666761" cy="369332"/>
          </a:xfrm>
          <a:prstGeom prst="rect">
            <a:avLst/>
          </a:prstGeom>
          <a:noFill/>
        </p:spPr>
        <p:txBody>
          <a:bodyPr wrap="none" rtlCol="0">
            <a:spAutoFit/>
          </a:bodyPr>
          <a:lstStyle/>
          <a:p>
            <a:r>
              <a:rPr lang="en-US" dirty="0"/>
              <a:t>platform solutions to scale margin and maximize revenue velocity</a:t>
            </a:r>
          </a:p>
        </p:txBody>
      </p:sp>
      <p:sp>
        <p:nvSpPr>
          <p:cNvPr id="12" name="TextBox 11">
            <a:extLst>
              <a:ext uri="{FF2B5EF4-FFF2-40B4-BE49-F238E27FC236}">
                <a16:creationId xmlns:a16="http://schemas.microsoft.com/office/drawing/2014/main" id="{B4D920B3-21E9-91E4-ED9F-A6056A88FF3B}"/>
              </a:ext>
            </a:extLst>
          </p:cNvPr>
          <p:cNvSpPr txBox="1"/>
          <p:nvPr/>
        </p:nvSpPr>
        <p:spPr>
          <a:xfrm>
            <a:off x="6377993" y="498883"/>
            <a:ext cx="5494517" cy="338554"/>
          </a:xfrm>
          <a:prstGeom prst="rect">
            <a:avLst/>
          </a:prstGeom>
          <a:noFill/>
        </p:spPr>
        <p:txBody>
          <a:bodyPr wrap="none" rtlCol="0">
            <a:spAutoFit/>
          </a:bodyPr>
          <a:lstStyle/>
          <a:p>
            <a:r>
              <a:rPr lang="en-US" sz="1600" dirty="0"/>
              <a:t>Techniques | Capabilities | Deliverables | Approach | Contact</a:t>
            </a:r>
          </a:p>
        </p:txBody>
      </p:sp>
      <p:sp>
        <p:nvSpPr>
          <p:cNvPr id="13" name="TextBox 12">
            <a:extLst>
              <a:ext uri="{FF2B5EF4-FFF2-40B4-BE49-F238E27FC236}">
                <a16:creationId xmlns:a16="http://schemas.microsoft.com/office/drawing/2014/main" id="{14B409E7-5C28-E0A8-5A4A-A5367B644389}"/>
              </a:ext>
            </a:extLst>
          </p:cNvPr>
          <p:cNvSpPr txBox="1"/>
          <p:nvPr/>
        </p:nvSpPr>
        <p:spPr>
          <a:xfrm>
            <a:off x="1091738" y="809483"/>
            <a:ext cx="2268714" cy="276999"/>
          </a:xfrm>
          <a:prstGeom prst="rect">
            <a:avLst/>
          </a:prstGeom>
          <a:noFill/>
        </p:spPr>
        <p:txBody>
          <a:bodyPr wrap="square" rtlCol="0">
            <a:spAutoFit/>
          </a:bodyPr>
          <a:lstStyle/>
          <a:p>
            <a:r>
              <a:rPr lang="en-US" sz="1200" dirty="0">
                <a:solidFill>
                  <a:schemeClr val="accent6"/>
                </a:solidFill>
              </a:rPr>
              <a:t>achieve breakthrough results</a:t>
            </a:r>
          </a:p>
        </p:txBody>
      </p:sp>
      <p:sp>
        <p:nvSpPr>
          <p:cNvPr id="14" name="TextBox 13">
            <a:extLst>
              <a:ext uri="{FF2B5EF4-FFF2-40B4-BE49-F238E27FC236}">
                <a16:creationId xmlns:a16="http://schemas.microsoft.com/office/drawing/2014/main" id="{E4BC294A-EB70-2838-1F11-8E9BB82DE902}"/>
              </a:ext>
            </a:extLst>
          </p:cNvPr>
          <p:cNvSpPr txBox="1"/>
          <p:nvPr/>
        </p:nvSpPr>
        <p:spPr>
          <a:xfrm>
            <a:off x="3266090" y="5267770"/>
            <a:ext cx="5659819" cy="307777"/>
          </a:xfrm>
          <a:prstGeom prst="rect">
            <a:avLst/>
          </a:prstGeom>
          <a:noFill/>
        </p:spPr>
        <p:txBody>
          <a:bodyPr wrap="none" rtlCol="0">
            <a:spAutoFit/>
          </a:bodyPr>
          <a:lstStyle/>
          <a:p>
            <a:pPr algn="ctr"/>
            <a:r>
              <a:rPr lang="en-US" sz="1400" dirty="0"/>
              <a:t>Companies | Business Lines | Programs | New Ventures | Whole Markets</a:t>
            </a:r>
          </a:p>
        </p:txBody>
      </p:sp>
      <p:sp>
        <p:nvSpPr>
          <p:cNvPr id="15" name="TextBox 14">
            <a:extLst>
              <a:ext uri="{FF2B5EF4-FFF2-40B4-BE49-F238E27FC236}">
                <a16:creationId xmlns:a16="http://schemas.microsoft.com/office/drawing/2014/main" id="{DB9B62CA-57C7-D232-AA58-ED04D9CF494A}"/>
              </a:ext>
            </a:extLst>
          </p:cNvPr>
          <p:cNvSpPr txBox="1"/>
          <p:nvPr/>
        </p:nvSpPr>
        <p:spPr>
          <a:xfrm>
            <a:off x="410994" y="6048517"/>
            <a:ext cx="11728173" cy="584775"/>
          </a:xfrm>
          <a:prstGeom prst="rect">
            <a:avLst/>
          </a:prstGeom>
          <a:noFill/>
        </p:spPr>
        <p:txBody>
          <a:bodyPr wrap="square" rtlCol="0">
            <a:spAutoFit/>
          </a:bodyPr>
          <a:lstStyle/>
          <a:p>
            <a:r>
              <a:rPr lang="en-US" sz="1600" dirty="0">
                <a:solidFill>
                  <a:srgbClr val="FF0000"/>
                </a:solidFill>
              </a:rPr>
              <a:t>{want a graph underneath the main Hero text like this but want to show cost going down (the red area) and revenue going up (green area). Would like it to be more pronounced like a big improvement in both has occurred (start towards middle point of hero of text)}</a:t>
            </a:r>
          </a:p>
        </p:txBody>
      </p:sp>
    </p:spTree>
    <p:extLst>
      <p:ext uri="{BB962C8B-B14F-4D97-AF65-F5344CB8AC3E}">
        <p14:creationId xmlns:p14="http://schemas.microsoft.com/office/powerpoint/2010/main" val="2210836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84210-45DB-9B4E-F10D-A8E2A3198ED2}"/>
              </a:ext>
            </a:extLst>
          </p:cNvPr>
          <p:cNvSpPr txBox="1"/>
          <p:nvPr/>
        </p:nvSpPr>
        <p:spPr>
          <a:xfrm>
            <a:off x="3891280" y="2471678"/>
            <a:ext cx="353568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Market Expansions</a:t>
            </a:r>
          </a:p>
          <a:p>
            <a:pPr marL="285750" indent="-285750">
              <a:buFont typeface="Arial" panose="020B0604020202020204" pitchFamily="34" charset="0"/>
              <a:buChar char="•"/>
            </a:pPr>
            <a:r>
              <a:rPr lang="en-US" dirty="0"/>
              <a:t>Service Evolutions</a:t>
            </a:r>
          </a:p>
          <a:p>
            <a:pPr marL="285750" indent="-285750">
              <a:buFont typeface="Arial" panose="020B0604020202020204" pitchFamily="34" charset="0"/>
              <a:buChar char="•"/>
            </a:pPr>
            <a:r>
              <a:rPr lang="en-US" dirty="0"/>
              <a:t>Procedural Compliances</a:t>
            </a:r>
          </a:p>
          <a:p>
            <a:pPr marL="285750" indent="-285750">
              <a:buFont typeface="Arial" panose="020B0604020202020204" pitchFamily="34" charset="0"/>
              <a:buChar char="•"/>
            </a:pPr>
            <a:r>
              <a:rPr lang="en-US" dirty="0"/>
              <a:t>Automated Operations</a:t>
            </a:r>
          </a:p>
          <a:p>
            <a:pPr marL="285750" indent="-285750">
              <a:buFont typeface="Arial" panose="020B0604020202020204" pitchFamily="34" charset="0"/>
              <a:buChar char="•"/>
            </a:pPr>
            <a:r>
              <a:rPr lang="en-US" dirty="0"/>
              <a:t>Billing Velocity</a:t>
            </a:r>
          </a:p>
          <a:p>
            <a:pPr marL="285750" indent="-285750">
              <a:buFont typeface="Arial" panose="020B0604020202020204" pitchFamily="34" charset="0"/>
              <a:buChar char="•"/>
            </a:pPr>
            <a:r>
              <a:rPr lang="en-US" dirty="0"/>
              <a:t>Market Share Captures</a:t>
            </a:r>
          </a:p>
          <a:p>
            <a:pPr marL="285750" indent="-285750">
              <a:buFont typeface="Arial" panose="020B0604020202020204" pitchFamily="34" charset="0"/>
              <a:buChar char="•"/>
            </a:pPr>
            <a:r>
              <a:rPr lang="en-US" dirty="0"/>
              <a:t>Functional Adjacencies</a:t>
            </a:r>
          </a:p>
          <a:p>
            <a:pPr marL="285750" indent="-285750">
              <a:buFont typeface="Arial" panose="020B0604020202020204" pitchFamily="34" charset="0"/>
              <a:buChar char="•"/>
            </a:pPr>
            <a:r>
              <a:rPr lang="en-US" dirty="0"/>
              <a:t>Customer Integrations</a:t>
            </a:r>
          </a:p>
          <a:p>
            <a:pPr marL="285750" indent="-285750">
              <a:buFont typeface="Arial" panose="020B0604020202020204" pitchFamily="34" charset="0"/>
              <a:buChar char="•"/>
            </a:pPr>
            <a:r>
              <a:rPr lang="en-US" dirty="0"/>
              <a:t>Channel Models</a:t>
            </a:r>
          </a:p>
          <a:p>
            <a:pPr marL="285750" indent="-285750">
              <a:buFont typeface="Arial" panose="020B0604020202020204" pitchFamily="34" charset="0"/>
              <a:buChar char="•"/>
            </a:pPr>
            <a:r>
              <a:rPr lang="en-US" dirty="0"/>
              <a:t>Scales/Diversifications</a:t>
            </a:r>
          </a:p>
        </p:txBody>
      </p:sp>
      <p:sp>
        <p:nvSpPr>
          <p:cNvPr id="3" name="TextBox 2">
            <a:extLst>
              <a:ext uri="{FF2B5EF4-FFF2-40B4-BE49-F238E27FC236}">
                <a16:creationId xmlns:a16="http://schemas.microsoft.com/office/drawing/2014/main" id="{9A38A278-C97F-3834-D65C-21E1B57CB6B5}"/>
              </a:ext>
            </a:extLst>
          </p:cNvPr>
          <p:cNvSpPr txBox="1"/>
          <p:nvPr/>
        </p:nvSpPr>
        <p:spPr>
          <a:xfrm>
            <a:off x="701040" y="650240"/>
            <a:ext cx="4556312" cy="369332"/>
          </a:xfrm>
          <a:prstGeom prst="rect">
            <a:avLst/>
          </a:prstGeom>
          <a:noFill/>
        </p:spPr>
        <p:txBody>
          <a:bodyPr wrap="none" rtlCol="0">
            <a:spAutoFit/>
          </a:bodyPr>
          <a:lstStyle/>
          <a:p>
            <a:r>
              <a:rPr lang="en-US" dirty="0">
                <a:solidFill>
                  <a:schemeClr val="accent2"/>
                </a:solidFill>
              </a:rPr>
              <a:t>Techniques</a:t>
            </a:r>
            <a:r>
              <a:rPr lang="en-US" dirty="0"/>
              <a:t> | Implementations-as-a-Service </a:t>
            </a:r>
          </a:p>
        </p:txBody>
      </p:sp>
      <p:sp>
        <p:nvSpPr>
          <p:cNvPr id="4" name="TextBox 3">
            <a:extLst>
              <a:ext uri="{FF2B5EF4-FFF2-40B4-BE49-F238E27FC236}">
                <a16:creationId xmlns:a16="http://schemas.microsoft.com/office/drawing/2014/main" id="{3CA2FD2D-379D-5907-DD15-949D13FD3E80}"/>
              </a:ext>
            </a:extLst>
          </p:cNvPr>
          <p:cNvSpPr txBox="1"/>
          <p:nvPr/>
        </p:nvSpPr>
        <p:spPr>
          <a:xfrm>
            <a:off x="2113020" y="1524000"/>
            <a:ext cx="6000553" cy="646331"/>
          </a:xfrm>
          <a:prstGeom prst="rect">
            <a:avLst/>
          </a:prstGeom>
          <a:noFill/>
        </p:spPr>
        <p:txBody>
          <a:bodyPr wrap="none" rtlCol="0">
            <a:spAutoFit/>
          </a:bodyPr>
          <a:lstStyle/>
          <a:p>
            <a:pPr algn="ctr"/>
            <a:r>
              <a:rPr lang="en-US" dirty="0"/>
              <a:t>Blended Strategy, Execution &amp; Technical Services Expertise</a:t>
            </a:r>
          </a:p>
          <a:p>
            <a:pPr algn="ctr"/>
            <a:r>
              <a:rPr lang="en-US" dirty="0"/>
              <a:t>Aimed at Delivering Needle Moving Outcomes</a:t>
            </a:r>
          </a:p>
        </p:txBody>
      </p:sp>
    </p:spTree>
    <p:extLst>
      <p:ext uri="{BB962C8B-B14F-4D97-AF65-F5344CB8AC3E}">
        <p14:creationId xmlns:p14="http://schemas.microsoft.com/office/powerpoint/2010/main" val="136498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4BB76-D91B-7F6B-6730-25FBC502CAD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6FA718E-8CB2-DAA4-6E35-E8CB691D6067}"/>
              </a:ext>
            </a:extLst>
          </p:cNvPr>
          <p:cNvGrpSpPr/>
          <p:nvPr/>
        </p:nvGrpSpPr>
        <p:grpSpPr>
          <a:xfrm>
            <a:off x="2580640" y="981712"/>
            <a:ext cx="6634479" cy="5444488"/>
            <a:chOff x="1067255" y="431799"/>
            <a:chExt cx="6302380" cy="5994401"/>
          </a:xfrm>
        </p:grpSpPr>
        <p:grpSp>
          <p:nvGrpSpPr>
            <p:cNvPr id="24" name="Group 23">
              <a:extLst>
                <a:ext uri="{FF2B5EF4-FFF2-40B4-BE49-F238E27FC236}">
                  <a16:creationId xmlns:a16="http://schemas.microsoft.com/office/drawing/2014/main" id="{9D4F846F-2FCD-C26D-79D3-6442A65B393E}"/>
                </a:ext>
              </a:extLst>
            </p:cNvPr>
            <p:cNvGrpSpPr/>
            <p:nvPr/>
          </p:nvGrpSpPr>
          <p:grpSpPr>
            <a:xfrm>
              <a:off x="1067255" y="431799"/>
              <a:ext cx="2100796" cy="5994401"/>
              <a:chOff x="803094" y="101599"/>
              <a:chExt cx="2330933" cy="6651074"/>
            </a:xfrm>
          </p:grpSpPr>
          <p:sp>
            <p:nvSpPr>
              <p:cNvPr id="37" name="Rectangle 36">
                <a:extLst>
                  <a:ext uri="{FF2B5EF4-FFF2-40B4-BE49-F238E27FC236}">
                    <a16:creationId xmlns:a16="http://schemas.microsoft.com/office/drawing/2014/main" id="{68BCCC98-4AEB-159B-6F5B-F33FE69CFB79}"/>
                  </a:ext>
                </a:extLst>
              </p:cNvPr>
              <p:cNvSpPr/>
              <p:nvPr/>
            </p:nvSpPr>
            <p:spPr>
              <a:xfrm>
                <a:off x="803098" y="101599"/>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Zero-Trust </a:t>
                </a:r>
              </a:p>
              <a:p>
                <a:r>
                  <a:rPr lang="en-US" sz="1400" dirty="0"/>
                  <a:t>Controls</a:t>
                </a:r>
              </a:p>
            </p:txBody>
          </p:sp>
          <p:sp>
            <p:nvSpPr>
              <p:cNvPr id="38" name="Rectangle 37">
                <a:extLst>
                  <a:ext uri="{FF2B5EF4-FFF2-40B4-BE49-F238E27FC236}">
                    <a16:creationId xmlns:a16="http://schemas.microsoft.com/office/drawing/2014/main" id="{7CFB1167-4344-E5F2-299C-3253CC8BAC71}"/>
                  </a:ext>
                </a:extLst>
              </p:cNvPr>
              <p:cNvSpPr/>
              <p:nvPr/>
            </p:nvSpPr>
            <p:spPr>
              <a:xfrm>
                <a:off x="803097" y="1418541"/>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Dynamic </a:t>
                </a:r>
              </a:p>
              <a:p>
                <a:r>
                  <a:rPr lang="en-US" sz="1400" dirty="0"/>
                  <a:t>Configurations</a:t>
                </a:r>
              </a:p>
            </p:txBody>
          </p:sp>
          <p:sp>
            <p:nvSpPr>
              <p:cNvPr id="39" name="Rectangle 38">
                <a:extLst>
                  <a:ext uri="{FF2B5EF4-FFF2-40B4-BE49-F238E27FC236}">
                    <a16:creationId xmlns:a16="http://schemas.microsoft.com/office/drawing/2014/main" id="{908C96D2-1A1F-6395-B2DE-229783038025}"/>
                  </a:ext>
                </a:extLst>
              </p:cNvPr>
              <p:cNvSpPr/>
              <p:nvPr/>
            </p:nvSpPr>
            <p:spPr>
              <a:xfrm>
                <a:off x="803096" y="2752074"/>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Streamlinings</a:t>
                </a:r>
              </a:p>
            </p:txBody>
          </p:sp>
          <p:sp>
            <p:nvSpPr>
              <p:cNvPr id="40" name="Rectangle 39">
                <a:extLst>
                  <a:ext uri="{FF2B5EF4-FFF2-40B4-BE49-F238E27FC236}">
                    <a16:creationId xmlns:a16="http://schemas.microsoft.com/office/drawing/2014/main" id="{95F06F62-D4C0-B3CE-4B4E-AC766F5DBEEE}"/>
                  </a:ext>
                </a:extLst>
              </p:cNvPr>
              <p:cNvSpPr/>
              <p:nvPr/>
            </p:nvSpPr>
            <p:spPr>
              <a:xfrm>
                <a:off x="803095" y="4085607"/>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Nuanced </a:t>
                </a:r>
              </a:p>
              <a:p>
                <a:r>
                  <a:rPr lang="en-US" sz="1400" dirty="0"/>
                  <a:t>Workflows</a:t>
                </a:r>
              </a:p>
            </p:txBody>
          </p:sp>
          <p:sp>
            <p:nvSpPr>
              <p:cNvPr id="41" name="Rectangle 40">
                <a:extLst>
                  <a:ext uri="{FF2B5EF4-FFF2-40B4-BE49-F238E27FC236}">
                    <a16:creationId xmlns:a16="http://schemas.microsoft.com/office/drawing/2014/main" id="{EADFCA5B-E024-14F0-1F53-3F87C0D85A81}"/>
                  </a:ext>
                </a:extLst>
              </p:cNvPr>
              <p:cNvSpPr/>
              <p:nvPr/>
            </p:nvSpPr>
            <p:spPr>
              <a:xfrm>
                <a:off x="803094" y="5419140"/>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Expectation </a:t>
                </a:r>
              </a:p>
              <a:p>
                <a:r>
                  <a:rPr lang="en-US" sz="1400" dirty="0"/>
                  <a:t>Innovations</a:t>
                </a:r>
              </a:p>
            </p:txBody>
          </p:sp>
        </p:grpSp>
        <p:grpSp>
          <p:nvGrpSpPr>
            <p:cNvPr id="25" name="Group 24">
              <a:extLst>
                <a:ext uri="{FF2B5EF4-FFF2-40B4-BE49-F238E27FC236}">
                  <a16:creationId xmlns:a16="http://schemas.microsoft.com/office/drawing/2014/main" id="{73F08494-7ADC-08F9-BD37-58D58802AC6B}"/>
                </a:ext>
              </a:extLst>
            </p:cNvPr>
            <p:cNvGrpSpPr/>
            <p:nvPr/>
          </p:nvGrpSpPr>
          <p:grpSpPr>
            <a:xfrm>
              <a:off x="5268839" y="431799"/>
              <a:ext cx="2100796" cy="5994401"/>
              <a:chOff x="803094" y="101599"/>
              <a:chExt cx="2330933" cy="6651074"/>
            </a:xfrm>
          </p:grpSpPr>
          <p:sp>
            <p:nvSpPr>
              <p:cNvPr id="32" name="Rectangle 31">
                <a:extLst>
                  <a:ext uri="{FF2B5EF4-FFF2-40B4-BE49-F238E27FC236}">
                    <a16:creationId xmlns:a16="http://schemas.microsoft.com/office/drawing/2014/main" id="{09CF11FF-4647-F42E-981E-C77E55FEBA13}"/>
                  </a:ext>
                </a:extLst>
              </p:cNvPr>
              <p:cNvSpPr/>
              <p:nvPr/>
            </p:nvSpPr>
            <p:spPr>
              <a:xfrm>
                <a:off x="803098" y="101599"/>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Event-Rule </a:t>
                </a:r>
              </a:p>
              <a:p>
                <a:r>
                  <a:rPr lang="en-US" sz="1400" dirty="0"/>
                  <a:t>Models</a:t>
                </a:r>
              </a:p>
            </p:txBody>
          </p:sp>
          <p:sp>
            <p:nvSpPr>
              <p:cNvPr id="33" name="Rectangle 32">
                <a:extLst>
                  <a:ext uri="{FF2B5EF4-FFF2-40B4-BE49-F238E27FC236}">
                    <a16:creationId xmlns:a16="http://schemas.microsoft.com/office/drawing/2014/main" id="{B15B1C88-AAAA-8D67-8706-550D5DCA3FC8}"/>
                  </a:ext>
                </a:extLst>
              </p:cNvPr>
              <p:cNvSpPr/>
              <p:nvPr/>
            </p:nvSpPr>
            <p:spPr>
              <a:xfrm>
                <a:off x="803097" y="1418541"/>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Compliance </a:t>
                </a:r>
              </a:p>
              <a:p>
                <a:r>
                  <a:rPr lang="en-US" sz="1400" dirty="0"/>
                  <a:t>Enforcements</a:t>
                </a:r>
              </a:p>
            </p:txBody>
          </p:sp>
          <p:sp>
            <p:nvSpPr>
              <p:cNvPr id="34" name="Rectangle 33">
                <a:extLst>
                  <a:ext uri="{FF2B5EF4-FFF2-40B4-BE49-F238E27FC236}">
                    <a16:creationId xmlns:a16="http://schemas.microsoft.com/office/drawing/2014/main" id="{85104CF3-4D5B-8042-1741-CB8F24F42C00}"/>
                  </a:ext>
                </a:extLst>
              </p:cNvPr>
              <p:cNvSpPr/>
              <p:nvPr/>
            </p:nvSpPr>
            <p:spPr>
              <a:xfrm>
                <a:off x="803096" y="2752074"/>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Functional </a:t>
                </a:r>
              </a:p>
              <a:p>
                <a:r>
                  <a:rPr lang="en-US" sz="1400" dirty="0"/>
                  <a:t>Automations</a:t>
                </a:r>
              </a:p>
            </p:txBody>
          </p:sp>
          <p:sp>
            <p:nvSpPr>
              <p:cNvPr id="35" name="Rectangle 34">
                <a:extLst>
                  <a:ext uri="{FF2B5EF4-FFF2-40B4-BE49-F238E27FC236}">
                    <a16:creationId xmlns:a16="http://schemas.microsoft.com/office/drawing/2014/main" id="{6320A10D-8AA2-BB48-D27F-40CA0948A300}"/>
                  </a:ext>
                </a:extLst>
              </p:cNvPr>
              <p:cNvSpPr/>
              <p:nvPr/>
            </p:nvSpPr>
            <p:spPr>
              <a:xfrm>
                <a:off x="803095" y="4085607"/>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Loss Preventions</a:t>
                </a:r>
              </a:p>
            </p:txBody>
          </p:sp>
          <p:sp>
            <p:nvSpPr>
              <p:cNvPr id="36" name="Rectangle 35">
                <a:extLst>
                  <a:ext uri="{FF2B5EF4-FFF2-40B4-BE49-F238E27FC236}">
                    <a16:creationId xmlns:a16="http://schemas.microsoft.com/office/drawing/2014/main" id="{052C60C6-70C5-93C2-7E9D-0E69D0B5174D}"/>
                  </a:ext>
                </a:extLst>
              </p:cNvPr>
              <p:cNvSpPr/>
              <p:nvPr/>
            </p:nvSpPr>
            <p:spPr>
              <a:xfrm>
                <a:off x="803094" y="5419140"/>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KPIs/Analytics/Reports</a:t>
                </a:r>
              </a:p>
            </p:txBody>
          </p:sp>
        </p:grpSp>
        <p:grpSp>
          <p:nvGrpSpPr>
            <p:cNvPr id="26" name="Group 25">
              <a:extLst>
                <a:ext uri="{FF2B5EF4-FFF2-40B4-BE49-F238E27FC236}">
                  <a16:creationId xmlns:a16="http://schemas.microsoft.com/office/drawing/2014/main" id="{3EEB7E4B-B11D-F46F-2AB4-C52A2348A740}"/>
                </a:ext>
              </a:extLst>
            </p:cNvPr>
            <p:cNvGrpSpPr/>
            <p:nvPr/>
          </p:nvGrpSpPr>
          <p:grpSpPr>
            <a:xfrm>
              <a:off x="3168047" y="431799"/>
              <a:ext cx="2100796" cy="5994401"/>
              <a:chOff x="803094" y="101599"/>
              <a:chExt cx="2330933" cy="6651074"/>
            </a:xfrm>
          </p:grpSpPr>
          <p:sp>
            <p:nvSpPr>
              <p:cNvPr id="27" name="Rectangle 26">
                <a:extLst>
                  <a:ext uri="{FF2B5EF4-FFF2-40B4-BE49-F238E27FC236}">
                    <a16:creationId xmlns:a16="http://schemas.microsoft.com/office/drawing/2014/main" id="{B8D306D4-2597-FA6A-027E-AC7EE9E91D24}"/>
                  </a:ext>
                </a:extLst>
              </p:cNvPr>
              <p:cNvSpPr/>
              <p:nvPr/>
            </p:nvSpPr>
            <p:spPr>
              <a:xfrm>
                <a:off x="803098" y="101599"/>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Process </a:t>
                </a:r>
              </a:p>
              <a:p>
                <a:r>
                  <a:rPr lang="en-US" sz="1400" dirty="0"/>
                  <a:t>Transformations</a:t>
                </a:r>
              </a:p>
            </p:txBody>
          </p:sp>
          <p:sp>
            <p:nvSpPr>
              <p:cNvPr id="28" name="Rectangle 27">
                <a:extLst>
                  <a:ext uri="{FF2B5EF4-FFF2-40B4-BE49-F238E27FC236}">
                    <a16:creationId xmlns:a16="http://schemas.microsoft.com/office/drawing/2014/main" id="{7F5ABA40-9F1C-233A-736B-3C601376CC6F}"/>
                  </a:ext>
                </a:extLst>
              </p:cNvPr>
              <p:cNvSpPr/>
              <p:nvPr/>
            </p:nvSpPr>
            <p:spPr>
              <a:xfrm>
                <a:off x="803097" y="1418541"/>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Accountable</a:t>
                </a:r>
              </a:p>
              <a:p>
                <a:r>
                  <a:rPr lang="en-US" sz="1400" dirty="0"/>
                  <a:t>Permissions/Procedures</a:t>
                </a:r>
              </a:p>
            </p:txBody>
          </p:sp>
          <p:sp>
            <p:nvSpPr>
              <p:cNvPr id="29" name="Rectangle 28">
                <a:extLst>
                  <a:ext uri="{FF2B5EF4-FFF2-40B4-BE49-F238E27FC236}">
                    <a16:creationId xmlns:a16="http://schemas.microsoft.com/office/drawing/2014/main" id="{79F5AA94-4DB0-7C98-6FE7-6AA581165603}"/>
                  </a:ext>
                </a:extLst>
              </p:cNvPr>
              <p:cNvSpPr/>
              <p:nvPr/>
            </p:nvSpPr>
            <p:spPr>
              <a:xfrm>
                <a:off x="803096" y="2752074"/>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User Proofings</a:t>
                </a:r>
              </a:p>
            </p:txBody>
          </p:sp>
          <p:sp>
            <p:nvSpPr>
              <p:cNvPr id="30" name="Rectangle 29">
                <a:extLst>
                  <a:ext uri="{FF2B5EF4-FFF2-40B4-BE49-F238E27FC236}">
                    <a16:creationId xmlns:a16="http://schemas.microsoft.com/office/drawing/2014/main" id="{C12574EF-377A-9F1E-8901-9935E758F6E5}"/>
                  </a:ext>
                </a:extLst>
              </p:cNvPr>
              <p:cNvSpPr/>
              <p:nvPr/>
            </p:nvSpPr>
            <p:spPr>
              <a:xfrm>
                <a:off x="803095" y="4085607"/>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Customer </a:t>
                </a:r>
              </a:p>
              <a:p>
                <a:r>
                  <a:rPr lang="en-US" sz="1400" dirty="0"/>
                  <a:t>Integrations</a:t>
                </a:r>
              </a:p>
            </p:txBody>
          </p:sp>
          <p:sp>
            <p:nvSpPr>
              <p:cNvPr id="31" name="Rectangle 30">
                <a:extLst>
                  <a:ext uri="{FF2B5EF4-FFF2-40B4-BE49-F238E27FC236}">
                    <a16:creationId xmlns:a16="http://schemas.microsoft.com/office/drawing/2014/main" id="{438C2F66-1BD2-CF95-C99D-EAA1DDA8E5D0}"/>
                  </a:ext>
                </a:extLst>
              </p:cNvPr>
              <p:cNvSpPr/>
              <p:nvPr/>
            </p:nvSpPr>
            <p:spPr>
              <a:xfrm>
                <a:off x="803094" y="5419140"/>
                <a:ext cx="2330929" cy="1333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r>
                  <a:rPr lang="en-US" sz="1400" dirty="0"/>
                  <a:t>Systems </a:t>
                </a:r>
              </a:p>
              <a:p>
                <a:r>
                  <a:rPr lang="en-US" sz="1400" dirty="0"/>
                  <a:t>Integrations</a:t>
                </a:r>
              </a:p>
            </p:txBody>
          </p:sp>
        </p:grpSp>
      </p:grpSp>
      <p:sp>
        <p:nvSpPr>
          <p:cNvPr id="21" name="TextBox 20">
            <a:extLst>
              <a:ext uri="{FF2B5EF4-FFF2-40B4-BE49-F238E27FC236}">
                <a16:creationId xmlns:a16="http://schemas.microsoft.com/office/drawing/2014/main" id="{7A1F9C19-8F00-20F2-F760-8C519831D480}"/>
              </a:ext>
            </a:extLst>
          </p:cNvPr>
          <p:cNvSpPr txBox="1"/>
          <p:nvPr/>
        </p:nvSpPr>
        <p:spPr>
          <a:xfrm>
            <a:off x="379841" y="316504"/>
            <a:ext cx="5178854" cy="369332"/>
          </a:xfrm>
          <a:prstGeom prst="rect">
            <a:avLst/>
          </a:prstGeom>
          <a:noFill/>
        </p:spPr>
        <p:txBody>
          <a:bodyPr wrap="none" rtlCol="0">
            <a:spAutoFit/>
          </a:bodyPr>
          <a:lstStyle/>
          <a:p>
            <a:r>
              <a:rPr lang="en-US" dirty="0">
                <a:solidFill>
                  <a:schemeClr val="accent2"/>
                </a:solidFill>
              </a:rPr>
              <a:t>Capabilities </a:t>
            </a:r>
            <a:r>
              <a:rPr lang="en-US" dirty="0"/>
              <a:t>| Optimizations-as-a-Service </a:t>
            </a:r>
            <a:r>
              <a:rPr lang="en-US" sz="1400" dirty="0">
                <a:solidFill>
                  <a:srgbClr val="FF0000"/>
                </a:solidFill>
              </a:rPr>
              <a:t>{OFF State}</a:t>
            </a:r>
            <a:endParaRPr lang="en-US" dirty="0">
              <a:solidFill>
                <a:srgbClr val="FF0000"/>
              </a:solidFill>
            </a:endParaRPr>
          </a:p>
        </p:txBody>
      </p:sp>
    </p:spTree>
    <p:extLst>
      <p:ext uri="{BB962C8B-B14F-4D97-AF65-F5344CB8AC3E}">
        <p14:creationId xmlns:p14="http://schemas.microsoft.com/office/powerpoint/2010/main" val="187182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7AA9-A31F-53BB-D23F-77DF273C8AD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EDE57B1-5A60-B504-C915-00893AAF8438}"/>
              </a:ext>
            </a:extLst>
          </p:cNvPr>
          <p:cNvSpPr txBox="1"/>
          <p:nvPr/>
        </p:nvSpPr>
        <p:spPr>
          <a:xfrm>
            <a:off x="379841" y="316504"/>
            <a:ext cx="5089085" cy="369332"/>
          </a:xfrm>
          <a:prstGeom prst="rect">
            <a:avLst/>
          </a:prstGeom>
          <a:noFill/>
        </p:spPr>
        <p:txBody>
          <a:bodyPr wrap="none" rtlCol="0">
            <a:spAutoFit/>
          </a:bodyPr>
          <a:lstStyle/>
          <a:p>
            <a:r>
              <a:rPr lang="en-US" dirty="0">
                <a:solidFill>
                  <a:schemeClr val="accent2"/>
                </a:solidFill>
              </a:rPr>
              <a:t>Capabilities </a:t>
            </a:r>
            <a:r>
              <a:rPr lang="en-US" dirty="0"/>
              <a:t>| Optimizations-as-a-Service </a:t>
            </a:r>
            <a:r>
              <a:rPr lang="en-US" sz="1400" dirty="0">
                <a:solidFill>
                  <a:srgbClr val="FF0000"/>
                </a:solidFill>
              </a:rPr>
              <a:t>{On State}</a:t>
            </a:r>
            <a:endParaRPr lang="en-US" dirty="0">
              <a:solidFill>
                <a:srgbClr val="FF0000"/>
              </a:solidFill>
            </a:endParaRPr>
          </a:p>
        </p:txBody>
      </p:sp>
      <p:grpSp>
        <p:nvGrpSpPr>
          <p:cNvPr id="20" name="Group 19">
            <a:extLst>
              <a:ext uri="{FF2B5EF4-FFF2-40B4-BE49-F238E27FC236}">
                <a16:creationId xmlns:a16="http://schemas.microsoft.com/office/drawing/2014/main" id="{3D63D605-1A8A-8E01-5762-CA7E95922896}"/>
              </a:ext>
            </a:extLst>
          </p:cNvPr>
          <p:cNvGrpSpPr/>
          <p:nvPr/>
        </p:nvGrpSpPr>
        <p:grpSpPr>
          <a:xfrm>
            <a:off x="2580640" y="981712"/>
            <a:ext cx="6634479" cy="5444488"/>
            <a:chOff x="1067255" y="431799"/>
            <a:chExt cx="6302380" cy="5994401"/>
          </a:xfrm>
        </p:grpSpPr>
        <p:grpSp>
          <p:nvGrpSpPr>
            <p:cNvPr id="7" name="Group 6">
              <a:extLst>
                <a:ext uri="{FF2B5EF4-FFF2-40B4-BE49-F238E27FC236}">
                  <a16:creationId xmlns:a16="http://schemas.microsoft.com/office/drawing/2014/main" id="{BBCE0022-3731-E2B8-6B31-77C1293B5BCE}"/>
                </a:ext>
              </a:extLst>
            </p:cNvPr>
            <p:cNvGrpSpPr/>
            <p:nvPr/>
          </p:nvGrpSpPr>
          <p:grpSpPr>
            <a:xfrm>
              <a:off x="1067255" y="431799"/>
              <a:ext cx="2100796" cy="5994401"/>
              <a:chOff x="803094" y="101599"/>
              <a:chExt cx="2330933" cy="6651074"/>
            </a:xfrm>
          </p:grpSpPr>
          <p:sp>
            <p:nvSpPr>
              <p:cNvPr id="2" name="Rectangle 1">
                <a:extLst>
                  <a:ext uri="{FF2B5EF4-FFF2-40B4-BE49-F238E27FC236}">
                    <a16:creationId xmlns:a16="http://schemas.microsoft.com/office/drawing/2014/main" id="{B5851FCA-1E7C-2AB9-1239-040131D16521}"/>
                  </a:ext>
                </a:extLst>
              </p:cNvPr>
              <p:cNvSpPr/>
              <p:nvPr/>
            </p:nvSpPr>
            <p:spPr>
              <a:xfrm>
                <a:off x="803098" y="101599"/>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Zero-Trust </a:t>
                </a:r>
              </a:p>
              <a:p>
                <a:r>
                  <a:rPr lang="en-US" sz="1400" dirty="0"/>
                  <a:t>Controls</a:t>
                </a:r>
              </a:p>
              <a:p>
                <a:r>
                  <a:rPr lang="en-US" sz="1100" dirty="0">
                    <a:effectLst/>
                  </a:rPr>
                  <a:t>Verify every request, every time — no implicit access.</a:t>
                </a:r>
                <a:endParaRPr lang="en-US" sz="700" dirty="0">
                  <a:effectLst/>
                </a:endParaRPr>
              </a:p>
            </p:txBody>
          </p:sp>
          <p:sp>
            <p:nvSpPr>
              <p:cNvPr id="3" name="Rectangle 2">
                <a:extLst>
                  <a:ext uri="{FF2B5EF4-FFF2-40B4-BE49-F238E27FC236}">
                    <a16:creationId xmlns:a16="http://schemas.microsoft.com/office/drawing/2014/main" id="{624B5FF1-0F6E-64DE-0EBC-19A55A4896BD}"/>
                  </a:ext>
                </a:extLst>
              </p:cNvPr>
              <p:cNvSpPr/>
              <p:nvPr/>
            </p:nvSpPr>
            <p:spPr>
              <a:xfrm>
                <a:off x="803097" y="1418541"/>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Dynamic </a:t>
                </a:r>
              </a:p>
              <a:p>
                <a:r>
                  <a:rPr lang="en-US" sz="1400" dirty="0"/>
                  <a:t>Configurations</a:t>
                </a:r>
              </a:p>
              <a:p>
                <a:r>
                  <a:rPr lang="en-US" sz="1100" dirty="0">
                    <a:effectLst/>
                  </a:rPr>
                  <a:t>Change operating parameters live — no deployment cycle.</a:t>
                </a:r>
                <a:endParaRPr lang="en-US" sz="700" dirty="0">
                  <a:effectLst/>
                </a:endParaRPr>
              </a:p>
            </p:txBody>
          </p:sp>
          <p:sp>
            <p:nvSpPr>
              <p:cNvPr id="4" name="Rectangle 3">
                <a:extLst>
                  <a:ext uri="{FF2B5EF4-FFF2-40B4-BE49-F238E27FC236}">
                    <a16:creationId xmlns:a16="http://schemas.microsoft.com/office/drawing/2014/main" id="{9F1F2CBF-E159-652B-1D56-50FA9B2DA9FE}"/>
                  </a:ext>
                </a:extLst>
              </p:cNvPr>
              <p:cNvSpPr/>
              <p:nvPr/>
            </p:nvSpPr>
            <p:spPr>
              <a:xfrm>
                <a:off x="803096" y="2752074"/>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Streamlinings</a:t>
                </a:r>
              </a:p>
              <a:p>
                <a:r>
                  <a:rPr lang="en-US" sz="1100" dirty="0"/>
                  <a:t>Compress steps, remove hand-offs, shorten time-to-done</a:t>
                </a:r>
                <a:r>
                  <a:rPr lang="en-US" sz="1400" dirty="0"/>
                  <a:t>.</a:t>
                </a:r>
              </a:p>
            </p:txBody>
          </p:sp>
          <p:sp>
            <p:nvSpPr>
              <p:cNvPr id="5" name="Rectangle 4">
                <a:extLst>
                  <a:ext uri="{FF2B5EF4-FFF2-40B4-BE49-F238E27FC236}">
                    <a16:creationId xmlns:a16="http://schemas.microsoft.com/office/drawing/2014/main" id="{5A052911-0EAC-C70B-4745-8D67DA2B588B}"/>
                  </a:ext>
                </a:extLst>
              </p:cNvPr>
              <p:cNvSpPr/>
              <p:nvPr/>
            </p:nvSpPr>
            <p:spPr>
              <a:xfrm>
                <a:off x="803095" y="4085607"/>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Adaptive </a:t>
                </a:r>
              </a:p>
              <a:p>
                <a:r>
                  <a:rPr lang="en-US" sz="1400" dirty="0"/>
                  <a:t>Workflows</a:t>
                </a:r>
              </a:p>
              <a:p>
                <a:r>
                  <a:rPr lang="en-US" sz="1100" dirty="0">
                    <a:effectLst/>
                  </a:rPr>
                  <a:t>Branch logic, edge cases, and human context — handled.</a:t>
                </a:r>
                <a:endParaRPr lang="en-US" sz="700" dirty="0">
                  <a:effectLst/>
                </a:endParaRPr>
              </a:p>
            </p:txBody>
          </p:sp>
          <p:sp>
            <p:nvSpPr>
              <p:cNvPr id="6" name="Rectangle 5">
                <a:extLst>
                  <a:ext uri="{FF2B5EF4-FFF2-40B4-BE49-F238E27FC236}">
                    <a16:creationId xmlns:a16="http://schemas.microsoft.com/office/drawing/2014/main" id="{3AE6EA59-8864-1C4B-A1B1-8C5A7A3E77AC}"/>
                  </a:ext>
                </a:extLst>
              </p:cNvPr>
              <p:cNvSpPr/>
              <p:nvPr/>
            </p:nvSpPr>
            <p:spPr>
              <a:xfrm>
                <a:off x="803094" y="5419140"/>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Expectation </a:t>
                </a:r>
              </a:p>
              <a:p>
                <a:r>
                  <a:rPr lang="en-US" sz="1400" dirty="0"/>
                  <a:t>Innovations</a:t>
                </a:r>
              </a:p>
              <a:p>
                <a:r>
                  <a:rPr lang="en-US" sz="1100" dirty="0">
                    <a:effectLst/>
                  </a:rPr>
                  <a:t>Redefine customer realities to redirect spend to what actually produces.</a:t>
                </a:r>
              </a:p>
            </p:txBody>
          </p:sp>
        </p:grpSp>
        <p:grpSp>
          <p:nvGrpSpPr>
            <p:cNvPr id="8" name="Group 7">
              <a:extLst>
                <a:ext uri="{FF2B5EF4-FFF2-40B4-BE49-F238E27FC236}">
                  <a16:creationId xmlns:a16="http://schemas.microsoft.com/office/drawing/2014/main" id="{C402A617-D023-0753-3DEC-71B839C3EBC9}"/>
                </a:ext>
              </a:extLst>
            </p:cNvPr>
            <p:cNvGrpSpPr/>
            <p:nvPr/>
          </p:nvGrpSpPr>
          <p:grpSpPr>
            <a:xfrm>
              <a:off x="5268839" y="431799"/>
              <a:ext cx="2100796" cy="5994401"/>
              <a:chOff x="803094" y="101599"/>
              <a:chExt cx="2330933" cy="6651074"/>
            </a:xfrm>
          </p:grpSpPr>
          <p:sp>
            <p:nvSpPr>
              <p:cNvPr id="9" name="Rectangle 8">
                <a:extLst>
                  <a:ext uri="{FF2B5EF4-FFF2-40B4-BE49-F238E27FC236}">
                    <a16:creationId xmlns:a16="http://schemas.microsoft.com/office/drawing/2014/main" id="{79567AE8-6E77-2AD4-9E90-00852FBFAAE2}"/>
                  </a:ext>
                </a:extLst>
              </p:cNvPr>
              <p:cNvSpPr/>
              <p:nvPr/>
            </p:nvSpPr>
            <p:spPr>
              <a:xfrm>
                <a:off x="803098" y="101599"/>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Event-Rule </a:t>
                </a:r>
              </a:p>
              <a:p>
                <a:r>
                  <a:rPr lang="en-US" sz="1400" dirty="0"/>
                  <a:t>Models</a:t>
                </a:r>
              </a:p>
              <a:p>
                <a:r>
                  <a:rPr lang="en-US" sz="1100" dirty="0">
                    <a:effectLst/>
                  </a:rPr>
                  <a:t>Declarative rules that react to operational events.</a:t>
                </a:r>
                <a:endParaRPr lang="en-US" sz="700" dirty="0">
                  <a:effectLst/>
                </a:endParaRPr>
              </a:p>
            </p:txBody>
          </p:sp>
          <p:sp>
            <p:nvSpPr>
              <p:cNvPr id="10" name="Rectangle 9">
                <a:extLst>
                  <a:ext uri="{FF2B5EF4-FFF2-40B4-BE49-F238E27FC236}">
                    <a16:creationId xmlns:a16="http://schemas.microsoft.com/office/drawing/2014/main" id="{C5D7A537-692F-7937-7F95-BA605A46B844}"/>
                  </a:ext>
                </a:extLst>
              </p:cNvPr>
              <p:cNvSpPr/>
              <p:nvPr/>
            </p:nvSpPr>
            <p:spPr>
              <a:xfrm>
                <a:off x="803097" y="1418541"/>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Compliance </a:t>
                </a:r>
              </a:p>
              <a:p>
                <a:r>
                  <a:rPr lang="en-US" sz="1400" dirty="0"/>
                  <a:t>Enforcements</a:t>
                </a:r>
              </a:p>
              <a:p>
                <a:r>
                  <a:rPr lang="en-US" sz="1100" dirty="0">
                    <a:effectLst/>
                  </a:rPr>
                  <a:t>Turn policy into enforced behavior, not just a binder.</a:t>
                </a:r>
                <a:endParaRPr lang="en-US" sz="700" dirty="0">
                  <a:effectLst/>
                </a:endParaRPr>
              </a:p>
            </p:txBody>
          </p:sp>
          <p:sp>
            <p:nvSpPr>
              <p:cNvPr id="11" name="Rectangle 10">
                <a:extLst>
                  <a:ext uri="{FF2B5EF4-FFF2-40B4-BE49-F238E27FC236}">
                    <a16:creationId xmlns:a16="http://schemas.microsoft.com/office/drawing/2014/main" id="{FD73173B-E897-20C3-BE09-4C82CE3B2332}"/>
                  </a:ext>
                </a:extLst>
              </p:cNvPr>
              <p:cNvSpPr/>
              <p:nvPr/>
            </p:nvSpPr>
            <p:spPr>
              <a:xfrm>
                <a:off x="803096" y="2752074"/>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Functional </a:t>
                </a:r>
              </a:p>
              <a:p>
                <a:r>
                  <a:rPr lang="en-US" sz="1400" dirty="0"/>
                  <a:t>Automations</a:t>
                </a:r>
              </a:p>
              <a:p>
                <a:r>
                  <a:rPr lang="en-US" sz="1100" dirty="0">
                    <a:effectLst/>
                  </a:rPr>
                  <a:t>The manual work you keep doing — done by the platform.</a:t>
                </a:r>
                <a:endParaRPr lang="en-US" sz="700" dirty="0">
                  <a:effectLst/>
                </a:endParaRPr>
              </a:p>
            </p:txBody>
          </p:sp>
          <p:sp>
            <p:nvSpPr>
              <p:cNvPr id="12" name="Rectangle 11">
                <a:extLst>
                  <a:ext uri="{FF2B5EF4-FFF2-40B4-BE49-F238E27FC236}">
                    <a16:creationId xmlns:a16="http://schemas.microsoft.com/office/drawing/2014/main" id="{E3526871-FC2A-ED60-E538-0025C7C61D3E}"/>
                  </a:ext>
                </a:extLst>
              </p:cNvPr>
              <p:cNvSpPr/>
              <p:nvPr/>
            </p:nvSpPr>
            <p:spPr>
              <a:xfrm>
                <a:off x="803095" y="4085607"/>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Loss Preventions</a:t>
                </a:r>
              </a:p>
              <a:p>
                <a:r>
                  <a:rPr lang="en-US" sz="1100" dirty="0">
                    <a:effectLst/>
                  </a:rPr>
                  <a:t>Close leakage points before they compound.</a:t>
                </a:r>
                <a:endParaRPr lang="en-US" sz="700" dirty="0">
                  <a:effectLst/>
                </a:endParaRPr>
              </a:p>
            </p:txBody>
          </p:sp>
          <p:sp>
            <p:nvSpPr>
              <p:cNvPr id="13" name="Rectangle 12">
                <a:extLst>
                  <a:ext uri="{FF2B5EF4-FFF2-40B4-BE49-F238E27FC236}">
                    <a16:creationId xmlns:a16="http://schemas.microsoft.com/office/drawing/2014/main" id="{A4AF7D70-E741-D9A3-0FE7-5B4BCACE5FCF}"/>
                  </a:ext>
                </a:extLst>
              </p:cNvPr>
              <p:cNvSpPr/>
              <p:nvPr/>
            </p:nvSpPr>
            <p:spPr>
              <a:xfrm>
                <a:off x="803094" y="5419140"/>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KPIs/Analytics/Reports</a:t>
                </a:r>
              </a:p>
              <a:p>
                <a:r>
                  <a:rPr lang="en-US" sz="1100" dirty="0">
                    <a:effectLst/>
                  </a:rPr>
                  <a:t>The numbers that matter, surfaced where decisions happen.</a:t>
                </a:r>
                <a:endParaRPr lang="en-US" sz="700" dirty="0">
                  <a:effectLst/>
                </a:endParaRPr>
              </a:p>
            </p:txBody>
          </p:sp>
        </p:grpSp>
        <p:grpSp>
          <p:nvGrpSpPr>
            <p:cNvPr id="14" name="Group 13">
              <a:extLst>
                <a:ext uri="{FF2B5EF4-FFF2-40B4-BE49-F238E27FC236}">
                  <a16:creationId xmlns:a16="http://schemas.microsoft.com/office/drawing/2014/main" id="{9686E8C7-3525-2FC4-F96F-9AE9A579F091}"/>
                </a:ext>
              </a:extLst>
            </p:cNvPr>
            <p:cNvGrpSpPr/>
            <p:nvPr/>
          </p:nvGrpSpPr>
          <p:grpSpPr>
            <a:xfrm>
              <a:off x="3168047" y="431799"/>
              <a:ext cx="2100796" cy="5994401"/>
              <a:chOff x="803094" y="101599"/>
              <a:chExt cx="2330933" cy="6651074"/>
            </a:xfrm>
          </p:grpSpPr>
          <p:sp>
            <p:nvSpPr>
              <p:cNvPr id="15" name="Rectangle 14">
                <a:extLst>
                  <a:ext uri="{FF2B5EF4-FFF2-40B4-BE49-F238E27FC236}">
                    <a16:creationId xmlns:a16="http://schemas.microsoft.com/office/drawing/2014/main" id="{CD6C529B-AA9B-E2E9-D911-A003114B4BA9}"/>
                  </a:ext>
                </a:extLst>
              </p:cNvPr>
              <p:cNvSpPr/>
              <p:nvPr/>
            </p:nvSpPr>
            <p:spPr>
              <a:xfrm>
                <a:off x="803098" y="101599"/>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Process </a:t>
                </a:r>
              </a:p>
              <a:p>
                <a:r>
                  <a:rPr lang="en-US" sz="1400" dirty="0"/>
                  <a:t>Transformations</a:t>
                </a:r>
              </a:p>
              <a:p>
                <a:r>
                  <a:rPr lang="en-US" sz="1100" dirty="0">
                    <a:effectLst/>
                  </a:rPr>
                  <a:t>Rewrite the operating model, not just the software.</a:t>
                </a:r>
                <a:endParaRPr lang="en-US" sz="700" dirty="0">
                  <a:effectLst/>
                </a:endParaRPr>
              </a:p>
            </p:txBody>
          </p:sp>
          <p:sp>
            <p:nvSpPr>
              <p:cNvPr id="16" name="Rectangle 15">
                <a:extLst>
                  <a:ext uri="{FF2B5EF4-FFF2-40B4-BE49-F238E27FC236}">
                    <a16:creationId xmlns:a16="http://schemas.microsoft.com/office/drawing/2014/main" id="{CF238F44-2C22-9C26-88D8-3B6564EBD207}"/>
                  </a:ext>
                </a:extLst>
              </p:cNvPr>
              <p:cNvSpPr/>
              <p:nvPr/>
            </p:nvSpPr>
            <p:spPr>
              <a:xfrm>
                <a:off x="803097" y="1418541"/>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Accountable</a:t>
                </a:r>
              </a:p>
              <a:p>
                <a:r>
                  <a:rPr lang="en-US" sz="1400" dirty="0"/>
                  <a:t>Permissions/Procedures</a:t>
                </a:r>
              </a:p>
              <a:p>
                <a:r>
                  <a:rPr lang="en-US" sz="1100" dirty="0">
                    <a:effectLst/>
                  </a:rPr>
                  <a:t>Every action attributable, every procedure auditable.</a:t>
                </a:r>
                <a:endParaRPr lang="en-US" sz="700" dirty="0">
                  <a:effectLst/>
                </a:endParaRPr>
              </a:p>
            </p:txBody>
          </p:sp>
          <p:sp>
            <p:nvSpPr>
              <p:cNvPr id="17" name="Rectangle 16">
                <a:extLst>
                  <a:ext uri="{FF2B5EF4-FFF2-40B4-BE49-F238E27FC236}">
                    <a16:creationId xmlns:a16="http://schemas.microsoft.com/office/drawing/2014/main" id="{332ED8A0-69B0-77AF-9735-75F29F306CA3}"/>
                  </a:ext>
                </a:extLst>
              </p:cNvPr>
              <p:cNvSpPr/>
              <p:nvPr/>
            </p:nvSpPr>
            <p:spPr>
              <a:xfrm>
                <a:off x="803096" y="2752074"/>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User Proofings</a:t>
                </a:r>
              </a:p>
              <a:p>
                <a:r>
                  <a:rPr lang="en-US" sz="1100" dirty="0"/>
                  <a:t>Guardrails that keep frontline users on the rails.</a:t>
                </a:r>
                <a:endParaRPr lang="en-US" sz="1050" dirty="0"/>
              </a:p>
            </p:txBody>
          </p:sp>
          <p:sp>
            <p:nvSpPr>
              <p:cNvPr id="18" name="Rectangle 17">
                <a:extLst>
                  <a:ext uri="{FF2B5EF4-FFF2-40B4-BE49-F238E27FC236}">
                    <a16:creationId xmlns:a16="http://schemas.microsoft.com/office/drawing/2014/main" id="{7B80EA39-AA94-F861-46F8-F7A036FAC29F}"/>
                  </a:ext>
                </a:extLst>
              </p:cNvPr>
              <p:cNvSpPr/>
              <p:nvPr/>
            </p:nvSpPr>
            <p:spPr>
              <a:xfrm>
                <a:off x="803095" y="4085607"/>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Customer </a:t>
                </a:r>
              </a:p>
              <a:p>
                <a:r>
                  <a:rPr lang="en-US" sz="1400" dirty="0"/>
                  <a:t>Integrations</a:t>
                </a:r>
              </a:p>
              <a:p>
                <a:r>
                  <a:rPr lang="en-US" sz="1100" dirty="0">
                    <a:effectLst/>
                  </a:rPr>
                  <a:t>Customer-facing APIs, portals, and self-service flows.</a:t>
                </a:r>
              </a:p>
            </p:txBody>
          </p:sp>
          <p:sp>
            <p:nvSpPr>
              <p:cNvPr id="19" name="Rectangle 18">
                <a:extLst>
                  <a:ext uri="{FF2B5EF4-FFF2-40B4-BE49-F238E27FC236}">
                    <a16:creationId xmlns:a16="http://schemas.microsoft.com/office/drawing/2014/main" id="{6B182025-88D8-3BB9-4987-41EB51370D53}"/>
                  </a:ext>
                </a:extLst>
              </p:cNvPr>
              <p:cNvSpPr/>
              <p:nvPr/>
            </p:nvSpPr>
            <p:spPr>
              <a:xfrm>
                <a:off x="803094" y="5419140"/>
                <a:ext cx="2330929" cy="133353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t>Systems </a:t>
                </a:r>
              </a:p>
              <a:p>
                <a:r>
                  <a:rPr lang="en-US" sz="1400" dirty="0"/>
                  <a:t>Integrations</a:t>
                </a:r>
              </a:p>
              <a:p>
                <a:r>
                  <a:rPr lang="en-US" sz="1100" dirty="0">
                    <a:effectLst/>
                  </a:rPr>
                  <a:t>Bridge the legacy stack without the rip-and-replace.</a:t>
                </a:r>
                <a:endParaRPr lang="en-US" sz="700" dirty="0">
                  <a:effectLst/>
                </a:endParaRPr>
              </a:p>
            </p:txBody>
          </p:sp>
        </p:grpSp>
      </p:grpSp>
    </p:spTree>
    <p:extLst>
      <p:ext uri="{BB962C8B-B14F-4D97-AF65-F5344CB8AC3E}">
        <p14:creationId xmlns:p14="http://schemas.microsoft.com/office/powerpoint/2010/main" val="2065636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D626-7017-DD8E-BEC0-451142903DA5}"/>
              </a:ext>
            </a:extLst>
          </p:cNvPr>
          <p:cNvPicPr>
            <a:picLocks noChangeAspect="1"/>
          </p:cNvPicPr>
          <p:nvPr/>
        </p:nvPicPr>
        <p:blipFill>
          <a:blip r:embed="rId2"/>
          <a:stretch>
            <a:fillRect/>
          </a:stretch>
        </p:blipFill>
        <p:spPr>
          <a:xfrm>
            <a:off x="444046" y="2552341"/>
            <a:ext cx="10626022" cy="1264285"/>
          </a:xfrm>
          <a:prstGeom prst="rect">
            <a:avLst/>
          </a:prstGeom>
        </p:spPr>
      </p:pic>
    </p:spTree>
    <p:extLst>
      <p:ext uri="{BB962C8B-B14F-4D97-AF65-F5344CB8AC3E}">
        <p14:creationId xmlns:p14="http://schemas.microsoft.com/office/powerpoint/2010/main" val="55066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3D61-AA2C-F8FA-A7CF-7B91598E14BE}"/>
            </a:ext>
          </a:extLst>
        </p:cNvPr>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18A594FC-9C37-A778-CF7D-BA239395EB01}"/>
              </a:ext>
            </a:extLst>
          </p:cNvPr>
          <p:cNvSpPr/>
          <p:nvPr/>
        </p:nvSpPr>
        <p:spPr>
          <a:xfrm>
            <a:off x="436181" y="1368418"/>
            <a:ext cx="6497948" cy="4798702"/>
          </a:xfrm>
          <a:prstGeom prst="roundRect">
            <a:avLst>
              <a:gd name="adj" fmla="val 1819"/>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58D63318-187D-4CDB-4590-E152A255F9B5}"/>
              </a:ext>
            </a:extLst>
          </p:cNvPr>
          <p:cNvSpPr/>
          <p:nvPr/>
        </p:nvSpPr>
        <p:spPr>
          <a:xfrm>
            <a:off x="7003020" y="1368418"/>
            <a:ext cx="5048647" cy="4798702"/>
          </a:xfrm>
          <a:prstGeom prst="roundRect">
            <a:avLst>
              <a:gd name="adj" fmla="val 1096"/>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B072017-6F39-AA6B-325F-5C5EECD3412C}"/>
              </a:ext>
            </a:extLst>
          </p:cNvPr>
          <p:cNvSpPr txBox="1"/>
          <p:nvPr/>
        </p:nvSpPr>
        <p:spPr>
          <a:xfrm>
            <a:off x="436181" y="311791"/>
            <a:ext cx="8671414" cy="646331"/>
          </a:xfrm>
          <a:prstGeom prst="rect">
            <a:avLst/>
          </a:prstGeom>
          <a:noFill/>
        </p:spPr>
        <p:txBody>
          <a:bodyPr wrap="square">
            <a:spAutoFit/>
          </a:bodyPr>
          <a:lstStyle/>
          <a:p>
            <a:r>
              <a:rPr lang="en-US" sz="1800" b="1" dirty="0">
                <a:solidFill>
                  <a:schemeClr val="accent6">
                    <a:lumMod val="75000"/>
                  </a:schemeClr>
                </a:solidFill>
              </a:rPr>
              <a:t>Breakthroughs Delivered</a:t>
            </a:r>
            <a:endParaRPr lang="en-US" dirty="0">
              <a:solidFill>
                <a:schemeClr val="accent6">
                  <a:lumMod val="75000"/>
                </a:schemeClr>
              </a:solidFill>
            </a:endParaRPr>
          </a:p>
          <a:p>
            <a:r>
              <a:rPr lang="en-US" dirty="0"/>
              <a:t>Market Optimization - ATM Access Management </a:t>
            </a:r>
            <a:endParaRPr lang="en-US" sz="1800" dirty="0"/>
          </a:p>
        </p:txBody>
      </p:sp>
      <p:pic>
        <p:nvPicPr>
          <p:cNvPr id="12" name="Picture 11">
            <a:extLst>
              <a:ext uri="{FF2B5EF4-FFF2-40B4-BE49-F238E27FC236}">
                <a16:creationId xmlns:a16="http://schemas.microsoft.com/office/drawing/2014/main" id="{BC0D41B7-6198-9FEB-EC89-C2E899D06421}"/>
              </a:ext>
            </a:extLst>
          </p:cNvPr>
          <p:cNvPicPr>
            <a:picLocks noChangeAspect="1"/>
          </p:cNvPicPr>
          <p:nvPr/>
        </p:nvPicPr>
        <p:blipFill>
          <a:blip r:embed="rId2"/>
          <a:stretch>
            <a:fillRect/>
          </a:stretch>
        </p:blipFill>
        <p:spPr>
          <a:xfrm>
            <a:off x="9383504" y="5572911"/>
            <a:ext cx="2322289" cy="445058"/>
          </a:xfrm>
          <a:prstGeom prst="rect">
            <a:avLst/>
          </a:prstGeom>
        </p:spPr>
      </p:pic>
      <p:grpSp>
        <p:nvGrpSpPr>
          <p:cNvPr id="45" name="Group 44">
            <a:extLst>
              <a:ext uri="{FF2B5EF4-FFF2-40B4-BE49-F238E27FC236}">
                <a16:creationId xmlns:a16="http://schemas.microsoft.com/office/drawing/2014/main" id="{D7A28BEA-9ACE-FF74-D94F-835AFFF3EBD0}"/>
              </a:ext>
            </a:extLst>
          </p:cNvPr>
          <p:cNvGrpSpPr/>
          <p:nvPr/>
        </p:nvGrpSpPr>
        <p:grpSpPr>
          <a:xfrm>
            <a:off x="712919" y="1577450"/>
            <a:ext cx="5959509" cy="4400802"/>
            <a:chOff x="712919" y="1577450"/>
            <a:chExt cx="5959509" cy="4400802"/>
          </a:xfrm>
        </p:grpSpPr>
        <p:grpSp>
          <p:nvGrpSpPr>
            <p:cNvPr id="30" name="Group 29">
              <a:extLst>
                <a:ext uri="{FF2B5EF4-FFF2-40B4-BE49-F238E27FC236}">
                  <a16:creationId xmlns:a16="http://schemas.microsoft.com/office/drawing/2014/main" id="{782D3354-18CB-18E8-A80E-BE38CB73F5D4}"/>
                </a:ext>
              </a:extLst>
            </p:cNvPr>
            <p:cNvGrpSpPr/>
            <p:nvPr/>
          </p:nvGrpSpPr>
          <p:grpSpPr>
            <a:xfrm>
              <a:off x="1648894" y="1577450"/>
              <a:ext cx="5023534" cy="4400802"/>
              <a:chOff x="2195464" y="1197503"/>
              <a:chExt cx="5825932" cy="4998985"/>
            </a:xfrm>
          </p:grpSpPr>
          <p:pic>
            <p:nvPicPr>
              <p:cNvPr id="31" name="Picture 30">
                <a:extLst>
                  <a:ext uri="{FF2B5EF4-FFF2-40B4-BE49-F238E27FC236}">
                    <a16:creationId xmlns:a16="http://schemas.microsoft.com/office/drawing/2014/main" id="{32BF685E-C8C8-6BA9-D6B5-1B36A91071BC}"/>
                  </a:ext>
                </a:extLst>
              </p:cNvPr>
              <p:cNvPicPr>
                <a:picLocks noChangeAspect="1"/>
              </p:cNvPicPr>
              <p:nvPr/>
            </p:nvPicPr>
            <p:blipFill>
              <a:blip r:embed="rId3"/>
              <a:stretch>
                <a:fillRect/>
              </a:stretch>
            </p:blipFill>
            <p:spPr>
              <a:xfrm>
                <a:off x="2195464" y="1197503"/>
                <a:ext cx="5825932" cy="4998985"/>
              </a:xfrm>
              <a:prstGeom prst="rect">
                <a:avLst/>
              </a:prstGeom>
            </p:spPr>
          </p:pic>
          <p:sp>
            <p:nvSpPr>
              <p:cNvPr id="32" name="Rectangle 31">
                <a:extLst>
                  <a:ext uri="{FF2B5EF4-FFF2-40B4-BE49-F238E27FC236}">
                    <a16:creationId xmlns:a16="http://schemas.microsoft.com/office/drawing/2014/main" id="{05123B85-0DBF-2796-77E3-23BA35F55B87}"/>
                  </a:ext>
                </a:extLst>
              </p:cNvPr>
              <p:cNvSpPr/>
              <p:nvPr/>
            </p:nvSpPr>
            <p:spPr>
              <a:xfrm>
                <a:off x="5252720" y="1257268"/>
                <a:ext cx="701040" cy="1651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4" name="Group 43">
              <a:extLst>
                <a:ext uri="{FF2B5EF4-FFF2-40B4-BE49-F238E27FC236}">
                  <a16:creationId xmlns:a16="http://schemas.microsoft.com/office/drawing/2014/main" id="{437A6547-CA94-8ADF-8DDB-1607AE342271}"/>
                </a:ext>
              </a:extLst>
            </p:cNvPr>
            <p:cNvGrpSpPr/>
            <p:nvPr/>
          </p:nvGrpSpPr>
          <p:grpSpPr>
            <a:xfrm>
              <a:off x="712919" y="1881386"/>
              <a:ext cx="2245501" cy="3905050"/>
              <a:chOff x="712919" y="1881386"/>
              <a:chExt cx="2245501" cy="3905050"/>
            </a:xfrm>
          </p:grpSpPr>
          <p:grpSp>
            <p:nvGrpSpPr>
              <p:cNvPr id="21" name="Group 20">
                <a:extLst>
                  <a:ext uri="{FF2B5EF4-FFF2-40B4-BE49-F238E27FC236}">
                    <a16:creationId xmlns:a16="http://schemas.microsoft.com/office/drawing/2014/main" id="{91F975E4-D748-E781-D3CC-76E1732E7465}"/>
                  </a:ext>
                </a:extLst>
              </p:cNvPr>
              <p:cNvGrpSpPr/>
              <p:nvPr/>
            </p:nvGrpSpPr>
            <p:grpSpPr>
              <a:xfrm>
                <a:off x="889377" y="1881386"/>
                <a:ext cx="1892586" cy="3905050"/>
                <a:chOff x="746947" y="972322"/>
                <a:chExt cx="2581338" cy="5326178"/>
              </a:xfrm>
            </p:grpSpPr>
            <p:pic>
              <p:nvPicPr>
                <p:cNvPr id="1026" name="Picture 2" descr="Vector Modern smartphone isolated. Mobile phone with blank screen. Cell ...">
                  <a:extLst>
                    <a:ext uri="{FF2B5EF4-FFF2-40B4-BE49-F238E27FC236}">
                      <a16:creationId xmlns:a16="http://schemas.microsoft.com/office/drawing/2014/main" id="{D5CAD7F7-ADB6-802A-CB6A-A1CF344F96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75" t="6155" r="28615" b="5721"/>
                <a:stretch>
                  <a:fillRect/>
                </a:stretch>
              </p:blipFill>
              <p:spPr bwMode="auto">
                <a:xfrm>
                  <a:off x="746947" y="972322"/>
                  <a:ext cx="2581338" cy="532617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06855B3-7506-8788-4746-3A630F5A71EB}"/>
                    </a:ext>
                  </a:extLst>
                </p:cNvPr>
                <p:cNvPicPr>
                  <a:picLocks noChangeAspect="1"/>
                </p:cNvPicPr>
                <p:nvPr/>
              </p:nvPicPr>
              <p:blipFill>
                <a:blip r:embed="rId5"/>
                <a:stretch>
                  <a:fillRect/>
                </a:stretch>
              </p:blipFill>
              <p:spPr>
                <a:xfrm>
                  <a:off x="923451" y="1387336"/>
                  <a:ext cx="2278484" cy="4529328"/>
                </a:xfrm>
                <a:prstGeom prst="rect">
                  <a:avLst/>
                </a:prstGeom>
              </p:spPr>
            </p:pic>
            <p:pic>
              <p:nvPicPr>
                <p:cNvPr id="19" name="Picture 18">
                  <a:extLst>
                    <a:ext uri="{FF2B5EF4-FFF2-40B4-BE49-F238E27FC236}">
                      <a16:creationId xmlns:a16="http://schemas.microsoft.com/office/drawing/2014/main" id="{4060B6CC-5B6D-7EDF-659C-F2CB0D2D0628}"/>
                    </a:ext>
                  </a:extLst>
                </p:cNvPr>
                <p:cNvPicPr>
                  <a:picLocks noChangeAspect="1"/>
                </p:cNvPicPr>
                <p:nvPr/>
              </p:nvPicPr>
              <p:blipFill>
                <a:blip r:embed="rId6">
                  <a:extLst>
                    <a:ext uri="{28A0092B-C50C-407E-A947-70E740481C1C}">
                      <a14:useLocalDpi xmlns:a14="http://schemas.microsoft.com/office/drawing/2010/main" val="0"/>
                    </a:ext>
                  </a:extLst>
                </a:blip>
                <a:srcRect t="42432" b="35823"/>
                <a:stretch>
                  <a:fillRect/>
                </a:stretch>
              </p:blipFill>
              <p:spPr>
                <a:xfrm>
                  <a:off x="965196" y="3413629"/>
                  <a:ext cx="2166258" cy="1079488"/>
                </a:xfrm>
                <a:prstGeom prst="rect">
                  <a:avLst/>
                </a:prstGeom>
              </p:spPr>
            </p:pic>
            <p:sp>
              <p:nvSpPr>
                <p:cNvPr id="20" name="Rectangle 19">
                  <a:extLst>
                    <a:ext uri="{FF2B5EF4-FFF2-40B4-BE49-F238E27FC236}">
                      <a16:creationId xmlns:a16="http://schemas.microsoft.com/office/drawing/2014/main" id="{39D42386-D7FB-66CD-E34A-303D6B053952}"/>
                    </a:ext>
                  </a:extLst>
                </p:cNvPr>
                <p:cNvSpPr/>
                <p:nvPr/>
              </p:nvSpPr>
              <p:spPr>
                <a:xfrm>
                  <a:off x="965196" y="4475533"/>
                  <a:ext cx="2236739" cy="295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18" name="Picture 17">
                  <a:extLst>
                    <a:ext uri="{FF2B5EF4-FFF2-40B4-BE49-F238E27FC236}">
                      <a16:creationId xmlns:a16="http://schemas.microsoft.com/office/drawing/2014/main" id="{75F020FF-4CF6-EC48-7402-041321852CD9}"/>
                    </a:ext>
                  </a:extLst>
                </p:cNvPr>
                <p:cNvPicPr>
                  <a:picLocks noChangeAspect="1"/>
                </p:cNvPicPr>
                <p:nvPr/>
              </p:nvPicPr>
              <p:blipFill>
                <a:blip r:embed="rId5"/>
                <a:srcRect t="64846" b="23457"/>
                <a:stretch>
                  <a:fillRect/>
                </a:stretch>
              </p:blipFill>
              <p:spPr>
                <a:xfrm>
                  <a:off x="933686" y="4537205"/>
                  <a:ext cx="2236739" cy="529770"/>
                </a:xfrm>
                <a:prstGeom prst="rect">
                  <a:avLst/>
                </a:prstGeom>
              </p:spPr>
            </p:pic>
          </p:grpSp>
          <p:grpSp>
            <p:nvGrpSpPr>
              <p:cNvPr id="35" name="Group 34">
                <a:extLst>
                  <a:ext uri="{FF2B5EF4-FFF2-40B4-BE49-F238E27FC236}">
                    <a16:creationId xmlns:a16="http://schemas.microsoft.com/office/drawing/2014/main" id="{4797DF3E-B129-C6B3-2025-85361D9DD062}"/>
                  </a:ext>
                </a:extLst>
              </p:cNvPr>
              <p:cNvGrpSpPr/>
              <p:nvPr/>
            </p:nvGrpSpPr>
            <p:grpSpPr>
              <a:xfrm>
                <a:off x="712919" y="4883506"/>
                <a:ext cx="2245501" cy="456706"/>
                <a:chOff x="626142" y="4491246"/>
                <a:chExt cx="2631098" cy="535132"/>
              </a:xfrm>
            </p:grpSpPr>
            <p:sp>
              <p:nvSpPr>
                <p:cNvPr id="14" name="Rounded Rectangle 17">
                  <a:extLst>
                    <a:ext uri="{FF2B5EF4-FFF2-40B4-BE49-F238E27FC236}">
                      <a16:creationId xmlns:a16="http://schemas.microsoft.com/office/drawing/2014/main" id="{752F5ED8-598E-3CD2-2458-54FB1140AA96}"/>
                    </a:ext>
                  </a:extLst>
                </p:cNvPr>
                <p:cNvSpPr/>
                <p:nvPr/>
              </p:nvSpPr>
              <p:spPr>
                <a:xfrm>
                  <a:off x="626142" y="4491246"/>
                  <a:ext cx="2631098" cy="535132"/>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457200"/>
                  <a:r>
                    <a:rPr lang="en-US" sz="1200" b="1" dirty="0"/>
                    <a:t>Secured Self Dispatch</a:t>
                  </a:r>
                </a:p>
              </p:txBody>
            </p:sp>
            <p:grpSp>
              <p:nvGrpSpPr>
                <p:cNvPr id="15" name="Group 14">
                  <a:extLst>
                    <a:ext uri="{FF2B5EF4-FFF2-40B4-BE49-F238E27FC236}">
                      <a16:creationId xmlns:a16="http://schemas.microsoft.com/office/drawing/2014/main" id="{B3E8EC98-D638-B916-226E-9C1B4CF14D85}"/>
                    </a:ext>
                  </a:extLst>
                </p:cNvPr>
                <p:cNvGrpSpPr/>
                <p:nvPr/>
              </p:nvGrpSpPr>
              <p:grpSpPr>
                <a:xfrm>
                  <a:off x="705864" y="4554306"/>
                  <a:ext cx="425274" cy="425275"/>
                  <a:chOff x="1806966" y="4525395"/>
                  <a:chExt cx="1188166" cy="1188168"/>
                </a:xfrm>
              </p:grpSpPr>
              <p:sp>
                <p:nvSpPr>
                  <p:cNvPr id="16" name="Oval 15">
                    <a:extLst>
                      <a:ext uri="{FF2B5EF4-FFF2-40B4-BE49-F238E27FC236}">
                        <a16:creationId xmlns:a16="http://schemas.microsoft.com/office/drawing/2014/main" id="{849018ED-A736-B28F-9700-6CBCDD757D99}"/>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800"/>
                  </a:p>
                </p:txBody>
              </p:sp>
              <p:pic>
                <p:nvPicPr>
                  <p:cNvPr id="17" name="Picture 16">
                    <a:extLst>
                      <a:ext uri="{FF2B5EF4-FFF2-40B4-BE49-F238E27FC236}">
                        <a16:creationId xmlns:a16="http://schemas.microsoft.com/office/drawing/2014/main" id="{D134FB21-D7FC-90B6-0724-E752E1B903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06966" y="4525395"/>
                    <a:ext cx="1188166" cy="1188168"/>
                  </a:xfrm>
                  <a:prstGeom prst="rect">
                    <a:avLst/>
                  </a:prstGeom>
                </p:spPr>
              </p:pic>
            </p:grpSp>
          </p:grpSp>
        </p:grpSp>
      </p:grpSp>
      <p:sp>
        <p:nvSpPr>
          <p:cNvPr id="23" name="Rectangle: Rounded Corners 22">
            <a:extLst>
              <a:ext uri="{FF2B5EF4-FFF2-40B4-BE49-F238E27FC236}">
                <a16:creationId xmlns:a16="http://schemas.microsoft.com/office/drawing/2014/main" id="{CE329088-93F4-6500-87DD-A65326E83BD3}"/>
              </a:ext>
            </a:extLst>
          </p:cNvPr>
          <p:cNvSpPr/>
          <p:nvPr/>
        </p:nvSpPr>
        <p:spPr>
          <a:xfrm>
            <a:off x="7193045" y="5572911"/>
            <a:ext cx="1985151"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Schedule Demo</a:t>
            </a:r>
          </a:p>
        </p:txBody>
      </p:sp>
      <p:sp>
        <p:nvSpPr>
          <p:cNvPr id="3" name="TextBox 2">
            <a:extLst>
              <a:ext uri="{FF2B5EF4-FFF2-40B4-BE49-F238E27FC236}">
                <a16:creationId xmlns:a16="http://schemas.microsoft.com/office/drawing/2014/main" id="{6529AFE0-77EB-483A-532B-256D43402512}"/>
              </a:ext>
            </a:extLst>
          </p:cNvPr>
          <p:cNvSpPr txBox="1"/>
          <p:nvPr/>
        </p:nvSpPr>
        <p:spPr>
          <a:xfrm>
            <a:off x="7107637" y="2054087"/>
            <a:ext cx="4899483" cy="907941"/>
          </a:xfrm>
          <a:prstGeom prst="rect">
            <a:avLst/>
          </a:prstGeom>
          <a:noFill/>
        </p:spPr>
        <p:txBody>
          <a:bodyPr wrap="none" rtlCol="0">
            <a:spAutoFit/>
          </a:bodyPr>
          <a:lstStyle/>
          <a:p>
            <a:r>
              <a:rPr lang="en-US" sz="1600" b="1" dirty="0"/>
              <a:t>Secured ATM Lock Access Automation</a:t>
            </a:r>
          </a:p>
          <a:p>
            <a:r>
              <a:rPr lang="en-US" sz="1400" b="1" dirty="0"/>
              <a:t>Multiple ATM Lock Platforms (Dorma Kaba, S&amp;G, Intergard)</a:t>
            </a:r>
          </a:p>
          <a:p>
            <a:endParaRPr lang="en-US" sz="900" b="1" dirty="0"/>
          </a:p>
          <a:p>
            <a:r>
              <a:rPr lang="en-US" sz="1400" b="1" dirty="0">
                <a:solidFill>
                  <a:schemeClr val="accent6">
                    <a:lumMod val="75000"/>
                  </a:schemeClr>
                </a:solidFill>
              </a:rPr>
              <a:t>500K+/mo </a:t>
            </a:r>
            <a:r>
              <a:rPr lang="en-US" sz="1400" dirty="0"/>
              <a:t>Secured ATM Opens/Closes</a:t>
            </a:r>
          </a:p>
        </p:txBody>
      </p:sp>
      <p:pic>
        <p:nvPicPr>
          <p:cNvPr id="22" name="Picture 21">
            <a:extLst>
              <a:ext uri="{FF2B5EF4-FFF2-40B4-BE49-F238E27FC236}">
                <a16:creationId xmlns:a16="http://schemas.microsoft.com/office/drawing/2014/main" id="{BE564FEF-B7AB-5FB8-116D-9E31DE6D18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3020" y="1479526"/>
            <a:ext cx="3589962" cy="587706"/>
          </a:xfrm>
          <a:prstGeom prst="rect">
            <a:avLst/>
          </a:prstGeom>
        </p:spPr>
      </p:pic>
      <p:sp>
        <p:nvSpPr>
          <p:cNvPr id="36" name="Rectangle: Rounded Corners 35">
            <a:extLst>
              <a:ext uri="{FF2B5EF4-FFF2-40B4-BE49-F238E27FC236}">
                <a16:creationId xmlns:a16="http://schemas.microsoft.com/office/drawing/2014/main" id="{CDF2BDD4-D4A5-38C1-542F-E6A9C5C8A937}"/>
              </a:ext>
            </a:extLst>
          </p:cNvPr>
          <p:cNvSpPr/>
          <p:nvPr/>
        </p:nvSpPr>
        <p:spPr>
          <a:xfrm>
            <a:off x="11001959" y="1617167"/>
            <a:ext cx="857238" cy="31242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b="1" dirty="0"/>
              <a:t>Go -&gt;</a:t>
            </a:r>
          </a:p>
        </p:txBody>
      </p:sp>
      <p:sp>
        <p:nvSpPr>
          <p:cNvPr id="40" name="TextBox 39">
            <a:extLst>
              <a:ext uri="{FF2B5EF4-FFF2-40B4-BE49-F238E27FC236}">
                <a16:creationId xmlns:a16="http://schemas.microsoft.com/office/drawing/2014/main" id="{56F4E8F0-A05B-8D98-50F3-01D2E6AE8D53}"/>
              </a:ext>
            </a:extLst>
          </p:cNvPr>
          <p:cNvSpPr txBox="1"/>
          <p:nvPr/>
        </p:nvSpPr>
        <p:spPr>
          <a:xfrm>
            <a:off x="7107636" y="3065895"/>
            <a:ext cx="4613439" cy="1631216"/>
          </a:xfrm>
          <a:prstGeom prst="rect">
            <a:avLst/>
          </a:prstGeom>
          <a:noFill/>
        </p:spPr>
        <p:txBody>
          <a:bodyPr wrap="square">
            <a:spAutoFit/>
          </a:bodyPr>
          <a:lstStyle/>
          <a:p>
            <a:r>
              <a:rPr lang="en-US" sz="1000" b="1" dirty="0"/>
              <a:t>Challenge:</a:t>
            </a:r>
          </a:p>
          <a:p>
            <a:r>
              <a:rPr lang="en-US" sz="1000" dirty="0"/>
              <a:t>Reduce manpower requirements to staff dispatch support operations while preserving fully lock access security and auditability</a:t>
            </a:r>
          </a:p>
          <a:p>
            <a:endParaRPr lang="en-US" sz="1000" dirty="0"/>
          </a:p>
          <a:p>
            <a:r>
              <a:rPr lang="en-US" sz="1000" b="1" dirty="0"/>
              <a:t>Target:</a:t>
            </a:r>
          </a:p>
          <a:p>
            <a:r>
              <a:rPr lang="en-US" sz="1000" dirty="0"/>
              <a:t>Securely automate permitted ATM lock access requests directly from authorized field technicians and cash loaders against multiple industry lock systems</a:t>
            </a:r>
          </a:p>
          <a:p>
            <a:endParaRPr lang="en-US" sz="1000" dirty="0"/>
          </a:p>
          <a:p>
            <a:r>
              <a:rPr lang="en-US" sz="1000" b="1" dirty="0"/>
              <a:t>Outcome:</a:t>
            </a:r>
          </a:p>
          <a:p>
            <a:r>
              <a:rPr lang="en-US" sz="1000" dirty="0"/>
              <a:t>Offloading 95%+ of routine daily manual dispatching costs</a:t>
            </a:r>
          </a:p>
        </p:txBody>
      </p:sp>
    </p:spTree>
    <p:extLst>
      <p:ext uri="{BB962C8B-B14F-4D97-AF65-F5344CB8AC3E}">
        <p14:creationId xmlns:p14="http://schemas.microsoft.com/office/powerpoint/2010/main" val="769864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E1F1FA1-F87A-9760-645C-9ACEE5447048}"/>
              </a:ext>
            </a:extLst>
          </p:cNvPr>
          <p:cNvGrpSpPr/>
          <p:nvPr/>
        </p:nvGrpSpPr>
        <p:grpSpPr>
          <a:xfrm>
            <a:off x="712919" y="97275"/>
            <a:ext cx="8967794" cy="6622271"/>
            <a:chOff x="712919" y="1577450"/>
            <a:chExt cx="5959509" cy="4400802"/>
          </a:xfrm>
        </p:grpSpPr>
        <p:grpSp>
          <p:nvGrpSpPr>
            <p:cNvPr id="3" name="Group 2">
              <a:extLst>
                <a:ext uri="{FF2B5EF4-FFF2-40B4-BE49-F238E27FC236}">
                  <a16:creationId xmlns:a16="http://schemas.microsoft.com/office/drawing/2014/main" id="{6C2C51F1-4E34-EF69-ECB4-72B15771A80A}"/>
                </a:ext>
              </a:extLst>
            </p:cNvPr>
            <p:cNvGrpSpPr/>
            <p:nvPr/>
          </p:nvGrpSpPr>
          <p:grpSpPr>
            <a:xfrm>
              <a:off x="1648894" y="1577450"/>
              <a:ext cx="5023534" cy="4400802"/>
              <a:chOff x="2195464" y="1197503"/>
              <a:chExt cx="5825932" cy="4998985"/>
            </a:xfrm>
          </p:grpSpPr>
          <p:pic>
            <p:nvPicPr>
              <p:cNvPr id="16" name="Picture 15">
                <a:extLst>
                  <a:ext uri="{FF2B5EF4-FFF2-40B4-BE49-F238E27FC236}">
                    <a16:creationId xmlns:a16="http://schemas.microsoft.com/office/drawing/2014/main" id="{005DBCA1-99C1-DCE9-2A78-2A07388B5C92}"/>
                  </a:ext>
                </a:extLst>
              </p:cNvPr>
              <p:cNvPicPr>
                <a:picLocks noChangeAspect="1"/>
              </p:cNvPicPr>
              <p:nvPr/>
            </p:nvPicPr>
            <p:blipFill>
              <a:blip r:embed="rId2"/>
              <a:stretch>
                <a:fillRect/>
              </a:stretch>
            </p:blipFill>
            <p:spPr>
              <a:xfrm>
                <a:off x="2195464" y="1197503"/>
                <a:ext cx="5825932" cy="4998985"/>
              </a:xfrm>
              <a:prstGeom prst="rect">
                <a:avLst/>
              </a:prstGeom>
            </p:spPr>
          </p:pic>
          <p:sp>
            <p:nvSpPr>
              <p:cNvPr id="17" name="Rectangle 16">
                <a:extLst>
                  <a:ext uri="{FF2B5EF4-FFF2-40B4-BE49-F238E27FC236}">
                    <a16:creationId xmlns:a16="http://schemas.microsoft.com/office/drawing/2014/main" id="{20CD642B-46A0-ADAF-F165-5330892C1D2C}"/>
                  </a:ext>
                </a:extLst>
              </p:cNvPr>
              <p:cNvSpPr/>
              <p:nvPr/>
            </p:nvSpPr>
            <p:spPr>
              <a:xfrm>
                <a:off x="5252720" y="1257268"/>
                <a:ext cx="701040" cy="1651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 name="Group 3">
              <a:extLst>
                <a:ext uri="{FF2B5EF4-FFF2-40B4-BE49-F238E27FC236}">
                  <a16:creationId xmlns:a16="http://schemas.microsoft.com/office/drawing/2014/main" id="{BCD0A282-2CF2-763D-1E35-E567A8E40D54}"/>
                </a:ext>
              </a:extLst>
            </p:cNvPr>
            <p:cNvGrpSpPr/>
            <p:nvPr/>
          </p:nvGrpSpPr>
          <p:grpSpPr>
            <a:xfrm>
              <a:off x="712919" y="1881386"/>
              <a:ext cx="2245501" cy="3905050"/>
              <a:chOff x="712919" y="1881386"/>
              <a:chExt cx="2245501" cy="3905050"/>
            </a:xfrm>
          </p:grpSpPr>
          <p:grpSp>
            <p:nvGrpSpPr>
              <p:cNvPr id="5" name="Group 4">
                <a:extLst>
                  <a:ext uri="{FF2B5EF4-FFF2-40B4-BE49-F238E27FC236}">
                    <a16:creationId xmlns:a16="http://schemas.microsoft.com/office/drawing/2014/main" id="{5D084504-F7E9-271B-23C0-1B346F0BDDFA}"/>
                  </a:ext>
                </a:extLst>
              </p:cNvPr>
              <p:cNvGrpSpPr/>
              <p:nvPr/>
            </p:nvGrpSpPr>
            <p:grpSpPr>
              <a:xfrm>
                <a:off x="889377" y="1881386"/>
                <a:ext cx="1892586" cy="3905050"/>
                <a:chOff x="746947" y="972322"/>
                <a:chExt cx="2581338" cy="5326178"/>
              </a:xfrm>
            </p:grpSpPr>
            <p:pic>
              <p:nvPicPr>
                <p:cNvPr id="11" name="Picture 2" descr="Vector Modern smartphone isolated. Mobile phone with blank screen. Cell ...">
                  <a:extLst>
                    <a:ext uri="{FF2B5EF4-FFF2-40B4-BE49-F238E27FC236}">
                      <a16:creationId xmlns:a16="http://schemas.microsoft.com/office/drawing/2014/main" id="{6A881C5E-DD78-AE8F-C7DE-4C8A788216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615" b="5721"/>
                <a:stretch>
                  <a:fillRect/>
                </a:stretch>
              </p:blipFill>
              <p:spPr bwMode="auto">
                <a:xfrm>
                  <a:off x="746947" y="972322"/>
                  <a:ext cx="2581338" cy="532617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3EF0E8A4-0D35-E642-2727-A40E9A135ED9}"/>
                    </a:ext>
                  </a:extLst>
                </p:cNvPr>
                <p:cNvPicPr>
                  <a:picLocks noChangeAspect="1"/>
                </p:cNvPicPr>
                <p:nvPr/>
              </p:nvPicPr>
              <p:blipFill>
                <a:blip r:embed="rId4"/>
                <a:stretch>
                  <a:fillRect/>
                </a:stretch>
              </p:blipFill>
              <p:spPr>
                <a:xfrm>
                  <a:off x="923451" y="1387336"/>
                  <a:ext cx="2278484" cy="4529328"/>
                </a:xfrm>
                <a:prstGeom prst="rect">
                  <a:avLst/>
                </a:prstGeom>
              </p:spPr>
            </p:pic>
            <p:pic>
              <p:nvPicPr>
                <p:cNvPr id="13" name="Picture 12">
                  <a:extLst>
                    <a:ext uri="{FF2B5EF4-FFF2-40B4-BE49-F238E27FC236}">
                      <a16:creationId xmlns:a16="http://schemas.microsoft.com/office/drawing/2014/main" id="{42E2C31D-A88D-350B-E271-CEE0CC8525F7}"/>
                    </a:ext>
                  </a:extLst>
                </p:cNvPr>
                <p:cNvPicPr>
                  <a:picLocks noChangeAspect="1"/>
                </p:cNvPicPr>
                <p:nvPr/>
              </p:nvPicPr>
              <p:blipFill>
                <a:blip r:embed="rId5">
                  <a:extLst>
                    <a:ext uri="{28A0092B-C50C-407E-A947-70E740481C1C}">
                      <a14:useLocalDpi xmlns:a14="http://schemas.microsoft.com/office/drawing/2010/main" val="0"/>
                    </a:ext>
                  </a:extLst>
                </a:blip>
                <a:srcRect t="42432" b="35823"/>
                <a:stretch>
                  <a:fillRect/>
                </a:stretch>
              </p:blipFill>
              <p:spPr>
                <a:xfrm>
                  <a:off x="965196" y="3413629"/>
                  <a:ext cx="2166258" cy="1079488"/>
                </a:xfrm>
                <a:prstGeom prst="rect">
                  <a:avLst/>
                </a:prstGeom>
              </p:spPr>
            </p:pic>
            <p:sp>
              <p:nvSpPr>
                <p:cNvPr id="14" name="Rectangle 13">
                  <a:extLst>
                    <a:ext uri="{FF2B5EF4-FFF2-40B4-BE49-F238E27FC236}">
                      <a16:creationId xmlns:a16="http://schemas.microsoft.com/office/drawing/2014/main" id="{C0F0E50B-80B1-B619-2781-5F0538D9F985}"/>
                    </a:ext>
                  </a:extLst>
                </p:cNvPr>
                <p:cNvSpPr/>
                <p:nvPr/>
              </p:nvSpPr>
              <p:spPr>
                <a:xfrm>
                  <a:off x="965196" y="4475533"/>
                  <a:ext cx="2236739" cy="295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15" name="Picture 14">
                  <a:extLst>
                    <a:ext uri="{FF2B5EF4-FFF2-40B4-BE49-F238E27FC236}">
                      <a16:creationId xmlns:a16="http://schemas.microsoft.com/office/drawing/2014/main" id="{78DAEA6A-E592-E016-FEF0-E292AC1832B9}"/>
                    </a:ext>
                  </a:extLst>
                </p:cNvPr>
                <p:cNvPicPr>
                  <a:picLocks noChangeAspect="1"/>
                </p:cNvPicPr>
                <p:nvPr/>
              </p:nvPicPr>
              <p:blipFill>
                <a:blip r:embed="rId4"/>
                <a:srcRect t="64846" b="23457"/>
                <a:stretch>
                  <a:fillRect/>
                </a:stretch>
              </p:blipFill>
              <p:spPr>
                <a:xfrm>
                  <a:off x="933686" y="4537205"/>
                  <a:ext cx="2236739" cy="529770"/>
                </a:xfrm>
                <a:prstGeom prst="rect">
                  <a:avLst/>
                </a:prstGeom>
              </p:spPr>
            </p:pic>
          </p:grpSp>
          <p:grpSp>
            <p:nvGrpSpPr>
              <p:cNvPr id="6" name="Group 5">
                <a:extLst>
                  <a:ext uri="{FF2B5EF4-FFF2-40B4-BE49-F238E27FC236}">
                    <a16:creationId xmlns:a16="http://schemas.microsoft.com/office/drawing/2014/main" id="{175D13A5-2C2D-35A9-2940-B9ADB7CF0059}"/>
                  </a:ext>
                </a:extLst>
              </p:cNvPr>
              <p:cNvGrpSpPr/>
              <p:nvPr/>
            </p:nvGrpSpPr>
            <p:grpSpPr>
              <a:xfrm>
                <a:off x="712919" y="4883506"/>
                <a:ext cx="2245501" cy="456706"/>
                <a:chOff x="626142" y="4491246"/>
                <a:chExt cx="2631098" cy="535132"/>
              </a:xfrm>
            </p:grpSpPr>
            <p:sp>
              <p:nvSpPr>
                <p:cNvPr id="7" name="Rounded Rectangle 17">
                  <a:extLst>
                    <a:ext uri="{FF2B5EF4-FFF2-40B4-BE49-F238E27FC236}">
                      <a16:creationId xmlns:a16="http://schemas.microsoft.com/office/drawing/2014/main" id="{1CA1D70C-2588-DF4E-5C7B-80053E5C88E7}"/>
                    </a:ext>
                  </a:extLst>
                </p:cNvPr>
                <p:cNvSpPr/>
                <p:nvPr/>
              </p:nvSpPr>
              <p:spPr>
                <a:xfrm>
                  <a:off x="626142" y="4491246"/>
                  <a:ext cx="2631098" cy="535132"/>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685800"/>
                  <a:r>
                    <a:rPr lang="en-US" b="1" dirty="0"/>
                    <a:t>Secured Self Dispatch</a:t>
                  </a:r>
                </a:p>
              </p:txBody>
            </p:sp>
            <p:grpSp>
              <p:nvGrpSpPr>
                <p:cNvPr id="8" name="Group 7">
                  <a:extLst>
                    <a:ext uri="{FF2B5EF4-FFF2-40B4-BE49-F238E27FC236}">
                      <a16:creationId xmlns:a16="http://schemas.microsoft.com/office/drawing/2014/main" id="{AA9F345D-08D7-AF9B-5277-4137CC6C415D}"/>
                    </a:ext>
                  </a:extLst>
                </p:cNvPr>
                <p:cNvGrpSpPr/>
                <p:nvPr/>
              </p:nvGrpSpPr>
              <p:grpSpPr>
                <a:xfrm>
                  <a:off x="705864" y="4554306"/>
                  <a:ext cx="425274" cy="425275"/>
                  <a:chOff x="1806966" y="4525395"/>
                  <a:chExt cx="1188166" cy="1188168"/>
                </a:xfrm>
              </p:grpSpPr>
              <p:sp>
                <p:nvSpPr>
                  <p:cNvPr id="9" name="Oval 8">
                    <a:extLst>
                      <a:ext uri="{FF2B5EF4-FFF2-40B4-BE49-F238E27FC236}">
                        <a16:creationId xmlns:a16="http://schemas.microsoft.com/office/drawing/2014/main" id="{8A54DFFD-CE0F-4DD5-F3C7-716281491406}"/>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800"/>
                  </a:p>
                </p:txBody>
              </p:sp>
              <p:pic>
                <p:nvPicPr>
                  <p:cNvPr id="10" name="Picture 9">
                    <a:extLst>
                      <a:ext uri="{FF2B5EF4-FFF2-40B4-BE49-F238E27FC236}">
                        <a16:creationId xmlns:a16="http://schemas.microsoft.com/office/drawing/2014/main" id="{94C879FB-0D52-DE53-E7A7-04EB243E12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6966" y="4525395"/>
                    <a:ext cx="1188166" cy="1188168"/>
                  </a:xfrm>
                  <a:prstGeom prst="rect">
                    <a:avLst/>
                  </a:prstGeom>
                </p:spPr>
              </p:pic>
            </p:grpSp>
          </p:grpSp>
        </p:grpSp>
      </p:grpSp>
      <p:sp>
        <p:nvSpPr>
          <p:cNvPr id="18" name="TextBox 17">
            <a:extLst>
              <a:ext uri="{FF2B5EF4-FFF2-40B4-BE49-F238E27FC236}">
                <a16:creationId xmlns:a16="http://schemas.microsoft.com/office/drawing/2014/main" id="{BECDB57F-F6F3-DE7B-2A34-7CD10C5D5BF0}"/>
              </a:ext>
            </a:extLst>
          </p:cNvPr>
          <p:cNvSpPr txBox="1"/>
          <p:nvPr/>
        </p:nvSpPr>
        <p:spPr>
          <a:xfrm>
            <a:off x="2789895" y="6934699"/>
            <a:ext cx="5947782" cy="369332"/>
          </a:xfrm>
          <a:prstGeom prst="rect">
            <a:avLst/>
          </a:prstGeom>
          <a:noFill/>
        </p:spPr>
        <p:txBody>
          <a:bodyPr wrap="none" rtlCol="0">
            <a:spAutoFit/>
          </a:bodyPr>
          <a:lstStyle/>
          <a:p>
            <a:r>
              <a:rPr lang="en-US" dirty="0">
                <a:solidFill>
                  <a:srgbClr val="FF0000"/>
                </a:solidFill>
              </a:rPr>
              <a:t>{Source Image at Folder | CoorWorks Website v3  | OTC.jpg}</a:t>
            </a:r>
          </a:p>
        </p:txBody>
      </p:sp>
    </p:spTree>
    <p:extLst>
      <p:ext uri="{BB962C8B-B14F-4D97-AF65-F5344CB8AC3E}">
        <p14:creationId xmlns:p14="http://schemas.microsoft.com/office/powerpoint/2010/main" val="426530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6CF54-044B-5F31-E986-4D1E158BB463}"/>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479C9457-7047-ED20-6229-639FF3489A07}"/>
              </a:ext>
            </a:extLst>
          </p:cNvPr>
          <p:cNvSpPr/>
          <p:nvPr/>
        </p:nvSpPr>
        <p:spPr>
          <a:xfrm>
            <a:off x="7003020" y="1368418"/>
            <a:ext cx="5048647" cy="4798702"/>
          </a:xfrm>
          <a:prstGeom prst="roundRect">
            <a:avLst>
              <a:gd name="adj" fmla="val 1096"/>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937E6D-FECB-8443-7F4C-2F28FA552CDC}"/>
              </a:ext>
            </a:extLst>
          </p:cNvPr>
          <p:cNvSpPr txBox="1"/>
          <p:nvPr/>
        </p:nvSpPr>
        <p:spPr>
          <a:xfrm>
            <a:off x="436181" y="311791"/>
            <a:ext cx="8671414" cy="646331"/>
          </a:xfrm>
          <a:prstGeom prst="rect">
            <a:avLst/>
          </a:prstGeom>
          <a:noFill/>
        </p:spPr>
        <p:txBody>
          <a:bodyPr wrap="square">
            <a:spAutoFit/>
          </a:bodyPr>
          <a:lstStyle/>
          <a:p>
            <a:r>
              <a:rPr lang="en-US" sz="1800" b="1" dirty="0">
                <a:solidFill>
                  <a:schemeClr val="accent6">
                    <a:lumMod val="75000"/>
                  </a:schemeClr>
                </a:solidFill>
              </a:rPr>
              <a:t>Breakthroughs Delivered</a:t>
            </a:r>
            <a:endParaRPr lang="en-US" dirty="0">
              <a:solidFill>
                <a:schemeClr val="accent6">
                  <a:lumMod val="75000"/>
                </a:schemeClr>
              </a:solidFill>
            </a:endParaRPr>
          </a:p>
          <a:p>
            <a:r>
              <a:rPr lang="en-US" dirty="0"/>
              <a:t>Company Optimization – CIT/ATM/FLM Cash Operations/Logistics</a:t>
            </a:r>
            <a:endParaRPr lang="en-US" sz="1800" dirty="0"/>
          </a:p>
        </p:txBody>
      </p:sp>
      <p:pic>
        <p:nvPicPr>
          <p:cNvPr id="12" name="Picture 11">
            <a:extLst>
              <a:ext uri="{FF2B5EF4-FFF2-40B4-BE49-F238E27FC236}">
                <a16:creationId xmlns:a16="http://schemas.microsoft.com/office/drawing/2014/main" id="{EB43F56B-56F1-1AFC-E006-C605301E4921}"/>
              </a:ext>
            </a:extLst>
          </p:cNvPr>
          <p:cNvPicPr>
            <a:picLocks noChangeAspect="1"/>
          </p:cNvPicPr>
          <p:nvPr/>
        </p:nvPicPr>
        <p:blipFill>
          <a:blip r:embed="rId2"/>
          <a:srcRect r="49967" b="8924"/>
          <a:stretch>
            <a:fillRect/>
          </a:stretch>
        </p:blipFill>
        <p:spPr>
          <a:xfrm>
            <a:off x="9383504" y="5572911"/>
            <a:ext cx="1161913" cy="405341"/>
          </a:xfrm>
          <a:prstGeom prst="rect">
            <a:avLst/>
          </a:prstGeom>
        </p:spPr>
      </p:pic>
      <p:sp>
        <p:nvSpPr>
          <p:cNvPr id="23" name="Rectangle: Rounded Corners 22">
            <a:extLst>
              <a:ext uri="{FF2B5EF4-FFF2-40B4-BE49-F238E27FC236}">
                <a16:creationId xmlns:a16="http://schemas.microsoft.com/office/drawing/2014/main" id="{FFECA0DF-C1DC-29C4-F741-AEDAC0B739C7}"/>
              </a:ext>
            </a:extLst>
          </p:cNvPr>
          <p:cNvSpPr/>
          <p:nvPr/>
        </p:nvSpPr>
        <p:spPr>
          <a:xfrm>
            <a:off x="7193045" y="5572911"/>
            <a:ext cx="1985151"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Schedule Demo</a:t>
            </a:r>
          </a:p>
        </p:txBody>
      </p:sp>
      <p:sp>
        <p:nvSpPr>
          <p:cNvPr id="36" name="Rectangle: Rounded Corners 35">
            <a:extLst>
              <a:ext uri="{FF2B5EF4-FFF2-40B4-BE49-F238E27FC236}">
                <a16:creationId xmlns:a16="http://schemas.microsoft.com/office/drawing/2014/main" id="{C7C5D2BC-A24D-D929-E3BA-28368F1F63FC}"/>
              </a:ext>
            </a:extLst>
          </p:cNvPr>
          <p:cNvSpPr/>
          <p:nvPr/>
        </p:nvSpPr>
        <p:spPr>
          <a:xfrm>
            <a:off x="11001959" y="1617167"/>
            <a:ext cx="857238" cy="31242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b="1" dirty="0"/>
              <a:t>Go -&gt;</a:t>
            </a:r>
          </a:p>
        </p:txBody>
      </p:sp>
      <p:sp>
        <p:nvSpPr>
          <p:cNvPr id="40" name="TextBox 39">
            <a:extLst>
              <a:ext uri="{FF2B5EF4-FFF2-40B4-BE49-F238E27FC236}">
                <a16:creationId xmlns:a16="http://schemas.microsoft.com/office/drawing/2014/main" id="{8866AC80-198E-C25F-C889-5A46676D00F2}"/>
              </a:ext>
            </a:extLst>
          </p:cNvPr>
          <p:cNvSpPr txBox="1"/>
          <p:nvPr/>
        </p:nvSpPr>
        <p:spPr>
          <a:xfrm>
            <a:off x="7107636" y="3065895"/>
            <a:ext cx="4613439" cy="2246769"/>
          </a:xfrm>
          <a:prstGeom prst="rect">
            <a:avLst/>
          </a:prstGeom>
          <a:noFill/>
        </p:spPr>
        <p:txBody>
          <a:bodyPr wrap="square">
            <a:spAutoFit/>
          </a:bodyPr>
          <a:lstStyle/>
          <a:p>
            <a:r>
              <a:rPr lang="en-US" sz="1000" b="1" dirty="0"/>
              <a:t>Challenge:</a:t>
            </a:r>
          </a:p>
          <a:p>
            <a:r>
              <a:rPr lang="en-US" sz="1000" dirty="0"/>
              <a:t>Replace a degrading cash logistics platform with a more adaptive, streamlined, and auditable operations foundation leveraging contemporary technologies for a 24x7 high-volume cash processing/transportation provider.</a:t>
            </a:r>
          </a:p>
          <a:p>
            <a:endParaRPr lang="en-US" sz="1000" dirty="0"/>
          </a:p>
          <a:p>
            <a:r>
              <a:rPr lang="en-US" sz="1000" b="1" dirty="0"/>
              <a:t>Target:</a:t>
            </a:r>
          </a:p>
          <a:p>
            <a:r>
              <a:rPr lang="en-US" sz="1000" dirty="0"/>
              <a:t>Provide a simplified, multi-lingual, multi-currency cash operations platform with centralized control enforcements across all aspects of the operations model (vaults, branches, trucks, routes, field users)</a:t>
            </a:r>
          </a:p>
          <a:p>
            <a:endParaRPr lang="en-US" sz="1000" dirty="0"/>
          </a:p>
          <a:p>
            <a:r>
              <a:rPr lang="en-US" sz="1000" b="1" dirty="0"/>
              <a:t>Outcome:</a:t>
            </a:r>
          </a:p>
          <a:p>
            <a:r>
              <a:rPr lang="en-US" sz="1000" dirty="0"/>
              <a:t>Reduced resource onboarding times, increased operating consistency, and centralized auditing of all operational details across billions in monthly cash movements.</a:t>
            </a:r>
          </a:p>
        </p:txBody>
      </p:sp>
      <p:grpSp>
        <p:nvGrpSpPr>
          <p:cNvPr id="2" name="Group 1">
            <a:extLst>
              <a:ext uri="{FF2B5EF4-FFF2-40B4-BE49-F238E27FC236}">
                <a16:creationId xmlns:a16="http://schemas.microsoft.com/office/drawing/2014/main" id="{F4569ABC-2EA3-A85A-67E9-4A6FC912D797}"/>
              </a:ext>
            </a:extLst>
          </p:cNvPr>
          <p:cNvGrpSpPr/>
          <p:nvPr/>
        </p:nvGrpSpPr>
        <p:grpSpPr>
          <a:xfrm>
            <a:off x="546652" y="1502444"/>
            <a:ext cx="6044580" cy="4475808"/>
            <a:chOff x="655084" y="930653"/>
            <a:chExt cx="7637152" cy="5655053"/>
          </a:xfrm>
        </p:grpSpPr>
        <p:pic>
          <p:nvPicPr>
            <p:cNvPr id="5" name="Picture 4">
              <a:extLst>
                <a:ext uri="{FF2B5EF4-FFF2-40B4-BE49-F238E27FC236}">
                  <a16:creationId xmlns:a16="http://schemas.microsoft.com/office/drawing/2014/main" id="{FB6FBCBA-7200-BE22-226F-9D2DE3CC9B49}"/>
                </a:ext>
              </a:extLst>
            </p:cNvPr>
            <p:cNvPicPr>
              <a:picLocks noChangeAspect="1"/>
            </p:cNvPicPr>
            <p:nvPr/>
          </p:nvPicPr>
          <p:blipFill>
            <a:blip r:embed="rId3"/>
            <a:stretch>
              <a:fillRect/>
            </a:stretch>
          </p:blipFill>
          <p:spPr>
            <a:xfrm>
              <a:off x="2234384" y="937260"/>
              <a:ext cx="6057852" cy="5502550"/>
            </a:xfrm>
            <a:prstGeom prst="rect">
              <a:avLst/>
            </a:prstGeom>
          </p:spPr>
        </p:pic>
        <p:grpSp>
          <p:nvGrpSpPr>
            <p:cNvPr id="6" name="Group 5">
              <a:extLst>
                <a:ext uri="{FF2B5EF4-FFF2-40B4-BE49-F238E27FC236}">
                  <a16:creationId xmlns:a16="http://schemas.microsoft.com/office/drawing/2014/main" id="{4234007E-B0E2-8081-57DF-E85879A53106}"/>
                </a:ext>
              </a:extLst>
            </p:cNvPr>
            <p:cNvGrpSpPr/>
            <p:nvPr/>
          </p:nvGrpSpPr>
          <p:grpSpPr>
            <a:xfrm>
              <a:off x="655084" y="1597322"/>
              <a:ext cx="2932177" cy="4988384"/>
              <a:chOff x="450332" y="972322"/>
              <a:chExt cx="3299134" cy="5612672"/>
            </a:xfrm>
          </p:grpSpPr>
          <p:pic>
            <p:nvPicPr>
              <p:cNvPr id="24" name="Picture 2" descr="Vector Modern smartphone isolated. Mobile phone with blank screen. Cell ...">
                <a:extLst>
                  <a:ext uri="{FF2B5EF4-FFF2-40B4-BE49-F238E27FC236}">
                    <a16:creationId xmlns:a16="http://schemas.microsoft.com/office/drawing/2014/main" id="{BEECF059-7CAC-D4AC-B021-4F0EF79368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75" t="6155" r="28635" b="5721"/>
              <a:stretch>
                <a:fillRect/>
              </a:stretch>
            </p:blipFill>
            <p:spPr bwMode="auto">
              <a:xfrm>
                <a:off x="746947" y="972322"/>
                <a:ext cx="2580104" cy="5326178"/>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a:extLst>
                  <a:ext uri="{FF2B5EF4-FFF2-40B4-BE49-F238E27FC236}">
                    <a16:creationId xmlns:a16="http://schemas.microsoft.com/office/drawing/2014/main" id="{8F357604-68BF-D374-BD4E-348E5138E076}"/>
                  </a:ext>
                </a:extLst>
              </p:cNvPr>
              <p:cNvGrpSpPr/>
              <p:nvPr/>
            </p:nvGrpSpPr>
            <p:grpSpPr>
              <a:xfrm>
                <a:off x="922850" y="1380515"/>
                <a:ext cx="2278000" cy="4756620"/>
                <a:chOff x="2814677" y="1377694"/>
                <a:chExt cx="2219363" cy="4634183"/>
              </a:xfrm>
            </p:grpSpPr>
            <p:pic>
              <p:nvPicPr>
                <p:cNvPr id="39" name="Picture 38">
                  <a:extLst>
                    <a:ext uri="{FF2B5EF4-FFF2-40B4-BE49-F238E27FC236}">
                      <a16:creationId xmlns:a16="http://schemas.microsoft.com/office/drawing/2014/main" id="{6F88258B-CE48-9123-7685-34C1D75F98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4678" y="1377694"/>
                  <a:ext cx="2219362" cy="4438723"/>
                </a:xfrm>
                <a:prstGeom prst="rect">
                  <a:avLst/>
                </a:prstGeom>
              </p:spPr>
            </p:pic>
            <p:pic>
              <p:nvPicPr>
                <p:cNvPr id="41" name="Picture 40">
                  <a:extLst>
                    <a:ext uri="{FF2B5EF4-FFF2-40B4-BE49-F238E27FC236}">
                      <a16:creationId xmlns:a16="http://schemas.microsoft.com/office/drawing/2014/main" id="{FB547EC4-C4FA-1C96-F36C-5EF5B5B59E9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0004"/>
                <a:stretch/>
              </p:blipFill>
              <p:spPr>
                <a:xfrm>
                  <a:off x="2814677" y="4650110"/>
                  <a:ext cx="2219362" cy="1361767"/>
                </a:xfrm>
                <a:prstGeom prst="rect">
                  <a:avLst/>
                </a:prstGeom>
                <a:ln>
                  <a:noFill/>
                </a:ln>
              </p:spPr>
            </p:pic>
            <p:grpSp>
              <p:nvGrpSpPr>
                <p:cNvPr id="42" name="Group 41">
                  <a:extLst>
                    <a:ext uri="{FF2B5EF4-FFF2-40B4-BE49-F238E27FC236}">
                      <a16:creationId xmlns:a16="http://schemas.microsoft.com/office/drawing/2014/main" id="{46B5EEC3-3895-DBCC-F0DF-EB59650D62F2}"/>
                    </a:ext>
                  </a:extLst>
                </p:cNvPr>
                <p:cNvGrpSpPr/>
                <p:nvPr/>
              </p:nvGrpSpPr>
              <p:grpSpPr>
                <a:xfrm>
                  <a:off x="3715680" y="4207368"/>
                  <a:ext cx="516012" cy="87630"/>
                  <a:chOff x="4105705" y="4200525"/>
                  <a:chExt cx="516012" cy="87630"/>
                </a:xfrm>
              </p:grpSpPr>
              <p:pic>
                <p:nvPicPr>
                  <p:cNvPr id="44" name="Picture 43">
                    <a:extLst>
                      <a:ext uri="{FF2B5EF4-FFF2-40B4-BE49-F238E27FC236}">
                        <a16:creationId xmlns:a16="http://schemas.microsoft.com/office/drawing/2014/main" id="{FC030DE8-1E8C-10B3-2306-92F54E04FA3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41007" t="57612" r="41416" b="40800"/>
                  <a:stretch/>
                </p:blipFill>
                <p:spPr>
                  <a:xfrm>
                    <a:off x="4105705" y="4200525"/>
                    <a:ext cx="390095" cy="70485"/>
                  </a:xfrm>
                  <a:prstGeom prst="rect">
                    <a:avLst/>
                  </a:prstGeom>
                </p:spPr>
              </p:pic>
              <p:pic>
                <p:nvPicPr>
                  <p:cNvPr id="45" name="Picture 44">
                    <a:extLst>
                      <a:ext uri="{FF2B5EF4-FFF2-40B4-BE49-F238E27FC236}">
                        <a16:creationId xmlns:a16="http://schemas.microsoft.com/office/drawing/2014/main" id="{A817514F-F788-D8DF-D83D-3E3E80F65D8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0901" t="57655" r="36075" b="40542"/>
                  <a:stretch/>
                </p:blipFill>
                <p:spPr>
                  <a:xfrm>
                    <a:off x="4495800" y="4208146"/>
                    <a:ext cx="67105" cy="80009"/>
                  </a:xfrm>
                  <a:prstGeom prst="rect">
                    <a:avLst/>
                  </a:prstGeom>
                </p:spPr>
              </p:pic>
              <p:pic>
                <p:nvPicPr>
                  <p:cNvPr id="46" name="Picture 45">
                    <a:extLst>
                      <a:ext uri="{FF2B5EF4-FFF2-40B4-BE49-F238E27FC236}">
                        <a16:creationId xmlns:a16="http://schemas.microsoft.com/office/drawing/2014/main" id="{29E87F0C-FFC2-0C6F-71E1-A5812A3C653D}"/>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0901" t="57655" r="36075" b="40542"/>
                  <a:stretch/>
                </p:blipFill>
                <p:spPr>
                  <a:xfrm>
                    <a:off x="4554612" y="4208146"/>
                    <a:ext cx="67105" cy="80009"/>
                  </a:xfrm>
                  <a:prstGeom prst="rect">
                    <a:avLst/>
                  </a:prstGeom>
                </p:spPr>
              </p:pic>
            </p:grpSp>
          </p:grpSp>
          <p:grpSp>
            <p:nvGrpSpPr>
              <p:cNvPr id="26" name="Group 25">
                <a:extLst>
                  <a:ext uri="{FF2B5EF4-FFF2-40B4-BE49-F238E27FC236}">
                    <a16:creationId xmlns:a16="http://schemas.microsoft.com/office/drawing/2014/main" id="{2D898309-574D-3602-CF1F-D43ED5B9C84E}"/>
                  </a:ext>
                </a:extLst>
              </p:cNvPr>
              <p:cNvGrpSpPr/>
              <p:nvPr/>
            </p:nvGrpSpPr>
            <p:grpSpPr>
              <a:xfrm>
                <a:off x="450332" y="5962083"/>
                <a:ext cx="3299134" cy="622911"/>
                <a:chOff x="1917353" y="3770354"/>
                <a:chExt cx="4260177" cy="804366"/>
              </a:xfrm>
            </p:grpSpPr>
            <p:sp>
              <p:nvSpPr>
                <p:cNvPr id="27" name="Rounded Rectangle 17">
                  <a:extLst>
                    <a:ext uri="{FF2B5EF4-FFF2-40B4-BE49-F238E27FC236}">
                      <a16:creationId xmlns:a16="http://schemas.microsoft.com/office/drawing/2014/main" id="{3208824C-2504-7BC9-9058-5805D75DFD9A}"/>
                    </a:ext>
                  </a:extLst>
                </p:cNvPr>
                <p:cNvSpPr/>
                <p:nvPr/>
              </p:nvSpPr>
              <p:spPr>
                <a:xfrm>
                  <a:off x="1917353" y="3770354"/>
                  <a:ext cx="4260177"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457200"/>
                  <a:r>
                    <a:rPr lang="en-US" sz="1200" b="1" dirty="0"/>
                    <a:t>Workflow Enforcement</a:t>
                  </a:r>
                </a:p>
              </p:txBody>
            </p:sp>
            <p:grpSp>
              <p:nvGrpSpPr>
                <p:cNvPr id="28" name="Group 27">
                  <a:extLst>
                    <a:ext uri="{FF2B5EF4-FFF2-40B4-BE49-F238E27FC236}">
                      <a16:creationId xmlns:a16="http://schemas.microsoft.com/office/drawing/2014/main" id="{9F993DA5-DB54-38EA-BD5C-F0A48CE657BB}"/>
                    </a:ext>
                  </a:extLst>
                </p:cNvPr>
                <p:cNvGrpSpPr/>
                <p:nvPr/>
              </p:nvGrpSpPr>
              <p:grpSpPr>
                <a:xfrm>
                  <a:off x="2100180" y="3865140"/>
                  <a:ext cx="639238" cy="639238"/>
                  <a:chOff x="1806965" y="4525395"/>
                  <a:chExt cx="1188167" cy="1188168"/>
                </a:xfrm>
              </p:grpSpPr>
              <p:sp>
                <p:nvSpPr>
                  <p:cNvPr id="29" name="Oval 28">
                    <a:extLst>
                      <a:ext uri="{FF2B5EF4-FFF2-40B4-BE49-F238E27FC236}">
                        <a16:creationId xmlns:a16="http://schemas.microsoft.com/office/drawing/2014/main" id="{B8584178-4EBE-F28B-4071-EE9A03D0A23C}"/>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33" name="Picture 32">
                    <a:extLst>
                      <a:ext uri="{FF2B5EF4-FFF2-40B4-BE49-F238E27FC236}">
                        <a16:creationId xmlns:a16="http://schemas.microsoft.com/office/drawing/2014/main" id="{3DA5D4DD-B439-0778-3E94-696FDB17009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nvGrpSpPr>
            <p:cNvPr id="8" name="Group 7">
              <a:extLst>
                <a:ext uri="{FF2B5EF4-FFF2-40B4-BE49-F238E27FC236}">
                  <a16:creationId xmlns:a16="http://schemas.microsoft.com/office/drawing/2014/main" id="{3CD92B12-469C-1A8D-E604-81EB772FA845}"/>
                </a:ext>
              </a:extLst>
            </p:cNvPr>
            <p:cNvGrpSpPr/>
            <p:nvPr/>
          </p:nvGrpSpPr>
          <p:grpSpPr>
            <a:xfrm>
              <a:off x="2283462" y="930653"/>
              <a:ext cx="1672590" cy="235929"/>
              <a:chOff x="1849120" y="937260"/>
              <a:chExt cx="1672590" cy="235929"/>
            </a:xfrm>
          </p:grpSpPr>
          <p:sp>
            <p:nvSpPr>
              <p:cNvPr id="10" name="Rectangle 9">
                <a:extLst>
                  <a:ext uri="{FF2B5EF4-FFF2-40B4-BE49-F238E27FC236}">
                    <a16:creationId xmlns:a16="http://schemas.microsoft.com/office/drawing/2014/main" id="{B101C3B6-7C3F-ABEB-639E-761A1B5B570B}"/>
                  </a:ext>
                </a:extLst>
              </p:cNvPr>
              <p:cNvSpPr/>
              <p:nvPr/>
            </p:nvSpPr>
            <p:spPr>
              <a:xfrm>
                <a:off x="1849120" y="937260"/>
                <a:ext cx="1672590" cy="235929"/>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rgbClr val="02072E"/>
                    </a:solidFill>
                  </a:rPr>
                  <a:t>          Main Branch</a:t>
                </a:r>
              </a:p>
            </p:txBody>
          </p:sp>
          <p:pic>
            <p:nvPicPr>
              <p:cNvPr id="11" name="Picture 10">
                <a:extLst>
                  <a:ext uri="{FF2B5EF4-FFF2-40B4-BE49-F238E27FC236}">
                    <a16:creationId xmlns:a16="http://schemas.microsoft.com/office/drawing/2014/main" id="{C6CA862A-44A8-0C0D-9CDF-E225FF742E6B}"/>
                  </a:ext>
                </a:extLst>
              </p:cNvPr>
              <p:cNvPicPr>
                <a:picLocks noChangeAspect="1"/>
              </p:cNvPicPr>
              <p:nvPr/>
            </p:nvPicPr>
            <p:blipFill>
              <a:blip r:embed="rId10"/>
              <a:srcRect l="25715" t="1419" r="73284" b="96894"/>
              <a:stretch>
                <a:fillRect/>
              </a:stretch>
            </p:blipFill>
            <p:spPr>
              <a:xfrm>
                <a:off x="2943294" y="1005211"/>
                <a:ext cx="65942" cy="100027"/>
              </a:xfrm>
              <a:prstGeom prst="rect">
                <a:avLst/>
              </a:prstGeom>
            </p:spPr>
          </p:pic>
          <p:pic>
            <p:nvPicPr>
              <p:cNvPr id="13" name="Picture 12">
                <a:extLst>
                  <a:ext uri="{FF2B5EF4-FFF2-40B4-BE49-F238E27FC236}">
                    <a16:creationId xmlns:a16="http://schemas.microsoft.com/office/drawing/2014/main" id="{5D068726-6984-7071-F65E-E155C736F9DE}"/>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15031" t="17452" r="29292" b="32459"/>
              <a:stretch/>
            </p:blipFill>
            <p:spPr>
              <a:xfrm>
                <a:off x="1919232" y="982247"/>
                <a:ext cx="175111" cy="151763"/>
              </a:xfrm>
              <a:prstGeom prst="rect">
                <a:avLst/>
              </a:prstGeom>
            </p:spPr>
          </p:pic>
        </p:grpSp>
      </p:grpSp>
      <p:sp>
        <p:nvSpPr>
          <p:cNvPr id="47" name="TextBox 46">
            <a:extLst>
              <a:ext uri="{FF2B5EF4-FFF2-40B4-BE49-F238E27FC236}">
                <a16:creationId xmlns:a16="http://schemas.microsoft.com/office/drawing/2014/main" id="{5090CD07-81D1-0AE2-2D36-48CE66C5E1F9}"/>
              </a:ext>
            </a:extLst>
          </p:cNvPr>
          <p:cNvSpPr txBox="1"/>
          <p:nvPr/>
        </p:nvSpPr>
        <p:spPr>
          <a:xfrm>
            <a:off x="7193045" y="2178080"/>
            <a:ext cx="4039054" cy="738664"/>
          </a:xfrm>
          <a:prstGeom prst="rect">
            <a:avLst/>
          </a:prstGeom>
          <a:noFill/>
        </p:spPr>
        <p:txBody>
          <a:bodyPr wrap="none" rtlCol="0">
            <a:spAutoFit/>
          </a:bodyPr>
          <a:lstStyle/>
          <a:p>
            <a:r>
              <a:rPr lang="en-US" sz="1600" b="1" dirty="0"/>
              <a:t>Zero-Trust CIT/ATM/Vault/FLM Operations</a:t>
            </a:r>
          </a:p>
          <a:p>
            <a:endParaRPr lang="en-US" sz="1200" b="1" dirty="0"/>
          </a:p>
          <a:p>
            <a:r>
              <a:rPr lang="en-US" sz="1400" b="1" dirty="0">
                <a:solidFill>
                  <a:schemeClr val="accent6">
                    <a:lumMod val="75000"/>
                  </a:schemeClr>
                </a:solidFill>
              </a:rPr>
              <a:t>$3Bn+/mo </a:t>
            </a:r>
            <a:r>
              <a:rPr lang="en-US" sz="1400" b="1" dirty="0"/>
              <a:t>Secured Cash Processing/Transport</a:t>
            </a:r>
          </a:p>
        </p:txBody>
      </p:sp>
      <p:pic>
        <p:nvPicPr>
          <p:cNvPr id="48" name="Picture 47">
            <a:extLst>
              <a:ext uri="{FF2B5EF4-FFF2-40B4-BE49-F238E27FC236}">
                <a16:creationId xmlns:a16="http://schemas.microsoft.com/office/drawing/2014/main" id="{9AE5C9EE-58B7-E3BA-9481-31427A31626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048617" y="1541522"/>
            <a:ext cx="3645044" cy="576400"/>
          </a:xfrm>
          <a:prstGeom prst="rect">
            <a:avLst/>
          </a:prstGeom>
        </p:spPr>
      </p:pic>
      <p:sp>
        <p:nvSpPr>
          <p:cNvPr id="49" name="Rectangle: Rounded Corners 48">
            <a:extLst>
              <a:ext uri="{FF2B5EF4-FFF2-40B4-BE49-F238E27FC236}">
                <a16:creationId xmlns:a16="http://schemas.microsoft.com/office/drawing/2014/main" id="{D7D82081-F8B8-D203-0347-C3FDCFE5C106}"/>
              </a:ext>
            </a:extLst>
          </p:cNvPr>
          <p:cNvSpPr/>
          <p:nvPr/>
        </p:nvSpPr>
        <p:spPr>
          <a:xfrm>
            <a:off x="436181" y="1368418"/>
            <a:ext cx="6497948" cy="4798702"/>
          </a:xfrm>
          <a:prstGeom prst="roundRect">
            <a:avLst>
              <a:gd name="adj" fmla="val 1819"/>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53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468E006-E697-8B20-DB0C-B2114E3F7FA9}"/>
              </a:ext>
            </a:extLst>
          </p:cNvPr>
          <p:cNvGrpSpPr/>
          <p:nvPr/>
        </p:nvGrpSpPr>
        <p:grpSpPr>
          <a:xfrm>
            <a:off x="546650" y="223897"/>
            <a:ext cx="8656984" cy="6410205"/>
            <a:chOff x="655084" y="930653"/>
            <a:chExt cx="7637152" cy="5655053"/>
          </a:xfrm>
        </p:grpSpPr>
        <p:pic>
          <p:nvPicPr>
            <p:cNvPr id="3" name="Picture 2">
              <a:extLst>
                <a:ext uri="{FF2B5EF4-FFF2-40B4-BE49-F238E27FC236}">
                  <a16:creationId xmlns:a16="http://schemas.microsoft.com/office/drawing/2014/main" id="{0A5B4FD4-B14B-98A1-977F-91D4947D71B2}"/>
                </a:ext>
              </a:extLst>
            </p:cNvPr>
            <p:cNvPicPr>
              <a:picLocks noChangeAspect="1"/>
            </p:cNvPicPr>
            <p:nvPr/>
          </p:nvPicPr>
          <p:blipFill>
            <a:blip r:embed="rId2"/>
            <a:stretch>
              <a:fillRect/>
            </a:stretch>
          </p:blipFill>
          <p:spPr>
            <a:xfrm>
              <a:off x="2234384" y="937260"/>
              <a:ext cx="6057852" cy="5502550"/>
            </a:xfrm>
            <a:prstGeom prst="rect">
              <a:avLst/>
            </a:prstGeom>
          </p:spPr>
        </p:pic>
        <p:grpSp>
          <p:nvGrpSpPr>
            <p:cNvPr id="4" name="Group 3">
              <a:extLst>
                <a:ext uri="{FF2B5EF4-FFF2-40B4-BE49-F238E27FC236}">
                  <a16:creationId xmlns:a16="http://schemas.microsoft.com/office/drawing/2014/main" id="{EFAFCD65-166F-8A34-4DF1-1A7D19B32126}"/>
                </a:ext>
              </a:extLst>
            </p:cNvPr>
            <p:cNvGrpSpPr/>
            <p:nvPr/>
          </p:nvGrpSpPr>
          <p:grpSpPr>
            <a:xfrm>
              <a:off x="655084" y="1597322"/>
              <a:ext cx="2932177" cy="4988384"/>
              <a:chOff x="450332" y="972322"/>
              <a:chExt cx="3299134" cy="5612672"/>
            </a:xfrm>
          </p:grpSpPr>
          <p:pic>
            <p:nvPicPr>
              <p:cNvPr id="9" name="Picture 2" descr="Vector Modern smartphone isolated. Mobile phone with blank screen. Cell ...">
                <a:extLst>
                  <a:ext uri="{FF2B5EF4-FFF2-40B4-BE49-F238E27FC236}">
                    <a16:creationId xmlns:a16="http://schemas.microsoft.com/office/drawing/2014/main" id="{2B219C89-2F88-0938-8A04-A0DFC6A9A1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635" b="5721"/>
              <a:stretch>
                <a:fillRect/>
              </a:stretch>
            </p:blipFill>
            <p:spPr bwMode="auto">
              <a:xfrm>
                <a:off x="746947" y="972322"/>
                <a:ext cx="2580104" cy="5326178"/>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0BC299B4-DC2F-455B-723A-F11513FE8E6C}"/>
                  </a:ext>
                </a:extLst>
              </p:cNvPr>
              <p:cNvGrpSpPr/>
              <p:nvPr/>
            </p:nvGrpSpPr>
            <p:grpSpPr>
              <a:xfrm>
                <a:off x="922850" y="1380515"/>
                <a:ext cx="2278000" cy="4756620"/>
                <a:chOff x="2814677" y="1377694"/>
                <a:chExt cx="2219363" cy="4634183"/>
              </a:xfrm>
            </p:grpSpPr>
            <p:pic>
              <p:nvPicPr>
                <p:cNvPr id="16" name="Picture 15">
                  <a:extLst>
                    <a:ext uri="{FF2B5EF4-FFF2-40B4-BE49-F238E27FC236}">
                      <a16:creationId xmlns:a16="http://schemas.microsoft.com/office/drawing/2014/main" id="{9996D7C0-7EE7-FAC3-06BD-60FB9ECD57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4678" y="1377694"/>
                  <a:ext cx="2219362" cy="4438723"/>
                </a:xfrm>
                <a:prstGeom prst="rect">
                  <a:avLst/>
                </a:prstGeom>
              </p:spPr>
            </p:pic>
            <p:pic>
              <p:nvPicPr>
                <p:cNvPr id="17" name="Picture 16">
                  <a:extLst>
                    <a:ext uri="{FF2B5EF4-FFF2-40B4-BE49-F238E27FC236}">
                      <a16:creationId xmlns:a16="http://schemas.microsoft.com/office/drawing/2014/main" id="{C03836DF-7F31-8C14-4010-75DB3FD77A0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0004"/>
                <a:stretch/>
              </p:blipFill>
              <p:spPr>
                <a:xfrm>
                  <a:off x="2814677" y="4650110"/>
                  <a:ext cx="2219362" cy="1361767"/>
                </a:xfrm>
                <a:prstGeom prst="rect">
                  <a:avLst/>
                </a:prstGeom>
                <a:ln>
                  <a:noFill/>
                </a:ln>
              </p:spPr>
            </p:pic>
            <p:grpSp>
              <p:nvGrpSpPr>
                <p:cNvPr id="18" name="Group 17">
                  <a:extLst>
                    <a:ext uri="{FF2B5EF4-FFF2-40B4-BE49-F238E27FC236}">
                      <a16:creationId xmlns:a16="http://schemas.microsoft.com/office/drawing/2014/main" id="{9F3F06A4-1B8C-0DEC-C628-57CD0F8C9EC8}"/>
                    </a:ext>
                  </a:extLst>
                </p:cNvPr>
                <p:cNvGrpSpPr/>
                <p:nvPr/>
              </p:nvGrpSpPr>
              <p:grpSpPr>
                <a:xfrm>
                  <a:off x="3715680" y="4207368"/>
                  <a:ext cx="516012" cy="87630"/>
                  <a:chOff x="4105705" y="4200525"/>
                  <a:chExt cx="516012" cy="87630"/>
                </a:xfrm>
              </p:grpSpPr>
              <p:pic>
                <p:nvPicPr>
                  <p:cNvPr id="19" name="Picture 18">
                    <a:extLst>
                      <a:ext uri="{FF2B5EF4-FFF2-40B4-BE49-F238E27FC236}">
                        <a16:creationId xmlns:a16="http://schemas.microsoft.com/office/drawing/2014/main" id="{37D12AB8-C262-E391-A9A9-CFE4508FF41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1007" t="57612" r="41416" b="40800"/>
                  <a:stretch/>
                </p:blipFill>
                <p:spPr>
                  <a:xfrm>
                    <a:off x="4105705" y="4200525"/>
                    <a:ext cx="390095" cy="70485"/>
                  </a:xfrm>
                  <a:prstGeom prst="rect">
                    <a:avLst/>
                  </a:prstGeom>
                </p:spPr>
              </p:pic>
              <p:pic>
                <p:nvPicPr>
                  <p:cNvPr id="20" name="Picture 19">
                    <a:extLst>
                      <a:ext uri="{FF2B5EF4-FFF2-40B4-BE49-F238E27FC236}">
                        <a16:creationId xmlns:a16="http://schemas.microsoft.com/office/drawing/2014/main" id="{49FFA787-1025-7133-AB63-1C11344177EB}"/>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0901" t="57655" r="36075" b="40542"/>
                  <a:stretch/>
                </p:blipFill>
                <p:spPr>
                  <a:xfrm>
                    <a:off x="4495800" y="4208146"/>
                    <a:ext cx="67105" cy="80009"/>
                  </a:xfrm>
                  <a:prstGeom prst="rect">
                    <a:avLst/>
                  </a:prstGeom>
                </p:spPr>
              </p:pic>
              <p:pic>
                <p:nvPicPr>
                  <p:cNvPr id="21" name="Picture 20">
                    <a:extLst>
                      <a:ext uri="{FF2B5EF4-FFF2-40B4-BE49-F238E27FC236}">
                        <a16:creationId xmlns:a16="http://schemas.microsoft.com/office/drawing/2014/main" id="{E2122A65-C4C2-B3AD-BE8F-A2411AC4196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0901" t="57655" r="36075" b="40542"/>
                  <a:stretch/>
                </p:blipFill>
                <p:spPr>
                  <a:xfrm>
                    <a:off x="4554612" y="4208146"/>
                    <a:ext cx="67105" cy="80009"/>
                  </a:xfrm>
                  <a:prstGeom prst="rect">
                    <a:avLst/>
                  </a:prstGeom>
                </p:spPr>
              </p:pic>
            </p:grpSp>
          </p:grpSp>
          <p:grpSp>
            <p:nvGrpSpPr>
              <p:cNvPr id="11" name="Group 10">
                <a:extLst>
                  <a:ext uri="{FF2B5EF4-FFF2-40B4-BE49-F238E27FC236}">
                    <a16:creationId xmlns:a16="http://schemas.microsoft.com/office/drawing/2014/main" id="{199EC2CD-0599-467D-468D-5EEA9689706F}"/>
                  </a:ext>
                </a:extLst>
              </p:cNvPr>
              <p:cNvGrpSpPr/>
              <p:nvPr/>
            </p:nvGrpSpPr>
            <p:grpSpPr>
              <a:xfrm>
                <a:off x="450332" y="5962083"/>
                <a:ext cx="3299134" cy="622911"/>
                <a:chOff x="1917353" y="3770354"/>
                <a:chExt cx="4260177" cy="804366"/>
              </a:xfrm>
            </p:grpSpPr>
            <p:sp>
              <p:nvSpPr>
                <p:cNvPr id="12" name="Rounded Rectangle 17">
                  <a:extLst>
                    <a:ext uri="{FF2B5EF4-FFF2-40B4-BE49-F238E27FC236}">
                      <a16:creationId xmlns:a16="http://schemas.microsoft.com/office/drawing/2014/main" id="{934A9B56-0E2A-4788-2E5E-1BD7731359EA}"/>
                    </a:ext>
                  </a:extLst>
                </p:cNvPr>
                <p:cNvSpPr/>
                <p:nvPr/>
              </p:nvSpPr>
              <p:spPr>
                <a:xfrm>
                  <a:off x="1917353" y="3770354"/>
                  <a:ext cx="4260177"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76263"/>
                  <a:r>
                    <a:rPr lang="en-US" b="1" dirty="0"/>
                    <a:t>Workflow Enforcement</a:t>
                  </a:r>
                </a:p>
              </p:txBody>
            </p:sp>
            <p:grpSp>
              <p:nvGrpSpPr>
                <p:cNvPr id="13" name="Group 12">
                  <a:extLst>
                    <a:ext uri="{FF2B5EF4-FFF2-40B4-BE49-F238E27FC236}">
                      <a16:creationId xmlns:a16="http://schemas.microsoft.com/office/drawing/2014/main" id="{5647FF1B-CCE0-9283-FD03-F101641DDE9B}"/>
                    </a:ext>
                  </a:extLst>
                </p:cNvPr>
                <p:cNvGrpSpPr/>
                <p:nvPr/>
              </p:nvGrpSpPr>
              <p:grpSpPr>
                <a:xfrm>
                  <a:off x="2100180" y="3865140"/>
                  <a:ext cx="639238" cy="639238"/>
                  <a:chOff x="1806965" y="4525395"/>
                  <a:chExt cx="1188167" cy="1188168"/>
                </a:xfrm>
              </p:grpSpPr>
              <p:sp>
                <p:nvSpPr>
                  <p:cNvPr id="14" name="Oval 13">
                    <a:extLst>
                      <a:ext uri="{FF2B5EF4-FFF2-40B4-BE49-F238E27FC236}">
                        <a16:creationId xmlns:a16="http://schemas.microsoft.com/office/drawing/2014/main" id="{8B3EC0EA-81BC-D602-8DBE-64DF7334CCCB}"/>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5" name="Picture 14">
                    <a:extLst>
                      <a:ext uri="{FF2B5EF4-FFF2-40B4-BE49-F238E27FC236}">
                        <a16:creationId xmlns:a16="http://schemas.microsoft.com/office/drawing/2014/main" id="{A80EE310-5F10-7661-6405-C9BA56039CA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nvGrpSpPr>
            <p:cNvPr id="5" name="Group 4">
              <a:extLst>
                <a:ext uri="{FF2B5EF4-FFF2-40B4-BE49-F238E27FC236}">
                  <a16:creationId xmlns:a16="http://schemas.microsoft.com/office/drawing/2014/main" id="{460F2180-ECED-88BD-CA65-68B4BD08ED59}"/>
                </a:ext>
              </a:extLst>
            </p:cNvPr>
            <p:cNvGrpSpPr/>
            <p:nvPr/>
          </p:nvGrpSpPr>
          <p:grpSpPr>
            <a:xfrm>
              <a:off x="2283462" y="930653"/>
              <a:ext cx="1672590" cy="235929"/>
              <a:chOff x="1849120" y="937260"/>
              <a:chExt cx="1672590" cy="235929"/>
            </a:xfrm>
          </p:grpSpPr>
          <p:sp>
            <p:nvSpPr>
              <p:cNvPr id="6" name="Rectangle 5">
                <a:extLst>
                  <a:ext uri="{FF2B5EF4-FFF2-40B4-BE49-F238E27FC236}">
                    <a16:creationId xmlns:a16="http://schemas.microsoft.com/office/drawing/2014/main" id="{E7D3EF12-8ADD-7584-E75D-2FD8308DDB6B}"/>
                  </a:ext>
                </a:extLst>
              </p:cNvPr>
              <p:cNvSpPr/>
              <p:nvPr/>
            </p:nvSpPr>
            <p:spPr>
              <a:xfrm>
                <a:off x="1849120" y="937260"/>
                <a:ext cx="1672590" cy="235929"/>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rgbClr val="02072E"/>
                    </a:solidFill>
                  </a:rPr>
                  <a:t>          Main Branch</a:t>
                </a:r>
              </a:p>
            </p:txBody>
          </p:sp>
          <p:pic>
            <p:nvPicPr>
              <p:cNvPr id="7" name="Picture 6">
                <a:extLst>
                  <a:ext uri="{FF2B5EF4-FFF2-40B4-BE49-F238E27FC236}">
                    <a16:creationId xmlns:a16="http://schemas.microsoft.com/office/drawing/2014/main" id="{D6E7CE46-DE0D-C184-C499-BC3F4CE2A6B6}"/>
                  </a:ext>
                </a:extLst>
              </p:cNvPr>
              <p:cNvPicPr>
                <a:picLocks noChangeAspect="1"/>
              </p:cNvPicPr>
              <p:nvPr/>
            </p:nvPicPr>
            <p:blipFill>
              <a:blip r:embed="rId9"/>
              <a:srcRect l="25715" t="1419" r="73284" b="96894"/>
              <a:stretch>
                <a:fillRect/>
              </a:stretch>
            </p:blipFill>
            <p:spPr>
              <a:xfrm>
                <a:off x="2943294" y="1005211"/>
                <a:ext cx="65942" cy="100027"/>
              </a:xfrm>
              <a:prstGeom prst="rect">
                <a:avLst/>
              </a:prstGeom>
            </p:spPr>
          </p:pic>
          <p:pic>
            <p:nvPicPr>
              <p:cNvPr id="8" name="Picture 7">
                <a:extLst>
                  <a:ext uri="{FF2B5EF4-FFF2-40B4-BE49-F238E27FC236}">
                    <a16:creationId xmlns:a16="http://schemas.microsoft.com/office/drawing/2014/main" id="{27CF42F8-EEB4-91C1-BCBD-3BBB2469E1D2}"/>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5031" t="17452" r="29292" b="32459"/>
              <a:stretch/>
            </p:blipFill>
            <p:spPr>
              <a:xfrm>
                <a:off x="1919232" y="982247"/>
                <a:ext cx="175111" cy="151763"/>
              </a:xfrm>
              <a:prstGeom prst="rect">
                <a:avLst/>
              </a:prstGeom>
            </p:spPr>
          </p:pic>
        </p:grpSp>
      </p:grpSp>
      <p:sp>
        <p:nvSpPr>
          <p:cNvPr id="22" name="TextBox 21">
            <a:extLst>
              <a:ext uri="{FF2B5EF4-FFF2-40B4-BE49-F238E27FC236}">
                <a16:creationId xmlns:a16="http://schemas.microsoft.com/office/drawing/2014/main" id="{24E21F2C-D2ED-8D2C-D2B2-F93C536F14CB}"/>
              </a:ext>
            </a:extLst>
          </p:cNvPr>
          <p:cNvSpPr txBox="1"/>
          <p:nvPr/>
        </p:nvSpPr>
        <p:spPr>
          <a:xfrm>
            <a:off x="2789895" y="6934699"/>
            <a:ext cx="5940281" cy="369332"/>
          </a:xfrm>
          <a:prstGeom prst="rect">
            <a:avLst/>
          </a:prstGeom>
          <a:noFill/>
        </p:spPr>
        <p:txBody>
          <a:bodyPr wrap="none" rtlCol="0">
            <a:spAutoFit/>
          </a:bodyPr>
          <a:lstStyle/>
          <a:p>
            <a:r>
              <a:rPr lang="en-US" dirty="0">
                <a:solidFill>
                  <a:srgbClr val="FF0000"/>
                </a:solidFill>
              </a:rPr>
              <a:t>{Source Image at Folder | CoorWorks Website v3  | TNT.jpg}</a:t>
            </a:r>
          </a:p>
        </p:txBody>
      </p:sp>
    </p:spTree>
    <p:extLst>
      <p:ext uri="{BB962C8B-B14F-4D97-AF65-F5344CB8AC3E}">
        <p14:creationId xmlns:p14="http://schemas.microsoft.com/office/powerpoint/2010/main" val="162234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DA2C7-60BB-8659-4CF9-0DC5435EE87B}"/>
            </a:ext>
          </a:extLst>
        </p:cNvPr>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C8D68CB2-9CD4-7E1E-3CD4-1D66823184C9}"/>
              </a:ext>
            </a:extLst>
          </p:cNvPr>
          <p:cNvSpPr/>
          <p:nvPr/>
        </p:nvSpPr>
        <p:spPr>
          <a:xfrm>
            <a:off x="436181" y="1368418"/>
            <a:ext cx="6497948" cy="4798702"/>
          </a:xfrm>
          <a:prstGeom prst="roundRect">
            <a:avLst>
              <a:gd name="adj" fmla="val 1819"/>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2CA79559-5368-0006-16DE-160BDD31E296}"/>
              </a:ext>
            </a:extLst>
          </p:cNvPr>
          <p:cNvSpPr/>
          <p:nvPr/>
        </p:nvSpPr>
        <p:spPr>
          <a:xfrm>
            <a:off x="7003020" y="1368418"/>
            <a:ext cx="5048647" cy="4798702"/>
          </a:xfrm>
          <a:prstGeom prst="roundRect">
            <a:avLst>
              <a:gd name="adj" fmla="val 1096"/>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7A3FE8-E7E5-467F-7414-562B471D3366}"/>
              </a:ext>
            </a:extLst>
          </p:cNvPr>
          <p:cNvSpPr txBox="1"/>
          <p:nvPr/>
        </p:nvSpPr>
        <p:spPr>
          <a:xfrm>
            <a:off x="436181" y="311791"/>
            <a:ext cx="8671414" cy="646331"/>
          </a:xfrm>
          <a:prstGeom prst="rect">
            <a:avLst/>
          </a:prstGeom>
          <a:noFill/>
        </p:spPr>
        <p:txBody>
          <a:bodyPr wrap="square">
            <a:spAutoFit/>
          </a:bodyPr>
          <a:lstStyle/>
          <a:p>
            <a:r>
              <a:rPr lang="en-US" sz="1800" b="1" dirty="0">
                <a:solidFill>
                  <a:schemeClr val="accent6">
                    <a:lumMod val="75000"/>
                  </a:schemeClr>
                </a:solidFill>
              </a:rPr>
              <a:t>Breakthroughs Delivered</a:t>
            </a:r>
            <a:endParaRPr lang="en-US" dirty="0">
              <a:solidFill>
                <a:schemeClr val="accent6">
                  <a:lumMod val="75000"/>
                </a:schemeClr>
              </a:solidFill>
            </a:endParaRPr>
          </a:p>
          <a:p>
            <a:r>
              <a:rPr lang="en-US" dirty="0"/>
              <a:t>Program Optimization – Contracted Services Fulfillment + Compliance Mgmt</a:t>
            </a:r>
            <a:endParaRPr lang="en-US" sz="1800" dirty="0"/>
          </a:p>
        </p:txBody>
      </p:sp>
      <p:pic>
        <p:nvPicPr>
          <p:cNvPr id="12" name="Picture 11">
            <a:extLst>
              <a:ext uri="{FF2B5EF4-FFF2-40B4-BE49-F238E27FC236}">
                <a16:creationId xmlns:a16="http://schemas.microsoft.com/office/drawing/2014/main" id="{9358B7CE-BC00-6419-E309-CCED0D0D72DF}"/>
              </a:ext>
            </a:extLst>
          </p:cNvPr>
          <p:cNvPicPr>
            <a:picLocks noChangeAspect="1"/>
          </p:cNvPicPr>
          <p:nvPr/>
        </p:nvPicPr>
        <p:blipFill>
          <a:blip r:embed="rId2"/>
          <a:stretch>
            <a:fillRect/>
          </a:stretch>
        </p:blipFill>
        <p:spPr>
          <a:xfrm>
            <a:off x="7151456" y="5576444"/>
            <a:ext cx="2322289" cy="445058"/>
          </a:xfrm>
          <a:prstGeom prst="rect">
            <a:avLst/>
          </a:prstGeom>
        </p:spPr>
      </p:pic>
      <p:sp>
        <p:nvSpPr>
          <p:cNvPr id="40" name="TextBox 39">
            <a:extLst>
              <a:ext uri="{FF2B5EF4-FFF2-40B4-BE49-F238E27FC236}">
                <a16:creationId xmlns:a16="http://schemas.microsoft.com/office/drawing/2014/main" id="{F7F14033-A456-C5E7-0FA4-2101B38CC698}"/>
              </a:ext>
            </a:extLst>
          </p:cNvPr>
          <p:cNvSpPr txBox="1"/>
          <p:nvPr/>
        </p:nvSpPr>
        <p:spPr>
          <a:xfrm>
            <a:off x="7107636" y="3065895"/>
            <a:ext cx="4613439" cy="2400657"/>
          </a:xfrm>
          <a:prstGeom prst="rect">
            <a:avLst/>
          </a:prstGeom>
          <a:noFill/>
        </p:spPr>
        <p:txBody>
          <a:bodyPr wrap="square">
            <a:spAutoFit/>
          </a:bodyPr>
          <a:lstStyle/>
          <a:p>
            <a:r>
              <a:rPr lang="en-US" sz="1000" b="1" dirty="0"/>
              <a:t>Challenge:</a:t>
            </a:r>
          </a:p>
          <a:p>
            <a:r>
              <a:rPr lang="en-US" sz="1000" dirty="0"/>
              <a:t>Reduce resources/costs associated with manually coordinating court work order assignments with aligned contract resources, to increase contractor compliance with governmental work performance requirements, and to avoid government penalties for underdelivering minimum work order fulfillment rates.</a:t>
            </a:r>
          </a:p>
          <a:p>
            <a:endParaRPr lang="en-US" sz="1000" dirty="0"/>
          </a:p>
          <a:p>
            <a:r>
              <a:rPr lang="en-US" sz="1000" b="1" dirty="0"/>
              <a:t>Target:</a:t>
            </a:r>
          </a:p>
          <a:p>
            <a:r>
              <a:rPr lang="en-US" sz="1000" dirty="0"/>
              <a:t>Provide an uber-like open marketplace for DOJ approved court interpretation contractors to self-select appropriate case loads within defined operating rules and contractor rate preferences.</a:t>
            </a:r>
          </a:p>
          <a:p>
            <a:endParaRPr lang="en-US" sz="1000" dirty="0"/>
          </a:p>
          <a:p>
            <a:r>
              <a:rPr lang="en-US" sz="1000" b="1" dirty="0"/>
              <a:t>Outcome:</a:t>
            </a:r>
          </a:p>
          <a:p>
            <a:r>
              <a:rPr lang="en-US" sz="1000" dirty="0"/>
              <a:t>82%+ automated fulfillment of approximately 20-25k/month DOJ  approved interpretation service work orders and massive reduction of internal processing requirements to invoice services.</a:t>
            </a:r>
          </a:p>
        </p:txBody>
      </p:sp>
      <p:grpSp>
        <p:nvGrpSpPr>
          <p:cNvPr id="33" name="Group 32">
            <a:extLst>
              <a:ext uri="{FF2B5EF4-FFF2-40B4-BE49-F238E27FC236}">
                <a16:creationId xmlns:a16="http://schemas.microsoft.com/office/drawing/2014/main" id="{44ED79C8-1CB5-112C-FFDF-1BD83D4A97BB}"/>
              </a:ext>
            </a:extLst>
          </p:cNvPr>
          <p:cNvGrpSpPr/>
          <p:nvPr/>
        </p:nvGrpSpPr>
        <p:grpSpPr>
          <a:xfrm>
            <a:off x="544978" y="1604531"/>
            <a:ext cx="6280353" cy="4416971"/>
            <a:chOff x="332802" y="1516690"/>
            <a:chExt cx="6582364" cy="4629375"/>
          </a:xfrm>
        </p:grpSpPr>
        <p:pic>
          <p:nvPicPr>
            <p:cNvPr id="2" name="Picture 1">
              <a:extLst>
                <a:ext uri="{FF2B5EF4-FFF2-40B4-BE49-F238E27FC236}">
                  <a16:creationId xmlns:a16="http://schemas.microsoft.com/office/drawing/2014/main" id="{4D25D083-4143-CACC-DC6D-47B5F308188A}"/>
                </a:ext>
              </a:extLst>
            </p:cNvPr>
            <p:cNvPicPr>
              <a:picLocks noChangeAspect="1"/>
            </p:cNvPicPr>
            <p:nvPr/>
          </p:nvPicPr>
          <p:blipFill>
            <a:blip r:embed="rId3"/>
            <a:stretch>
              <a:fillRect/>
            </a:stretch>
          </p:blipFill>
          <p:spPr>
            <a:xfrm>
              <a:off x="648155" y="1516690"/>
              <a:ext cx="6267011" cy="3861268"/>
            </a:xfrm>
            <a:prstGeom prst="rect">
              <a:avLst/>
            </a:prstGeom>
          </p:spPr>
        </p:pic>
        <p:grpSp>
          <p:nvGrpSpPr>
            <p:cNvPr id="5" name="Group 4">
              <a:extLst>
                <a:ext uri="{FF2B5EF4-FFF2-40B4-BE49-F238E27FC236}">
                  <a16:creationId xmlns:a16="http://schemas.microsoft.com/office/drawing/2014/main" id="{9832E6D7-3EB8-6967-5DBF-7C10AB7F6C01}"/>
                </a:ext>
              </a:extLst>
            </p:cNvPr>
            <p:cNvGrpSpPr/>
            <p:nvPr/>
          </p:nvGrpSpPr>
          <p:grpSpPr>
            <a:xfrm>
              <a:off x="332802" y="2247910"/>
              <a:ext cx="2481020" cy="3898155"/>
              <a:chOff x="268644" y="972322"/>
              <a:chExt cx="3389900" cy="5326178"/>
            </a:xfrm>
          </p:grpSpPr>
          <p:pic>
            <p:nvPicPr>
              <p:cNvPr id="6" name="Picture 2" descr="Vector Modern smartphone isolated. Mobile phone with blank screen. Cell ...">
                <a:extLst>
                  <a:ext uri="{FF2B5EF4-FFF2-40B4-BE49-F238E27FC236}">
                    <a16:creationId xmlns:a16="http://schemas.microsoft.com/office/drawing/2014/main" id="{6C58B3E7-D57D-9D38-827C-0A011BDB2C2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75" t="6155" r="28795" b="5721"/>
              <a:stretch>
                <a:fillRect/>
              </a:stretch>
            </p:blipFill>
            <p:spPr bwMode="auto">
              <a:xfrm>
                <a:off x="746947" y="972322"/>
                <a:ext cx="2570417" cy="53261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1C9DBCA-A882-043C-427F-03020E5AC7CD}"/>
                  </a:ext>
                </a:extLst>
              </p:cNvPr>
              <p:cNvPicPr>
                <a:picLocks noChangeAspect="1"/>
              </p:cNvPicPr>
              <p:nvPr/>
            </p:nvPicPr>
            <p:blipFill>
              <a:blip r:embed="rId5">
                <a:extLst>
                  <a:ext uri="{28A0092B-C50C-407E-A947-70E740481C1C}">
                    <a14:useLocalDpi xmlns:a14="http://schemas.microsoft.com/office/drawing/2010/main" val="0"/>
                  </a:ext>
                </a:extLst>
              </a:blip>
              <a:srcRect b="5527"/>
              <a:stretch>
                <a:fillRect/>
              </a:stretch>
            </p:blipFill>
            <p:spPr>
              <a:xfrm>
                <a:off x="911194" y="1380391"/>
                <a:ext cx="2280413" cy="4659184"/>
              </a:xfrm>
              <a:prstGeom prst="rect">
                <a:avLst/>
              </a:prstGeom>
            </p:spPr>
          </p:pic>
          <p:grpSp>
            <p:nvGrpSpPr>
              <p:cNvPr id="8" name="Group 7">
                <a:extLst>
                  <a:ext uri="{FF2B5EF4-FFF2-40B4-BE49-F238E27FC236}">
                    <a16:creationId xmlns:a16="http://schemas.microsoft.com/office/drawing/2014/main" id="{9941E528-DFA0-CF9F-84E7-5D63804080E9}"/>
                  </a:ext>
                </a:extLst>
              </p:cNvPr>
              <p:cNvGrpSpPr/>
              <p:nvPr/>
            </p:nvGrpSpPr>
            <p:grpSpPr>
              <a:xfrm>
                <a:off x="268644" y="5303484"/>
                <a:ext cx="3389900" cy="622911"/>
                <a:chOff x="1917351" y="3770354"/>
                <a:chExt cx="4377384" cy="804366"/>
              </a:xfrm>
            </p:grpSpPr>
            <p:sp>
              <p:nvSpPr>
                <p:cNvPr id="10" name="Rounded Rectangle 17">
                  <a:extLst>
                    <a:ext uri="{FF2B5EF4-FFF2-40B4-BE49-F238E27FC236}">
                      <a16:creationId xmlns:a16="http://schemas.microsoft.com/office/drawing/2014/main" id="{2414E1AA-F765-8709-7274-DF0EE07BD1A6}"/>
                    </a:ext>
                  </a:extLst>
                </p:cNvPr>
                <p:cNvSpPr/>
                <p:nvPr/>
              </p:nvSpPr>
              <p:spPr>
                <a:xfrm>
                  <a:off x="1917351" y="3770354"/>
                  <a:ext cx="4377384"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396875"/>
                  <a:r>
                    <a:rPr lang="en-US" sz="1200" b="1" dirty="0"/>
                    <a:t>Government Compliance</a:t>
                  </a:r>
                </a:p>
              </p:txBody>
            </p:sp>
            <p:grpSp>
              <p:nvGrpSpPr>
                <p:cNvPr id="11" name="Group 10">
                  <a:extLst>
                    <a:ext uri="{FF2B5EF4-FFF2-40B4-BE49-F238E27FC236}">
                      <a16:creationId xmlns:a16="http://schemas.microsoft.com/office/drawing/2014/main" id="{B28159B6-2171-FFE2-1AF9-9CA49834BA37}"/>
                    </a:ext>
                  </a:extLst>
                </p:cNvPr>
                <p:cNvGrpSpPr/>
                <p:nvPr/>
              </p:nvGrpSpPr>
              <p:grpSpPr>
                <a:xfrm>
                  <a:off x="2100180" y="3865140"/>
                  <a:ext cx="639238" cy="639238"/>
                  <a:chOff x="1806965" y="4525395"/>
                  <a:chExt cx="1188167" cy="1188168"/>
                </a:xfrm>
              </p:grpSpPr>
              <p:sp>
                <p:nvSpPr>
                  <p:cNvPr id="13" name="Oval 12">
                    <a:extLst>
                      <a:ext uri="{FF2B5EF4-FFF2-40B4-BE49-F238E27FC236}">
                        <a16:creationId xmlns:a16="http://schemas.microsoft.com/office/drawing/2014/main" id="{7A3B4D8A-AF03-D204-51E4-E1A224407100}"/>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24" name="Picture 23">
                    <a:extLst>
                      <a:ext uri="{FF2B5EF4-FFF2-40B4-BE49-F238E27FC236}">
                        <a16:creationId xmlns:a16="http://schemas.microsoft.com/office/drawing/2014/main" id="{9ABCA0C4-1782-64C4-58D0-94BFAFB950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sp>
        <p:nvSpPr>
          <p:cNvPr id="27" name="TextBox 26">
            <a:extLst>
              <a:ext uri="{FF2B5EF4-FFF2-40B4-BE49-F238E27FC236}">
                <a16:creationId xmlns:a16="http://schemas.microsoft.com/office/drawing/2014/main" id="{46633EE9-F910-4D32-5881-27E57FA7498A}"/>
              </a:ext>
            </a:extLst>
          </p:cNvPr>
          <p:cNvSpPr txBox="1"/>
          <p:nvPr/>
        </p:nvSpPr>
        <p:spPr>
          <a:xfrm>
            <a:off x="7108591" y="2166152"/>
            <a:ext cx="4139210" cy="923330"/>
          </a:xfrm>
          <a:prstGeom prst="rect">
            <a:avLst/>
          </a:prstGeom>
          <a:noFill/>
        </p:spPr>
        <p:txBody>
          <a:bodyPr wrap="none" rtlCol="0">
            <a:spAutoFit/>
          </a:bodyPr>
          <a:lstStyle/>
          <a:p>
            <a:r>
              <a:rPr lang="en-US" sz="1600" b="1" dirty="0"/>
              <a:t>US Immigration Court Services</a:t>
            </a:r>
          </a:p>
          <a:p>
            <a:r>
              <a:rPr lang="en-US" sz="1400" b="1" dirty="0"/>
              <a:t>Contracted Interpreter Fulfillment +Compliance</a:t>
            </a:r>
          </a:p>
          <a:p>
            <a:endParaRPr lang="en-US" sz="800" b="1" dirty="0"/>
          </a:p>
          <a:p>
            <a:r>
              <a:rPr lang="en-US" sz="1400" b="1" dirty="0">
                <a:solidFill>
                  <a:schemeClr val="accent6">
                    <a:lumMod val="75000"/>
                  </a:schemeClr>
                </a:solidFill>
              </a:rPr>
              <a:t>25k+/mo </a:t>
            </a:r>
            <a:r>
              <a:rPr lang="en-US" sz="1400" b="1" dirty="0"/>
              <a:t>DOJ/EOIR Interpretation Service Orders</a:t>
            </a:r>
          </a:p>
        </p:txBody>
      </p:sp>
      <p:pic>
        <p:nvPicPr>
          <p:cNvPr id="28" name="Picture 27">
            <a:extLst>
              <a:ext uri="{FF2B5EF4-FFF2-40B4-BE49-F238E27FC236}">
                <a16:creationId xmlns:a16="http://schemas.microsoft.com/office/drawing/2014/main" id="{58618CD4-AFED-8224-E628-2A548EE72022}"/>
              </a:ext>
            </a:extLst>
          </p:cNvPr>
          <p:cNvPicPr>
            <a:picLocks noChangeAspect="1"/>
          </p:cNvPicPr>
          <p:nvPr/>
        </p:nvPicPr>
        <p:blipFill>
          <a:blip r:embed="rId7"/>
          <a:stretch>
            <a:fillRect/>
          </a:stretch>
        </p:blipFill>
        <p:spPr>
          <a:xfrm>
            <a:off x="7107636" y="1470396"/>
            <a:ext cx="1746180" cy="726670"/>
          </a:xfrm>
          <a:prstGeom prst="rect">
            <a:avLst/>
          </a:prstGeom>
        </p:spPr>
      </p:pic>
    </p:spTree>
    <p:extLst>
      <p:ext uri="{BB962C8B-B14F-4D97-AF65-F5344CB8AC3E}">
        <p14:creationId xmlns:p14="http://schemas.microsoft.com/office/powerpoint/2010/main" val="49623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D9FBCD-CDB8-D7FD-D91B-E8BF106EC405}"/>
              </a:ext>
            </a:extLst>
          </p:cNvPr>
          <p:cNvGrpSpPr/>
          <p:nvPr/>
        </p:nvGrpSpPr>
        <p:grpSpPr>
          <a:xfrm>
            <a:off x="644370" y="122052"/>
            <a:ext cx="9404092" cy="6613896"/>
            <a:chOff x="332802" y="1516690"/>
            <a:chExt cx="6582364" cy="4629375"/>
          </a:xfrm>
        </p:grpSpPr>
        <p:pic>
          <p:nvPicPr>
            <p:cNvPr id="3" name="Picture 2">
              <a:extLst>
                <a:ext uri="{FF2B5EF4-FFF2-40B4-BE49-F238E27FC236}">
                  <a16:creationId xmlns:a16="http://schemas.microsoft.com/office/drawing/2014/main" id="{B8C8753E-DC62-7AB9-BFCE-4D3DA8D89A79}"/>
                </a:ext>
              </a:extLst>
            </p:cNvPr>
            <p:cNvPicPr>
              <a:picLocks noChangeAspect="1"/>
            </p:cNvPicPr>
            <p:nvPr/>
          </p:nvPicPr>
          <p:blipFill>
            <a:blip r:embed="rId2"/>
            <a:stretch>
              <a:fillRect/>
            </a:stretch>
          </p:blipFill>
          <p:spPr>
            <a:xfrm>
              <a:off x="648155" y="1516690"/>
              <a:ext cx="6267011" cy="3861268"/>
            </a:xfrm>
            <a:prstGeom prst="rect">
              <a:avLst/>
            </a:prstGeom>
          </p:spPr>
        </p:pic>
        <p:grpSp>
          <p:nvGrpSpPr>
            <p:cNvPr id="4" name="Group 3">
              <a:extLst>
                <a:ext uri="{FF2B5EF4-FFF2-40B4-BE49-F238E27FC236}">
                  <a16:creationId xmlns:a16="http://schemas.microsoft.com/office/drawing/2014/main" id="{7AA84F24-4D0C-8921-788A-CF04CC8303DF}"/>
                </a:ext>
              </a:extLst>
            </p:cNvPr>
            <p:cNvGrpSpPr/>
            <p:nvPr/>
          </p:nvGrpSpPr>
          <p:grpSpPr>
            <a:xfrm>
              <a:off x="332802" y="2247910"/>
              <a:ext cx="2481020" cy="3898155"/>
              <a:chOff x="268644" y="972322"/>
              <a:chExt cx="3389900" cy="5326178"/>
            </a:xfrm>
          </p:grpSpPr>
          <p:pic>
            <p:nvPicPr>
              <p:cNvPr id="5" name="Picture 2" descr="Vector Modern smartphone isolated. Mobile phone with blank screen. Cell ...">
                <a:extLst>
                  <a:ext uri="{FF2B5EF4-FFF2-40B4-BE49-F238E27FC236}">
                    <a16:creationId xmlns:a16="http://schemas.microsoft.com/office/drawing/2014/main" id="{6EF2E47B-06BB-5BFE-08AF-B538B4B0F4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795" b="5721"/>
              <a:stretch>
                <a:fillRect/>
              </a:stretch>
            </p:blipFill>
            <p:spPr bwMode="auto">
              <a:xfrm>
                <a:off x="746947" y="972322"/>
                <a:ext cx="2570417" cy="53261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2DD3360-BBFE-3C55-ACBA-09675612C66D}"/>
                  </a:ext>
                </a:extLst>
              </p:cNvPr>
              <p:cNvPicPr>
                <a:picLocks noChangeAspect="1"/>
              </p:cNvPicPr>
              <p:nvPr/>
            </p:nvPicPr>
            <p:blipFill>
              <a:blip r:embed="rId4">
                <a:extLst>
                  <a:ext uri="{28A0092B-C50C-407E-A947-70E740481C1C}">
                    <a14:useLocalDpi xmlns:a14="http://schemas.microsoft.com/office/drawing/2010/main" val="0"/>
                  </a:ext>
                </a:extLst>
              </a:blip>
              <a:srcRect b="5527"/>
              <a:stretch>
                <a:fillRect/>
              </a:stretch>
            </p:blipFill>
            <p:spPr>
              <a:xfrm>
                <a:off x="911194" y="1380391"/>
                <a:ext cx="2280413" cy="4659184"/>
              </a:xfrm>
              <a:prstGeom prst="rect">
                <a:avLst/>
              </a:prstGeom>
            </p:spPr>
          </p:pic>
          <p:grpSp>
            <p:nvGrpSpPr>
              <p:cNvPr id="7" name="Group 6">
                <a:extLst>
                  <a:ext uri="{FF2B5EF4-FFF2-40B4-BE49-F238E27FC236}">
                    <a16:creationId xmlns:a16="http://schemas.microsoft.com/office/drawing/2014/main" id="{E4D0D49F-29D6-FC38-BFDF-1244960EF48B}"/>
                  </a:ext>
                </a:extLst>
              </p:cNvPr>
              <p:cNvGrpSpPr/>
              <p:nvPr/>
            </p:nvGrpSpPr>
            <p:grpSpPr>
              <a:xfrm>
                <a:off x="268644" y="5303484"/>
                <a:ext cx="3389900" cy="622911"/>
                <a:chOff x="1917351" y="3770354"/>
                <a:chExt cx="4377384" cy="804366"/>
              </a:xfrm>
            </p:grpSpPr>
            <p:sp>
              <p:nvSpPr>
                <p:cNvPr id="8" name="Rounded Rectangle 17">
                  <a:extLst>
                    <a:ext uri="{FF2B5EF4-FFF2-40B4-BE49-F238E27FC236}">
                      <a16:creationId xmlns:a16="http://schemas.microsoft.com/office/drawing/2014/main" id="{4E1CFC74-D495-BCB0-B789-027E25E15C02}"/>
                    </a:ext>
                  </a:extLst>
                </p:cNvPr>
                <p:cNvSpPr/>
                <p:nvPr/>
              </p:nvSpPr>
              <p:spPr>
                <a:xfrm>
                  <a:off x="1917351" y="3770354"/>
                  <a:ext cx="4377384"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625475"/>
                  <a:r>
                    <a:rPr lang="en-US" b="1" dirty="0"/>
                    <a:t>Government Compliance</a:t>
                  </a:r>
                </a:p>
              </p:txBody>
            </p:sp>
            <p:grpSp>
              <p:nvGrpSpPr>
                <p:cNvPr id="9" name="Group 8">
                  <a:extLst>
                    <a:ext uri="{FF2B5EF4-FFF2-40B4-BE49-F238E27FC236}">
                      <a16:creationId xmlns:a16="http://schemas.microsoft.com/office/drawing/2014/main" id="{90A6D985-2BC6-C245-64F4-551A5A9CD424}"/>
                    </a:ext>
                  </a:extLst>
                </p:cNvPr>
                <p:cNvGrpSpPr/>
                <p:nvPr/>
              </p:nvGrpSpPr>
              <p:grpSpPr>
                <a:xfrm>
                  <a:off x="2100180" y="3865140"/>
                  <a:ext cx="639238" cy="639238"/>
                  <a:chOff x="1806965" y="4525395"/>
                  <a:chExt cx="1188167" cy="1188168"/>
                </a:xfrm>
              </p:grpSpPr>
              <p:sp>
                <p:nvSpPr>
                  <p:cNvPr id="10" name="Oval 9">
                    <a:extLst>
                      <a:ext uri="{FF2B5EF4-FFF2-40B4-BE49-F238E27FC236}">
                        <a16:creationId xmlns:a16="http://schemas.microsoft.com/office/drawing/2014/main" id="{0A7B7A4C-B6EC-4938-686D-88EB4B6676A0}"/>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1" name="Picture 10">
                    <a:extLst>
                      <a:ext uri="{FF2B5EF4-FFF2-40B4-BE49-F238E27FC236}">
                        <a16:creationId xmlns:a16="http://schemas.microsoft.com/office/drawing/2014/main" id="{5023B402-1A62-80E6-BE7F-B7A30B872BA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sp>
        <p:nvSpPr>
          <p:cNvPr id="12" name="TextBox 11">
            <a:extLst>
              <a:ext uri="{FF2B5EF4-FFF2-40B4-BE49-F238E27FC236}">
                <a16:creationId xmlns:a16="http://schemas.microsoft.com/office/drawing/2014/main" id="{833928CA-6278-B128-5F8C-221BAB935AE8}"/>
              </a:ext>
            </a:extLst>
          </p:cNvPr>
          <p:cNvSpPr txBox="1"/>
          <p:nvPr/>
        </p:nvSpPr>
        <p:spPr>
          <a:xfrm>
            <a:off x="2789895" y="6934699"/>
            <a:ext cx="6147837" cy="369332"/>
          </a:xfrm>
          <a:prstGeom prst="rect">
            <a:avLst/>
          </a:prstGeom>
          <a:noFill/>
        </p:spPr>
        <p:txBody>
          <a:bodyPr wrap="none" rtlCol="0">
            <a:spAutoFit/>
          </a:bodyPr>
          <a:lstStyle/>
          <a:p>
            <a:r>
              <a:rPr lang="en-US" dirty="0">
                <a:solidFill>
                  <a:srgbClr val="FF0000"/>
                </a:solidFill>
              </a:rPr>
              <a:t>{Source Image at Folder | CoorWorks Website v3  | ELISA.jpg}</a:t>
            </a:r>
          </a:p>
        </p:txBody>
      </p:sp>
    </p:spTree>
    <p:extLst>
      <p:ext uri="{BB962C8B-B14F-4D97-AF65-F5344CB8AC3E}">
        <p14:creationId xmlns:p14="http://schemas.microsoft.com/office/powerpoint/2010/main" val="1761863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DEB0-5625-967F-E3A4-C686669564C6}"/>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B46BF6E4-E7E2-CF8E-DE10-A94504A8F5D0}"/>
              </a:ext>
            </a:extLst>
          </p:cNvPr>
          <p:cNvSpPr/>
          <p:nvPr/>
        </p:nvSpPr>
        <p:spPr>
          <a:xfrm>
            <a:off x="7003020" y="1368418"/>
            <a:ext cx="5048647" cy="4798702"/>
          </a:xfrm>
          <a:prstGeom prst="roundRect">
            <a:avLst>
              <a:gd name="adj" fmla="val 1096"/>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0E3C99C-23FF-916D-2DD1-A0797156B553}"/>
              </a:ext>
            </a:extLst>
          </p:cNvPr>
          <p:cNvSpPr txBox="1"/>
          <p:nvPr/>
        </p:nvSpPr>
        <p:spPr>
          <a:xfrm>
            <a:off x="436181" y="311791"/>
            <a:ext cx="8671414" cy="646331"/>
          </a:xfrm>
          <a:prstGeom prst="rect">
            <a:avLst/>
          </a:prstGeom>
          <a:noFill/>
        </p:spPr>
        <p:txBody>
          <a:bodyPr wrap="square">
            <a:spAutoFit/>
          </a:bodyPr>
          <a:lstStyle/>
          <a:p>
            <a:r>
              <a:rPr lang="en-US" sz="1800" b="1" dirty="0">
                <a:solidFill>
                  <a:schemeClr val="accent6">
                    <a:lumMod val="75000"/>
                  </a:schemeClr>
                </a:solidFill>
              </a:rPr>
              <a:t>Breakthroughs Delivered</a:t>
            </a:r>
            <a:endParaRPr lang="en-US" dirty="0">
              <a:solidFill>
                <a:schemeClr val="accent6">
                  <a:lumMod val="75000"/>
                </a:schemeClr>
              </a:solidFill>
            </a:endParaRPr>
          </a:p>
          <a:p>
            <a:r>
              <a:rPr lang="en-US" dirty="0"/>
              <a:t>Business Optimization – Coin Currency Order Processing</a:t>
            </a:r>
            <a:endParaRPr lang="en-US" sz="1800" dirty="0"/>
          </a:p>
        </p:txBody>
      </p:sp>
      <p:sp>
        <p:nvSpPr>
          <p:cNvPr id="40" name="TextBox 39">
            <a:extLst>
              <a:ext uri="{FF2B5EF4-FFF2-40B4-BE49-F238E27FC236}">
                <a16:creationId xmlns:a16="http://schemas.microsoft.com/office/drawing/2014/main" id="{EA84D0E8-65F3-7645-0CFD-F97E0A70DC8B}"/>
              </a:ext>
            </a:extLst>
          </p:cNvPr>
          <p:cNvSpPr txBox="1"/>
          <p:nvPr/>
        </p:nvSpPr>
        <p:spPr>
          <a:xfrm>
            <a:off x="7107636" y="3065895"/>
            <a:ext cx="4613439" cy="1631216"/>
          </a:xfrm>
          <a:prstGeom prst="rect">
            <a:avLst/>
          </a:prstGeom>
          <a:noFill/>
        </p:spPr>
        <p:txBody>
          <a:bodyPr wrap="square">
            <a:spAutoFit/>
          </a:bodyPr>
          <a:lstStyle/>
          <a:p>
            <a:r>
              <a:rPr lang="en-US" sz="1000" b="1" dirty="0"/>
              <a:t>Challenge:</a:t>
            </a:r>
          </a:p>
          <a:p>
            <a:r>
              <a:rPr lang="en-US" sz="1000" dirty="0"/>
              <a:t>Digitally transform internal operations for national coin processing and servicing operation</a:t>
            </a:r>
          </a:p>
          <a:p>
            <a:endParaRPr lang="en-US" sz="1000" dirty="0"/>
          </a:p>
          <a:p>
            <a:r>
              <a:rPr lang="en-US" sz="1000" b="1" dirty="0"/>
              <a:t>Target:</a:t>
            </a:r>
          </a:p>
          <a:p>
            <a:r>
              <a:rPr lang="en-US" sz="1000" dirty="0"/>
              <a:t>Expedite coin packaging turns and increase overall business velocity</a:t>
            </a:r>
          </a:p>
          <a:p>
            <a:endParaRPr lang="en-US" sz="1000" dirty="0"/>
          </a:p>
          <a:p>
            <a:r>
              <a:rPr lang="en-US" sz="1000" b="1" dirty="0"/>
              <a:t>Outcome:</a:t>
            </a:r>
          </a:p>
          <a:p>
            <a:r>
              <a:rPr lang="en-US" sz="1000" dirty="0"/>
              <a:t>$100M+/mo in fully-auditable coin packaging orders, creation of new business line for transportation coordination, increased billing accuracy and speed  </a:t>
            </a:r>
          </a:p>
        </p:txBody>
      </p:sp>
      <p:sp>
        <p:nvSpPr>
          <p:cNvPr id="2" name="TextBox 1">
            <a:extLst>
              <a:ext uri="{FF2B5EF4-FFF2-40B4-BE49-F238E27FC236}">
                <a16:creationId xmlns:a16="http://schemas.microsoft.com/office/drawing/2014/main" id="{899A6E58-AE83-6C5C-353E-E6F4C1253BE5}"/>
              </a:ext>
            </a:extLst>
          </p:cNvPr>
          <p:cNvSpPr txBox="1"/>
          <p:nvPr/>
        </p:nvSpPr>
        <p:spPr>
          <a:xfrm>
            <a:off x="7151063" y="2192261"/>
            <a:ext cx="4308615" cy="769441"/>
          </a:xfrm>
          <a:prstGeom prst="rect">
            <a:avLst/>
          </a:prstGeom>
          <a:noFill/>
        </p:spPr>
        <p:txBody>
          <a:bodyPr wrap="none" rtlCol="0">
            <a:spAutoFit/>
          </a:bodyPr>
          <a:lstStyle/>
          <a:p>
            <a:r>
              <a:rPr lang="en-US" b="1" dirty="0"/>
              <a:t>Coin Currency Processing Management</a:t>
            </a:r>
          </a:p>
          <a:p>
            <a:endParaRPr lang="en-US" sz="1000" b="1" dirty="0"/>
          </a:p>
          <a:p>
            <a:r>
              <a:rPr lang="en-US" sz="1600" b="1" dirty="0">
                <a:solidFill>
                  <a:schemeClr val="accent6">
                    <a:lumMod val="75000"/>
                  </a:schemeClr>
                </a:solidFill>
              </a:rPr>
              <a:t>$100M+/mo </a:t>
            </a:r>
            <a:r>
              <a:rPr lang="en-US" sz="1600" b="1" dirty="0"/>
              <a:t>Coin Processing Order Flows</a:t>
            </a:r>
          </a:p>
        </p:txBody>
      </p:sp>
      <p:pic>
        <p:nvPicPr>
          <p:cNvPr id="5" name="Picture 4">
            <a:extLst>
              <a:ext uri="{FF2B5EF4-FFF2-40B4-BE49-F238E27FC236}">
                <a16:creationId xmlns:a16="http://schemas.microsoft.com/office/drawing/2014/main" id="{268EDDE5-1706-87C4-ED8D-5F79F7E8C21A}"/>
              </a:ext>
            </a:extLst>
          </p:cNvPr>
          <p:cNvPicPr>
            <a:picLocks noChangeAspect="1"/>
          </p:cNvPicPr>
          <p:nvPr/>
        </p:nvPicPr>
        <p:blipFill>
          <a:blip r:embed="rId2"/>
          <a:stretch>
            <a:fillRect/>
          </a:stretch>
        </p:blipFill>
        <p:spPr>
          <a:xfrm>
            <a:off x="7038745" y="1502447"/>
            <a:ext cx="2015559" cy="636493"/>
          </a:xfrm>
          <a:prstGeom prst="rect">
            <a:avLst/>
          </a:prstGeom>
        </p:spPr>
      </p:pic>
      <p:grpSp>
        <p:nvGrpSpPr>
          <p:cNvPr id="26" name="Group 25">
            <a:extLst>
              <a:ext uri="{FF2B5EF4-FFF2-40B4-BE49-F238E27FC236}">
                <a16:creationId xmlns:a16="http://schemas.microsoft.com/office/drawing/2014/main" id="{4FA8CBCF-7052-CE77-B572-9C05372DAD3C}"/>
              </a:ext>
            </a:extLst>
          </p:cNvPr>
          <p:cNvGrpSpPr/>
          <p:nvPr/>
        </p:nvGrpSpPr>
        <p:grpSpPr>
          <a:xfrm>
            <a:off x="620765" y="1790635"/>
            <a:ext cx="6156279" cy="3852970"/>
            <a:chOff x="620765" y="1790635"/>
            <a:chExt cx="6156279" cy="3852970"/>
          </a:xfrm>
        </p:grpSpPr>
        <p:pic>
          <p:nvPicPr>
            <p:cNvPr id="7" name="Picture 6">
              <a:extLst>
                <a:ext uri="{FF2B5EF4-FFF2-40B4-BE49-F238E27FC236}">
                  <a16:creationId xmlns:a16="http://schemas.microsoft.com/office/drawing/2014/main" id="{EB0C06A8-B200-3961-EA2F-DDF7E59F8EF1}"/>
                </a:ext>
              </a:extLst>
            </p:cNvPr>
            <p:cNvPicPr>
              <a:picLocks noChangeAspect="1"/>
            </p:cNvPicPr>
            <p:nvPr/>
          </p:nvPicPr>
          <p:blipFill>
            <a:blip r:embed="rId3"/>
            <a:srcRect r="10558"/>
            <a:stretch>
              <a:fillRect/>
            </a:stretch>
          </p:blipFill>
          <p:spPr>
            <a:xfrm>
              <a:off x="620765" y="1790635"/>
              <a:ext cx="6156279" cy="3698947"/>
            </a:xfrm>
            <a:prstGeom prst="rect">
              <a:avLst/>
            </a:prstGeom>
          </p:spPr>
        </p:pic>
        <p:grpSp>
          <p:nvGrpSpPr>
            <p:cNvPr id="8" name="Group 7">
              <a:extLst>
                <a:ext uri="{FF2B5EF4-FFF2-40B4-BE49-F238E27FC236}">
                  <a16:creationId xmlns:a16="http://schemas.microsoft.com/office/drawing/2014/main" id="{351FBACA-667C-2854-EB80-D820451A5645}"/>
                </a:ext>
              </a:extLst>
            </p:cNvPr>
            <p:cNvGrpSpPr/>
            <p:nvPr/>
          </p:nvGrpSpPr>
          <p:grpSpPr>
            <a:xfrm>
              <a:off x="4205304" y="5138992"/>
              <a:ext cx="1890696" cy="504613"/>
              <a:chOff x="1917356" y="3770354"/>
              <a:chExt cx="3013824" cy="804366"/>
            </a:xfrm>
          </p:grpSpPr>
          <p:sp>
            <p:nvSpPr>
              <p:cNvPr id="10" name="Rounded Rectangle 17">
                <a:extLst>
                  <a:ext uri="{FF2B5EF4-FFF2-40B4-BE49-F238E27FC236}">
                    <a16:creationId xmlns:a16="http://schemas.microsoft.com/office/drawing/2014/main" id="{E0CAEAD2-3054-BA2B-4001-886A3FEAB5C6}"/>
                  </a:ext>
                </a:extLst>
              </p:cNvPr>
              <p:cNvSpPr/>
              <p:nvPr/>
            </p:nvSpPr>
            <p:spPr>
              <a:xfrm>
                <a:off x="1917356" y="3770354"/>
                <a:ext cx="3013824"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396875" algn="ctr"/>
                <a:r>
                  <a:rPr lang="en-US" sz="1200" b="1" dirty="0"/>
                  <a:t>Revenue Velocity</a:t>
                </a:r>
              </a:p>
            </p:txBody>
          </p:sp>
          <p:grpSp>
            <p:nvGrpSpPr>
              <p:cNvPr id="11" name="Group 10">
                <a:extLst>
                  <a:ext uri="{FF2B5EF4-FFF2-40B4-BE49-F238E27FC236}">
                    <a16:creationId xmlns:a16="http://schemas.microsoft.com/office/drawing/2014/main" id="{C39237C9-3236-8536-2247-6185F865633D}"/>
                  </a:ext>
                </a:extLst>
              </p:cNvPr>
              <p:cNvGrpSpPr/>
              <p:nvPr/>
            </p:nvGrpSpPr>
            <p:grpSpPr>
              <a:xfrm>
                <a:off x="2100180" y="3865140"/>
                <a:ext cx="639238" cy="639238"/>
                <a:chOff x="1806965" y="4525395"/>
                <a:chExt cx="1188167" cy="1188168"/>
              </a:xfrm>
            </p:grpSpPr>
            <p:sp>
              <p:nvSpPr>
                <p:cNvPr id="13" name="Oval 12">
                  <a:extLst>
                    <a:ext uri="{FF2B5EF4-FFF2-40B4-BE49-F238E27FC236}">
                      <a16:creationId xmlns:a16="http://schemas.microsoft.com/office/drawing/2014/main" id="{C416A328-E0FF-2F30-9C4B-F44183CA4D2F}"/>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800"/>
                </a:p>
              </p:txBody>
            </p:sp>
            <p:pic>
              <p:nvPicPr>
                <p:cNvPr id="24" name="Picture 23">
                  <a:extLst>
                    <a:ext uri="{FF2B5EF4-FFF2-40B4-BE49-F238E27FC236}">
                      <a16:creationId xmlns:a16="http://schemas.microsoft.com/office/drawing/2014/main" id="{BEDE32AB-6B68-D0D2-B33E-8640E37208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sp>
        <p:nvSpPr>
          <p:cNvPr id="25" name="Rectangle: Rounded Corners 24">
            <a:extLst>
              <a:ext uri="{FF2B5EF4-FFF2-40B4-BE49-F238E27FC236}">
                <a16:creationId xmlns:a16="http://schemas.microsoft.com/office/drawing/2014/main" id="{C3170C7B-C608-4A2A-CF18-C809E12E1667}"/>
              </a:ext>
            </a:extLst>
          </p:cNvPr>
          <p:cNvSpPr/>
          <p:nvPr/>
        </p:nvSpPr>
        <p:spPr>
          <a:xfrm>
            <a:off x="436181" y="1368418"/>
            <a:ext cx="6497948" cy="4798702"/>
          </a:xfrm>
          <a:prstGeom prst="roundRect">
            <a:avLst>
              <a:gd name="adj" fmla="val 1819"/>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7593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5F971F8-6149-4CF8-C451-C587B3D3C80F}"/>
              </a:ext>
            </a:extLst>
          </p:cNvPr>
          <p:cNvGrpSpPr/>
          <p:nvPr/>
        </p:nvGrpSpPr>
        <p:grpSpPr>
          <a:xfrm>
            <a:off x="720156" y="459793"/>
            <a:ext cx="9855079" cy="6021184"/>
            <a:chOff x="720156" y="459793"/>
            <a:chExt cx="9855079" cy="6021184"/>
          </a:xfrm>
        </p:grpSpPr>
        <p:pic>
          <p:nvPicPr>
            <p:cNvPr id="3" name="Picture 2">
              <a:extLst>
                <a:ext uri="{FF2B5EF4-FFF2-40B4-BE49-F238E27FC236}">
                  <a16:creationId xmlns:a16="http://schemas.microsoft.com/office/drawing/2014/main" id="{E57D89C4-AB83-ECF0-3EE9-CA8B5B215DDE}"/>
                </a:ext>
              </a:extLst>
            </p:cNvPr>
            <p:cNvPicPr>
              <a:picLocks noChangeAspect="1"/>
            </p:cNvPicPr>
            <p:nvPr/>
          </p:nvPicPr>
          <p:blipFill>
            <a:blip r:embed="rId2"/>
            <a:srcRect r="10558"/>
            <a:stretch>
              <a:fillRect/>
            </a:stretch>
          </p:blipFill>
          <p:spPr>
            <a:xfrm>
              <a:off x="720156" y="459793"/>
              <a:ext cx="9855079" cy="5921339"/>
            </a:xfrm>
            <a:prstGeom prst="rect">
              <a:avLst/>
            </a:prstGeom>
          </p:spPr>
        </p:pic>
        <p:grpSp>
          <p:nvGrpSpPr>
            <p:cNvPr id="4" name="Group 3">
              <a:extLst>
                <a:ext uri="{FF2B5EF4-FFF2-40B4-BE49-F238E27FC236}">
                  <a16:creationId xmlns:a16="http://schemas.microsoft.com/office/drawing/2014/main" id="{12B3DA83-6883-6156-BDB1-1D18C603558D}"/>
                </a:ext>
              </a:extLst>
            </p:cNvPr>
            <p:cNvGrpSpPr/>
            <p:nvPr/>
          </p:nvGrpSpPr>
          <p:grpSpPr>
            <a:xfrm>
              <a:off x="6458349" y="5819903"/>
              <a:ext cx="2725408" cy="661074"/>
              <a:chOff x="1917356" y="3770354"/>
              <a:chExt cx="3316163" cy="804366"/>
            </a:xfrm>
          </p:grpSpPr>
          <p:sp>
            <p:nvSpPr>
              <p:cNvPr id="5" name="Rounded Rectangle 17">
                <a:extLst>
                  <a:ext uri="{FF2B5EF4-FFF2-40B4-BE49-F238E27FC236}">
                    <a16:creationId xmlns:a16="http://schemas.microsoft.com/office/drawing/2014/main" id="{721C922A-31A5-C42B-40AD-BC5188D11EA3}"/>
                  </a:ext>
                </a:extLst>
              </p:cNvPr>
              <p:cNvSpPr/>
              <p:nvPr/>
            </p:nvSpPr>
            <p:spPr>
              <a:xfrm>
                <a:off x="1917356" y="3770354"/>
                <a:ext cx="3316163"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17525" algn="ctr"/>
                <a:r>
                  <a:rPr lang="en-US" b="1" dirty="0"/>
                  <a:t>Revenue Velocity</a:t>
                </a:r>
              </a:p>
            </p:txBody>
          </p:sp>
          <p:grpSp>
            <p:nvGrpSpPr>
              <p:cNvPr id="6" name="Group 5">
                <a:extLst>
                  <a:ext uri="{FF2B5EF4-FFF2-40B4-BE49-F238E27FC236}">
                    <a16:creationId xmlns:a16="http://schemas.microsoft.com/office/drawing/2014/main" id="{4D270C71-1E48-6B56-C2EE-C34C8639D785}"/>
                  </a:ext>
                </a:extLst>
              </p:cNvPr>
              <p:cNvGrpSpPr/>
              <p:nvPr/>
            </p:nvGrpSpPr>
            <p:grpSpPr>
              <a:xfrm>
                <a:off x="2100180" y="3865140"/>
                <a:ext cx="639238" cy="639238"/>
                <a:chOff x="1806965" y="4525395"/>
                <a:chExt cx="1188167" cy="1188168"/>
              </a:xfrm>
            </p:grpSpPr>
            <p:sp>
              <p:nvSpPr>
                <p:cNvPr id="7" name="Oval 6">
                  <a:extLst>
                    <a:ext uri="{FF2B5EF4-FFF2-40B4-BE49-F238E27FC236}">
                      <a16:creationId xmlns:a16="http://schemas.microsoft.com/office/drawing/2014/main" id="{0082B4B4-0B7D-F7FD-2AC3-C2A832EB90D3}"/>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800"/>
                </a:p>
              </p:txBody>
            </p:sp>
            <p:pic>
              <p:nvPicPr>
                <p:cNvPr id="8" name="Picture 7">
                  <a:extLst>
                    <a:ext uri="{FF2B5EF4-FFF2-40B4-BE49-F238E27FC236}">
                      <a16:creationId xmlns:a16="http://schemas.microsoft.com/office/drawing/2014/main" id="{13C0B4BA-C018-506E-22D3-6A7DE2A534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sp>
        <p:nvSpPr>
          <p:cNvPr id="11" name="TextBox 10">
            <a:extLst>
              <a:ext uri="{FF2B5EF4-FFF2-40B4-BE49-F238E27FC236}">
                <a16:creationId xmlns:a16="http://schemas.microsoft.com/office/drawing/2014/main" id="{02C35D9F-C827-D3A5-0CE0-2BC9694A516E}"/>
              </a:ext>
            </a:extLst>
          </p:cNvPr>
          <p:cNvSpPr txBox="1"/>
          <p:nvPr/>
        </p:nvSpPr>
        <p:spPr>
          <a:xfrm>
            <a:off x="2789895" y="6934699"/>
            <a:ext cx="6489918" cy="369332"/>
          </a:xfrm>
          <a:prstGeom prst="rect">
            <a:avLst/>
          </a:prstGeom>
          <a:noFill/>
        </p:spPr>
        <p:txBody>
          <a:bodyPr wrap="none" rtlCol="0">
            <a:spAutoFit/>
          </a:bodyPr>
          <a:lstStyle/>
          <a:p>
            <a:r>
              <a:rPr lang="en-US" dirty="0">
                <a:solidFill>
                  <a:srgbClr val="FF0000"/>
                </a:solidFill>
              </a:rPr>
              <a:t>{Source Image at Folder | CoorWorks Website v3  | CHANGE.jpg}</a:t>
            </a:r>
          </a:p>
        </p:txBody>
      </p:sp>
    </p:spTree>
    <p:extLst>
      <p:ext uri="{BB962C8B-B14F-4D97-AF65-F5344CB8AC3E}">
        <p14:creationId xmlns:p14="http://schemas.microsoft.com/office/powerpoint/2010/main" val="4290546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31A7D2-74E0-A887-8666-CAD0FFE336CD}"/>
              </a:ext>
            </a:extLst>
          </p:cNvPr>
          <p:cNvSpPr txBox="1"/>
          <p:nvPr/>
        </p:nvSpPr>
        <p:spPr>
          <a:xfrm>
            <a:off x="874644" y="1003852"/>
            <a:ext cx="4137223" cy="307777"/>
          </a:xfrm>
          <a:prstGeom prst="rect">
            <a:avLst/>
          </a:prstGeom>
          <a:noFill/>
        </p:spPr>
        <p:txBody>
          <a:bodyPr wrap="none" rtlCol="0">
            <a:spAutoFit/>
          </a:bodyPr>
          <a:lstStyle/>
          <a:p>
            <a:r>
              <a:rPr lang="en-US" sz="1400" dirty="0">
                <a:solidFill>
                  <a:srgbClr val="FF0000"/>
                </a:solidFill>
              </a:rPr>
              <a:t>{Thin Performance Section Beneath Breakthroughs}</a:t>
            </a:r>
          </a:p>
        </p:txBody>
      </p:sp>
      <p:pic>
        <p:nvPicPr>
          <p:cNvPr id="6" name="Picture 5">
            <a:extLst>
              <a:ext uri="{FF2B5EF4-FFF2-40B4-BE49-F238E27FC236}">
                <a16:creationId xmlns:a16="http://schemas.microsoft.com/office/drawing/2014/main" id="{AF46C23B-7775-A109-A184-E601AACD885B}"/>
              </a:ext>
            </a:extLst>
          </p:cNvPr>
          <p:cNvPicPr>
            <a:picLocks noChangeAspect="1"/>
          </p:cNvPicPr>
          <p:nvPr/>
        </p:nvPicPr>
        <p:blipFill>
          <a:blip r:embed="rId2"/>
          <a:stretch>
            <a:fillRect/>
          </a:stretch>
        </p:blipFill>
        <p:spPr>
          <a:xfrm>
            <a:off x="578642" y="1409926"/>
            <a:ext cx="11034716" cy="2408129"/>
          </a:xfrm>
          <a:prstGeom prst="rect">
            <a:avLst/>
          </a:prstGeom>
        </p:spPr>
      </p:pic>
    </p:spTree>
    <p:extLst>
      <p:ext uri="{BB962C8B-B14F-4D97-AF65-F5344CB8AC3E}">
        <p14:creationId xmlns:p14="http://schemas.microsoft.com/office/powerpoint/2010/main" val="2586590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9C0D08-CBCA-B0F4-58CD-D1A0CD1DADA0}"/>
              </a:ext>
            </a:extLst>
          </p:cNvPr>
          <p:cNvSpPr txBox="1"/>
          <p:nvPr/>
        </p:nvSpPr>
        <p:spPr>
          <a:xfrm>
            <a:off x="2946003" y="1655521"/>
            <a:ext cx="2798843" cy="923330"/>
          </a:xfrm>
          <a:prstGeom prst="rect">
            <a:avLst/>
          </a:prstGeom>
          <a:noFill/>
        </p:spPr>
        <p:txBody>
          <a:bodyPr wrap="none" rtlCol="0" anchor="ctr">
            <a:spAutoFit/>
          </a:bodyPr>
          <a:lstStyle/>
          <a:p>
            <a:r>
              <a:rPr lang="en-US" sz="5400" dirty="0"/>
              <a:t>Adaptive</a:t>
            </a:r>
            <a:endParaRPr lang="en-US" sz="2400" dirty="0"/>
          </a:p>
        </p:txBody>
      </p:sp>
      <p:sp>
        <p:nvSpPr>
          <p:cNvPr id="4" name="TextBox 3">
            <a:extLst>
              <a:ext uri="{FF2B5EF4-FFF2-40B4-BE49-F238E27FC236}">
                <a16:creationId xmlns:a16="http://schemas.microsoft.com/office/drawing/2014/main" id="{63B09373-62ED-8104-60CE-C71573AAD364}"/>
              </a:ext>
            </a:extLst>
          </p:cNvPr>
          <p:cNvSpPr txBox="1"/>
          <p:nvPr/>
        </p:nvSpPr>
        <p:spPr>
          <a:xfrm>
            <a:off x="1369785" y="1932520"/>
            <a:ext cx="1237861" cy="369332"/>
          </a:xfrm>
          <a:prstGeom prst="rect">
            <a:avLst/>
          </a:prstGeom>
          <a:noFill/>
        </p:spPr>
        <p:txBody>
          <a:bodyPr wrap="square">
            <a:spAutoFit/>
          </a:bodyPr>
          <a:lstStyle/>
          <a:p>
            <a:pPr algn="r"/>
            <a:r>
              <a:rPr lang="en-US" dirty="0"/>
              <a:t>Budget</a:t>
            </a:r>
          </a:p>
        </p:txBody>
      </p:sp>
      <p:sp>
        <p:nvSpPr>
          <p:cNvPr id="5" name="TextBox 4">
            <a:extLst>
              <a:ext uri="{FF2B5EF4-FFF2-40B4-BE49-F238E27FC236}">
                <a16:creationId xmlns:a16="http://schemas.microsoft.com/office/drawing/2014/main" id="{5CB610FE-DC19-7E7B-7493-D731B8B088F0}"/>
              </a:ext>
            </a:extLst>
          </p:cNvPr>
          <p:cNvSpPr txBox="1"/>
          <p:nvPr/>
        </p:nvSpPr>
        <p:spPr>
          <a:xfrm>
            <a:off x="1207274" y="2501907"/>
            <a:ext cx="1400372" cy="369332"/>
          </a:xfrm>
          <a:prstGeom prst="rect">
            <a:avLst/>
          </a:prstGeom>
          <a:noFill/>
        </p:spPr>
        <p:txBody>
          <a:bodyPr wrap="square">
            <a:spAutoFit/>
          </a:bodyPr>
          <a:lstStyle/>
          <a:p>
            <a:pPr algn="r"/>
            <a:r>
              <a:rPr lang="en-US" dirty="0"/>
              <a:t>Timeframe</a:t>
            </a:r>
          </a:p>
        </p:txBody>
      </p:sp>
      <p:sp>
        <p:nvSpPr>
          <p:cNvPr id="6" name="TextBox 5">
            <a:extLst>
              <a:ext uri="{FF2B5EF4-FFF2-40B4-BE49-F238E27FC236}">
                <a16:creationId xmlns:a16="http://schemas.microsoft.com/office/drawing/2014/main" id="{EDA71371-62FB-0B9E-AC6C-60DD9DA68ED8}"/>
              </a:ext>
            </a:extLst>
          </p:cNvPr>
          <p:cNvSpPr txBox="1"/>
          <p:nvPr/>
        </p:nvSpPr>
        <p:spPr>
          <a:xfrm>
            <a:off x="1369784" y="3071294"/>
            <a:ext cx="1237861" cy="369332"/>
          </a:xfrm>
          <a:prstGeom prst="rect">
            <a:avLst/>
          </a:prstGeom>
          <a:noFill/>
        </p:spPr>
        <p:txBody>
          <a:bodyPr wrap="square">
            <a:spAutoFit/>
          </a:bodyPr>
          <a:lstStyle/>
          <a:p>
            <a:pPr algn="r"/>
            <a:r>
              <a:rPr lang="en-US" dirty="0"/>
              <a:t>Goal</a:t>
            </a:r>
          </a:p>
        </p:txBody>
      </p:sp>
      <p:sp>
        <p:nvSpPr>
          <p:cNvPr id="7" name="TextBox 6">
            <a:extLst>
              <a:ext uri="{FF2B5EF4-FFF2-40B4-BE49-F238E27FC236}">
                <a16:creationId xmlns:a16="http://schemas.microsoft.com/office/drawing/2014/main" id="{6FA09E60-2904-527F-B637-A55AA0DA26EC}"/>
              </a:ext>
            </a:extLst>
          </p:cNvPr>
          <p:cNvSpPr txBox="1"/>
          <p:nvPr/>
        </p:nvSpPr>
        <p:spPr>
          <a:xfrm>
            <a:off x="4257115" y="4429147"/>
            <a:ext cx="3591913" cy="1554272"/>
          </a:xfrm>
          <a:prstGeom prst="rect">
            <a:avLst/>
          </a:prstGeom>
          <a:noFill/>
        </p:spPr>
        <p:txBody>
          <a:bodyPr wrap="square" rtlCol="0">
            <a:spAutoFit/>
          </a:bodyPr>
          <a:lstStyle/>
          <a:p>
            <a:r>
              <a:rPr lang="en-US" sz="1400" dirty="0">
                <a:solidFill>
                  <a:srgbClr val="FF0000"/>
                </a:solidFill>
              </a:rPr>
              <a:t>{Display when Timeframe ON}</a:t>
            </a:r>
          </a:p>
          <a:p>
            <a:r>
              <a:rPr lang="en-US" sz="1400" dirty="0"/>
              <a:t>Platform accelerations over bespoke builds — ship in quarters, not years.</a:t>
            </a:r>
          </a:p>
          <a:p>
            <a:endParaRPr lang="en-US" sz="1100" dirty="0"/>
          </a:p>
          <a:p>
            <a:pPr marL="285750" indent="-285750">
              <a:buFont typeface="Arial" panose="020B0604020202020204" pitchFamily="34" charset="0"/>
              <a:buChar char="•"/>
            </a:pPr>
            <a:r>
              <a:rPr lang="en-US" sz="1400" dirty="0"/>
              <a:t>Platform Accelerations</a:t>
            </a:r>
          </a:p>
          <a:p>
            <a:pPr marL="285750" indent="-285750">
              <a:buFont typeface="Arial" panose="020B0604020202020204" pitchFamily="34" charset="0"/>
              <a:buChar char="•"/>
            </a:pPr>
            <a:r>
              <a:rPr lang="en-US" sz="1400" dirty="0"/>
              <a:t>Iterative Functional Development</a:t>
            </a:r>
          </a:p>
          <a:p>
            <a:pPr marL="285750" indent="-285750">
              <a:buFont typeface="Arial" panose="020B0604020202020204" pitchFamily="34" charset="0"/>
              <a:buChar char="•"/>
            </a:pPr>
            <a:r>
              <a:rPr lang="en-US" sz="1400" dirty="0"/>
              <a:t>Direct Stakeholder Participation</a:t>
            </a:r>
          </a:p>
        </p:txBody>
      </p:sp>
      <p:sp>
        <p:nvSpPr>
          <p:cNvPr id="8" name="TextBox 7">
            <a:extLst>
              <a:ext uri="{FF2B5EF4-FFF2-40B4-BE49-F238E27FC236}">
                <a16:creationId xmlns:a16="http://schemas.microsoft.com/office/drawing/2014/main" id="{C507F87B-41A4-E1AC-301D-E9ACC13BA437}"/>
              </a:ext>
            </a:extLst>
          </p:cNvPr>
          <p:cNvSpPr txBox="1"/>
          <p:nvPr/>
        </p:nvSpPr>
        <p:spPr>
          <a:xfrm>
            <a:off x="186742" y="4429147"/>
            <a:ext cx="3725573" cy="1600438"/>
          </a:xfrm>
          <a:prstGeom prst="rect">
            <a:avLst/>
          </a:prstGeom>
          <a:noFill/>
        </p:spPr>
        <p:txBody>
          <a:bodyPr wrap="square" rtlCol="0">
            <a:spAutoFit/>
          </a:bodyPr>
          <a:lstStyle/>
          <a:p>
            <a:r>
              <a:rPr lang="en-US" sz="1400" dirty="0">
                <a:solidFill>
                  <a:srgbClr val="FF0000"/>
                </a:solidFill>
              </a:rPr>
              <a:t>{Display when Budget ON}</a:t>
            </a:r>
          </a:p>
          <a:p>
            <a:r>
              <a:rPr lang="en-US" sz="1400" dirty="0"/>
              <a:t>Engineered against the spend you have — not the retainer you’ve gotten pitched elsewhere.</a:t>
            </a:r>
          </a:p>
          <a:p>
            <a:endParaRPr lang="en-US" sz="1400" dirty="0">
              <a:solidFill>
                <a:srgbClr val="FF0000"/>
              </a:solidFill>
            </a:endParaRPr>
          </a:p>
          <a:p>
            <a:pPr marL="285750" indent="-285750">
              <a:buFont typeface="Arial" panose="020B0604020202020204" pitchFamily="34" charset="0"/>
              <a:buChar char="•"/>
            </a:pPr>
            <a:r>
              <a:rPr lang="en-US" sz="1400" dirty="0"/>
              <a:t>Budget-Driven Solution Engineering</a:t>
            </a:r>
          </a:p>
          <a:p>
            <a:pPr marL="285750" indent="-285750">
              <a:buFont typeface="Arial" panose="020B0604020202020204" pitchFamily="34" charset="0"/>
              <a:buChar char="•"/>
            </a:pPr>
            <a:r>
              <a:rPr lang="en-US" sz="1400" dirty="0"/>
              <a:t>Agile Resourcing</a:t>
            </a:r>
          </a:p>
          <a:p>
            <a:pPr marL="285750" indent="-285750">
              <a:buFont typeface="Arial" panose="020B0604020202020204" pitchFamily="34" charset="0"/>
              <a:buChar char="•"/>
            </a:pPr>
            <a:r>
              <a:rPr lang="en-US" sz="1400" dirty="0"/>
              <a:t>Realistic AI Deployment</a:t>
            </a:r>
          </a:p>
        </p:txBody>
      </p:sp>
      <p:sp>
        <p:nvSpPr>
          <p:cNvPr id="9" name="TextBox 8">
            <a:extLst>
              <a:ext uri="{FF2B5EF4-FFF2-40B4-BE49-F238E27FC236}">
                <a16:creationId xmlns:a16="http://schemas.microsoft.com/office/drawing/2014/main" id="{451170CB-1B24-CC4A-1213-7BFEE53FF04D}"/>
              </a:ext>
            </a:extLst>
          </p:cNvPr>
          <p:cNvSpPr txBox="1"/>
          <p:nvPr/>
        </p:nvSpPr>
        <p:spPr>
          <a:xfrm>
            <a:off x="8193827" y="4429147"/>
            <a:ext cx="3811431" cy="1384995"/>
          </a:xfrm>
          <a:prstGeom prst="rect">
            <a:avLst/>
          </a:prstGeom>
          <a:noFill/>
        </p:spPr>
        <p:txBody>
          <a:bodyPr wrap="square" rtlCol="0">
            <a:spAutoFit/>
          </a:bodyPr>
          <a:lstStyle/>
          <a:p>
            <a:r>
              <a:rPr lang="en-US" sz="1400" dirty="0">
                <a:solidFill>
                  <a:srgbClr val="FF0000"/>
                </a:solidFill>
              </a:rPr>
              <a:t>{Display when Goal ON}</a:t>
            </a:r>
            <a:endParaRPr lang="en-US" sz="1400" dirty="0"/>
          </a:p>
          <a:p>
            <a:r>
              <a:rPr lang="en-US" sz="1400" dirty="0"/>
              <a:t>Outcome-aligned — the success condition is the operating metric, not the spec document.</a:t>
            </a:r>
          </a:p>
          <a:p>
            <a:pPr marL="285750" indent="-285750">
              <a:buFont typeface="Arial" panose="020B0604020202020204" pitchFamily="34" charset="0"/>
              <a:buChar char="•"/>
            </a:pPr>
            <a:r>
              <a:rPr lang="en-US" sz="1400" dirty="0"/>
              <a:t>Innovation Validation</a:t>
            </a:r>
          </a:p>
          <a:p>
            <a:pPr marL="285750" indent="-285750">
              <a:buFont typeface="Arial" panose="020B0604020202020204" pitchFamily="34" charset="0"/>
              <a:buChar char="•"/>
            </a:pPr>
            <a:r>
              <a:rPr lang="en-US" sz="1400" dirty="0"/>
              <a:t>Collaborative Outcome Targeting</a:t>
            </a:r>
          </a:p>
          <a:p>
            <a:pPr marL="285750" indent="-285750">
              <a:buFont typeface="Arial" panose="020B0604020202020204" pitchFamily="34" charset="0"/>
              <a:buChar char="•"/>
            </a:pPr>
            <a:r>
              <a:rPr lang="en-US" sz="1400" dirty="0"/>
              <a:t>Creative IP Arrangements</a:t>
            </a:r>
          </a:p>
        </p:txBody>
      </p:sp>
      <p:sp>
        <p:nvSpPr>
          <p:cNvPr id="10" name="TextBox 9">
            <a:extLst>
              <a:ext uri="{FF2B5EF4-FFF2-40B4-BE49-F238E27FC236}">
                <a16:creationId xmlns:a16="http://schemas.microsoft.com/office/drawing/2014/main" id="{A82D32B8-51F4-F383-6961-3DF424656B2C}"/>
              </a:ext>
            </a:extLst>
          </p:cNvPr>
          <p:cNvSpPr txBox="1"/>
          <p:nvPr/>
        </p:nvSpPr>
        <p:spPr>
          <a:xfrm>
            <a:off x="624840" y="518160"/>
            <a:ext cx="4214936" cy="369332"/>
          </a:xfrm>
          <a:prstGeom prst="rect">
            <a:avLst/>
          </a:prstGeom>
          <a:noFill/>
        </p:spPr>
        <p:txBody>
          <a:bodyPr wrap="none" rtlCol="0">
            <a:spAutoFit/>
          </a:bodyPr>
          <a:lstStyle/>
          <a:p>
            <a:r>
              <a:rPr lang="en-US" dirty="0">
                <a:solidFill>
                  <a:schemeClr val="accent2"/>
                </a:solidFill>
              </a:rPr>
              <a:t>Approach </a:t>
            </a:r>
            <a:r>
              <a:rPr lang="en-US" dirty="0"/>
              <a:t>| Multi-Dimensional Partnering</a:t>
            </a:r>
          </a:p>
        </p:txBody>
      </p:sp>
      <p:sp>
        <p:nvSpPr>
          <p:cNvPr id="11" name="Rectangle 10">
            <a:extLst>
              <a:ext uri="{FF2B5EF4-FFF2-40B4-BE49-F238E27FC236}">
                <a16:creationId xmlns:a16="http://schemas.microsoft.com/office/drawing/2014/main" id="{9CB67E07-C6DA-983C-7661-B3E117738ADD}"/>
              </a:ext>
            </a:extLst>
          </p:cNvPr>
          <p:cNvSpPr/>
          <p:nvPr/>
        </p:nvSpPr>
        <p:spPr>
          <a:xfrm>
            <a:off x="1214048" y="1756177"/>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D35132-9298-0C00-FDC4-330C42EF73DA}"/>
              </a:ext>
            </a:extLst>
          </p:cNvPr>
          <p:cNvSpPr/>
          <p:nvPr/>
        </p:nvSpPr>
        <p:spPr>
          <a:xfrm>
            <a:off x="1214048" y="2380159"/>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006744-D93E-E6D1-907A-D607A979F61E}"/>
              </a:ext>
            </a:extLst>
          </p:cNvPr>
          <p:cNvSpPr/>
          <p:nvPr/>
        </p:nvSpPr>
        <p:spPr>
          <a:xfrm>
            <a:off x="1200605" y="2991075"/>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9FC14-BE09-8AE8-4F09-549CCE867960}"/>
              </a:ext>
            </a:extLst>
          </p:cNvPr>
          <p:cNvSpPr txBox="1"/>
          <p:nvPr/>
        </p:nvSpPr>
        <p:spPr>
          <a:xfrm>
            <a:off x="7025640" y="518160"/>
            <a:ext cx="4659464" cy="738664"/>
          </a:xfrm>
          <a:prstGeom prst="rect">
            <a:avLst/>
          </a:prstGeom>
          <a:noFill/>
        </p:spPr>
        <p:txBody>
          <a:bodyPr wrap="square" rtlCol="0">
            <a:spAutoFit/>
          </a:bodyPr>
          <a:lstStyle/>
          <a:p>
            <a:r>
              <a:rPr lang="en-US" sz="1400" dirty="0">
                <a:solidFill>
                  <a:srgbClr val="FF0000"/>
                </a:solidFill>
              </a:rPr>
              <a:t>{would like for an auto scroll vertically of the 3 words and on display of each word hold it for 7-10 seconds while displaying the 3 bullet points for each word}</a:t>
            </a:r>
          </a:p>
        </p:txBody>
      </p:sp>
      <p:sp>
        <p:nvSpPr>
          <p:cNvPr id="16" name="TextBox 15">
            <a:extLst>
              <a:ext uri="{FF2B5EF4-FFF2-40B4-BE49-F238E27FC236}">
                <a16:creationId xmlns:a16="http://schemas.microsoft.com/office/drawing/2014/main" id="{058ECB90-F039-A719-31A2-3F10100D3753}"/>
              </a:ext>
            </a:extLst>
          </p:cNvPr>
          <p:cNvSpPr txBox="1"/>
          <p:nvPr/>
        </p:nvSpPr>
        <p:spPr>
          <a:xfrm>
            <a:off x="3187975" y="2677824"/>
            <a:ext cx="6472859" cy="1200329"/>
          </a:xfrm>
          <a:prstGeom prst="rect">
            <a:avLst/>
          </a:prstGeom>
          <a:noFill/>
        </p:spPr>
        <p:txBody>
          <a:bodyPr wrap="square">
            <a:spAutoFit/>
          </a:bodyPr>
          <a:lstStyle/>
          <a:p>
            <a:r>
              <a:rPr lang="en-US" b="0" i="0" dirty="0">
                <a:effectLst/>
                <a:latin typeface="-apple-system"/>
              </a:rPr>
              <a:t>Every engagement is engineered against three simultaneous constraints: the </a:t>
            </a:r>
            <a:r>
              <a:rPr lang="en-US" b="0" i="1" dirty="0">
                <a:effectLst/>
                <a:latin typeface="-apple-system"/>
              </a:rPr>
              <a:t>budget</a:t>
            </a:r>
            <a:r>
              <a:rPr lang="en-US" b="0" i="0" dirty="0">
                <a:effectLst/>
                <a:latin typeface="-apple-system"/>
              </a:rPr>
              <a:t> you actually have, the </a:t>
            </a:r>
            <a:r>
              <a:rPr lang="en-US" b="0" i="1" dirty="0">
                <a:effectLst/>
                <a:latin typeface="-apple-system"/>
              </a:rPr>
              <a:t>timeframe</a:t>
            </a:r>
            <a:r>
              <a:rPr lang="en-US" b="0" i="0" dirty="0">
                <a:effectLst/>
                <a:latin typeface="-apple-system"/>
              </a:rPr>
              <a:t> the market will reward, and the </a:t>
            </a:r>
            <a:r>
              <a:rPr lang="en-US" b="0" i="1" dirty="0">
                <a:effectLst/>
                <a:latin typeface="-apple-system"/>
              </a:rPr>
              <a:t>goal</a:t>
            </a:r>
            <a:r>
              <a:rPr lang="en-US" b="0" i="0" dirty="0">
                <a:effectLst/>
                <a:latin typeface="-apple-system"/>
              </a:rPr>
              <a:t> that moves the operating metric. Nothing gets sacrificed — the approach is how.</a:t>
            </a:r>
            <a:endParaRPr lang="en-US" dirty="0"/>
          </a:p>
        </p:txBody>
      </p:sp>
    </p:spTree>
    <p:extLst>
      <p:ext uri="{BB962C8B-B14F-4D97-AF65-F5344CB8AC3E}">
        <p14:creationId xmlns:p14="http://schemas.microsoft.com/office/powerpoint/2010/main" val="3559393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54659F-3EFA-CE10-F288-27039D465D70}"/>
              </a:ext>
            </a:extLst>
          </p:cNvPr>
          <p:cNvPicPr>
            <a:picLocks noChangeAspect="1"/>
          </p:cNvPicPr>
          <p:nvPr/>
        </p:nvPicPr>
        <p:blipFill>
          <a:blip r:embed="rId2"/>
          <a:stretch>
            <a:fillRect/>
          </a:stretch>
        </p:blipFill>
        <p:spPr>
          <a:xfrm>
            <a:off x="906330" y="2251608"/>
            <a:ext cx="10379339" cy="2354784"/>
          </a:xfrm>
          <a:prstGeom prst="rect">
            <a:avLst/>
          </a:prstGeom>
        </p:spPr>
      </p:pic>
      <p:sp>
        <p:nvSpPr>
          <p:cNvPr id="4" name="TextBox 3">
            <a:extLst>
              <a:ext uri="{FF2B5EF4-FFF2-40B4-BE49-F238E27FC236}">
                <a16:creationId xmlns:a16="http://schemas.microsoft.com/office/drawing/2014/main" id="{239472A9-777B-2789-3585-2A699F13F95F}"/>
              </a:ext>
            </a:extLst>
          </p:cNvPr>
          <p:cNvSpPr txBox="1"/>
          <p:nvPr/>
        </p:nvSpPr>
        <p:spPr>
          <a:xfrm>
            <a:off x="874644" y="1003852"/>
            <a:ext cx="4136325" cy="307777"/>
          </a:xfrm>
          <a:prstGeom prst="rect">
            <a:avLst/>
          </a:prstGeom>
          <a:noFill/>
        </p:spPr>
        <p:txBody>
          <a:bodyPr wrap="none" rtlCol="0">
            <a:spAutoFit/>
          </a:bodyPr>
          <a:lstStyle/>
          <a:p>
            <a:r>
              <a:rPr lang="en-US" sz="1400" dirty="0">
                <a:solidFill>
                  <a:srgbClr val="FF0000"/>
                </a:solidFill>
              </a:rPr>
              <a:t>{Thin Summary Section Beneath Approach Section}</a:t>
            </a:r>
          </a:p>
        </p:txBody>
      </p:sp>
    </p:spTree>
    <p:extLst>
      <p:ext uri="{BB962C8B-B14F-4D97-AF65-F5344CB8AC3E}">
        <p14:creationId xmlns:p14="http://schemas.microsoft.com/office/powerpoint/2010/main" val="2803943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2304B3-39AC-7FC5-23D8-0560015407AD}"/>
              </a:ext>
            </a:extLst>
          </p:cNvPr>
          <p:cNvPicPr>
            <a:picLocks noChangeAspect="1"/>
          </p:cNvPicPr>
          <p:nvPr/>
        </p:nvPicPr>
        <p:blipFill>
          <a:blip r:embed="rId2"/>
          <a:stretch>
            <a:fillRect/>
          </a:stretch>
        </p:blipFill>
        <p:spPr>
          <a:xfrm>
            <a:off x="788210" y="887510"/>
            <a:ext cx="10615580" cy="5082980"/>
          </a:xfrm>
          <a:prstGeom prst="rect">
            <a:avLst/>
          </a:prstGeom>
        </p:spPr>
      </p:pic>
      <p:sp>
        <p:nvSpPr>
          <p:cNvPr id="4" name="Rectangle: Rounded Corners 3">
            <a:extLst>
              <a:ext uri="{FF2B5EF4-FFF2-40B4-BE49-F238E27FC236}">
                <a16:creationId xmlns:a16="http://schemas.microsoft.com/office/drawing/2014/main" id="{6E8FE965-BC0D-A355-F46C-811FF2E55B9D}"/>
              </a:ext>
            </a:extLst>
          </p:cNvPr>
          <p:cNvSpPr/>
          <p:nvPr/>
        </p:nvSpPr>
        <p:spPr>
          <a:xfrm>
            <a:off x="6096000" y="5237921"/>
            <a:ext cx="3250096" cy="477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Support@Coorworks.com</a:t>
            </a:r>
          </a:p>
        </p:txBody>
      </p:sp>
    </p:spTree>
    <p:extLst>
      <p:ext uri="{BB962C8B-B14F-4D97-AF65-F5344CB8AC3E}">
        <p14:creationId xmlns:p14="http://schemas.microsoft.com/office/powerpoint/2010/main" val="3313052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57F415-B91D-49FA-9DFA-50A67C30F0BF}"/>
              </a:ext>
            </a:extLst>
          </p:cNvPr>
          <p:cNvSpPr txBox="1"/>
          <p:nvPr/>
        </p:nvSpPr>
        <p:spPr>
          <a:xfrm>
            <a:off x="4472609" y="3059668"/>
            <a:ext cx="3663375" cy="369332"/>
          </a:xfrm>
          <a:prstGeom prst="rect">
            <a:avLst/>
          </a:prstGeom>
          <a:noFill/>
        </p:spPr>
        <p:txBody>
          <a:bodyPr wrap="none" rtlCol="0">
            <a:spAutoFit/>
          </a:bodyPr>
          <a:lstStyle/>
          <a:p>
            <a:r>
              <a:rPr lang="en-US" dirty="0">
                <a:solidFill>
                  <a:srgbClr val="FF0000"/>
                </a:solidFill>
              </a:rPr>
              <a:t>{Previous Iterations Past This Point}</a:t>
            </a:r>
          </a:p>
        </p:txBody>
      </p:sp>
    </p:spTree>
    <p:extLst>
      <p:ext uri="{BB962C8B-B14F-4D97-AF65-F5344CB8AC3E}">
        <p14:creationId xmlns:p14="http://schemas.microsoft.com/office/powerpoint/2010/main" val="435054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24E41F-4112-D042-B89F-84BA9A4FD5FA}"/>
              </a:ext>
            </a:extLst>
          </p:cNvPr>
          <p:cNvPicPr>
            <a:picLocks noChangeAspect="1"/>
          </p:cNvPicPr>
          <p:nvPr/>
        </p:nvPicPr>
        <p:blipFill>
          <a:blip r:embed="rId2"/>
          <a:stretch>
            <a:fillRect/>
          </a:stretch>
        </p:blipFill>
        <p:spPr>
          <a:xfrm>
            <a:off x="910079" y="3543315"/>
            <a:ext cx="7962223" cy="6257385"/>
          </a:xfrm>
          <a:prstGeom prst="rect">
            <a:avLst/>
          </a:prstGeom>
        </p:spPr>
      </p:pic>
      <p:pic>
        <p:nvPicPr>
          <p:cNvPr id="5" name="Picture 4">
            <a:extLst>
              <a:ext uri="{FF2B5EF4-FFF2-40B4-BE49-F238E27FC236}">
                <a16:creationId xmlns:a16="http://schemas.microsoft.com/office/drawing/2014/main" id="{D9892A13-F01D-9DFB-1FC3-012DB7690CBC}"/>
              </a:ext>
            </a:extLst>
          </p:cNvPr>
          <p:cNvPicPr>
            <a:picLocks noChangeAspect="1"/>
          </p:cNvPicPr>
          <p:nvPr/>
        </p:nvPicPr>
        <p:blipFill>
          <a:blip r:embed="rId3"/>
          <a:stretch>
            <a:fillRect/>
          </a:stretch>
        </p:blipFill>
        <p:spPr>
          <a:xfrm>
            <a:off x="947904" y="2710476"/>
            <a:ext cx="9906859" cy="6431837"/>
          </a:xfrm>
          <a:prstGeom prst="rect">
            <a:avLst/>
          </a:prstGeom>
        </p:spPr>
      </p:pic>
      <p:pic>
        <p:nvPicPr>
          <p:cNvPr id="28" name="Picture 27">
            <a:extLst>
              <a:ext uri="{FF2B5EF4-FFF2-40B4-BE49-F238E27FC236}">
                <a16:creationId xmlns:a16="http://schemas.microsoft.com/office/drawing/2014/main" id="{EA013E40-558D-6CA2-158C-2A774168BFD3}"/>
              </a:ext>
            </a:extLst>
          </p:cNvPr>
          <p:cNvPicPr>
            <a:picLocks noChangeAspect="1"/>
          </p:cNvPicPr>
          <p:nvPr/>
        </p:nvPicPr>
        <p:blipFill>
          <a:blip r:embed="rId4"/>
          <a:stretch>
            <a:fillRect/>
          </a:stretch>
        </p:blipFill>
        <p:spPr>
          <a:xfrm>
            <a:off x="3257291" y="3883696"/>
            <a:ext cx="7699590" cy="5156431"/>
          </a:xfrm>
          <a:prstGeom prst="rect">
            <a:avLst/>
          </a:prstGeom>
        </p:spPr>
      </p:pic>
      <p:pic>
        <p:nvPicPr>
          <p:cNvPr id="29" name="Picture 28">
            <a:extLst>
              <a:ext uri="{FF2B5EF4-FFF2-40B4-BE49-F238E27FC236}">
                <a16:creationId xmlns:a16="http://schemas.microsoft.com/office/drawing/2014/main" id="{3C303F12-C394-7512-1F2C-CD216F382B03}"/>
              </a:ext>
            </a:extLst>
          </p:cNvPr>
          <p:cNvPicPr>
            <a:picLocks noChangeAspect="1"/>
          </p:cNvPicPr>
          <p:nvPr/>
        </p:nvPicPr>
        <p:blipFill>
          <a:blip r:embed="rId5">
            <a:extLst>
              <a:ext uri="{28A0092B-C50C-407E-A947-70E740481C1C}">
                <a14:useLocalDpi xmlns:a14="http://schemas.microsoft.com/office/drawing/2010/main" val="0"/>
              </a:ext>
            </a:extLst>
          </a:blip>
          <a:srcRect b="11266"/>
          <a:stretch>
            <a:fillRect/>
          </a:stretch>
        </p:blipFill>
        <p:spPr>
          <a:xfrm>
            <a:off x="9547212" y="4960859"/>
            <a:ext cx="2269162" cy="4614350"/>
          </a:xfrm>
          <a:prstGeom prst="rect">
            <a:avLst/>
          </a:prstGeom>
        </p:spPr>
      </p:pic>
      <p:pic>
        <p:nvPicPr>
          <p:cNvPr id="35" name="Picture 34">
            <a:extLst>
              <a:ext uri="{FF2B5EF4-FFF2-40B4-BE49-F238E27FC236}">
                <a16:creationId xmlns:a16="http://schemas.microsoft.com/office/drawing/2014/main" id="{AFEFD65D-B467-2548-58A2-7EFF39F34683}"/>
              </a:ext>
            </a:extLst>
          </p:cNvPr>
          <p:cNvPicPr>
            <a:picLocks noChangeAspect="1"/>
          </p:cNvPicPr>
          <p:nvPr/>
        </p:nvPicPr>
        <p:blipFill>
          <a:blip r:embed="rId6"/>
          <a:stretch>
            <a:fillRect/>
          </a:stretch>
        </p:blipFill>
        <p:spPr>
          <a:xfrm>
            <a:off x="1916999" y="5045679"/>
            <a:ext cx="8502161" cy="4670201"/>
          </a:xfrm>
          <a:prstGeom prst="rect">
            <a:avLst/>
          </a:prstGeom>
        </p:spPr>
      </p:pic>
      <p:pic>
        <p:nvPicPr>
          <p:cNvPr id="6" name="Picture 5">
            <a:extLst>
              <a:ext uri="{FF2B5EF4-FFF2-40B4-BE49-F238E27FC236}">
                <a16:creationId xmlns:a16="http://schemas.microsoft.com/office/drawing/2014/main" id="{E8F14946-7C31-CDDF-ACFC-C34128035833}"/>
              </a:ext>
            </a:extLst>
          </p:cNvPr>
          <p:cNvPicPr>
            <a:picLocks noChangeAspect="1"/>
          </p:cNvPicPr>
          <p:nvPr/>
        </p:nvPicPr>
        <p:blipFill>
          <a:blip r:embed="rId7"/>
          <a:stretch>
            <a:fillRect/>
          </a:stretch>
        </p:blipFill>
        <p:spPr>
          <a:xfrm>
            <a:off x="291728" y="5962083"/>
            <a:ext cx="10952368" cy="5584680"/>
          </a:xfrm>
          <a:prstGeom prst="rect">
            <a:avLst/>
          </a:prstGeom>
        </p:spPr>
      </p:pic>
      <p:pic>
        <p:nvPicPr>
          <p:cNvPr id="8" name="Picture 7">
            <a:extLst>
              <a:ext uri="{FF2B5EF4-FFF2-40B4-BE49-F238E27FC236}">
                <a16:creationId xmlns:a16="http://schemas.microsoft.com/office/drawing/2014/main" id="{219AC5D0-5511-ECD6-87A3-4FE633ED5B5D}"/>
              </a:ext>
            </a:extLst>
          </p:cNvPr>
          <p:cNvPicPr>
            <a:picLocks noChangeAspect="1"/>
          </p:cNvPicPr>
          <p:nvPr/>
        </p:nvPicPr>
        <p:blipFill>
          <a:blip r:embed="rId8"/>
          <a:stretch>
            <a:fillRect/>
          </a:stretch>
        </p:blipFill>
        <p:spPr>
          <a:xfrm>
            <a:off x="1447800" y="4784738"/>
            <a:ext cx="12192000" cy="6177945"/>
          </a:xfrm>
          <a:prstGeom prst="rect">
            <a:avLst/>
          </a:prstGeom>
        </p:spPr>
      </p:pic>
      <p:sp>
        <p:nvSpPr>
          <p:cNvPr id="9" name="TextBox 8">
            <a:extLst>
              <a:ext uri="{FF2B5EF4-FFF2-40B4-BE49-F238E27FC236}">
                <a16:creationId xmlns:a16="http://schemas.microsoft.com/office/drawing/2014/main" id="{403343F7-AC5E-70A5-7960-E7D6CED7C612}"/>
              </a:ext>
            </a:extLst>
          </p:cNvPr>
          <p:cNvSpPr txBox="1"/>
          <p:nvPr/>
        </p:nvSpPr>
        <p:spPr>
          <a:xfrm>
            <a:off x="681641" y="595081"/>
            <a:ext cx="5486438" cy="369332"/>
          </a:xfrm>
          <a:prstGeom prst="rect">
            <a:avLst/>
          </a:prstGeom>
          <a:noFill/>
        </p:spPr>
        <p:txBody>
          <a:bodyPr wrap="none" rtlCol="0">
            <a:spAutoFit/>
          </a:bodyPr>
          <a:lstStyle/>
          <a:p>
            <a:r>
              <a:rPr lang="en-US" dirty="0"/>
              <a:t>IMAGE COLLECTION (not for site layout – just storage)</a:t>
            </a:r>
          </a:p>
        </p:txBody>
      </p:sp>
    </p:spTree>
    <p:extLst>
      <p:ext uri="{BB962C8B-B14F-4D97-AF65-F5344CB8AC3E}">
        <p14:creationId xmlns:p14="http://schemas.microsoft.com/office/powerpoint/2010/main" val="3146582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03A24-0F98-D42A-60BA-4AE87E3D41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C15AF7-5504-A9F3-67D8-7603CD8B6AC2}"/>
              </a:ext>
            </a:extLst>
          </p:cNvPr>
          <p:cNvSpPr txBox="1"/>
          <p:nvPr/>
        </p:nvSpPr>
        <p:spPr>
          <a:xfrm>
            <a:off x="1421939" y="2637699"/>
            <a:ext cx="1552092" cy="369332"/>
          </a:xfrm>
          <a:prstGeom prst="rect">
            <a:avLst/>
          </a:prstGeom>
          <a:noFill/>
        </p:spPr>
        <p:txBody>
          <a:bodyPr wrap="none" rtlCol="0">
            <a:spAutoFit/>
          </a:bodyPr>
          <a:lstStyle/>
          <a:p>
            <a:pPr algn="ctr"/>
            <a:r>
              <a:rPr lang="en-US" dirty="0"/>
              <a:t>Streamlinings</a:t>
            </a:r>
          </a:p>
        </p:txBody>
      </p:sp>
      <p:sp>
        <p:nvSpPr>
          <p:cNvPr id="3" name="TextBox 2">
            <a:extLst>
              <a:ext uri="{FF2B5EF4-FFF2-40B4-BE49-F238E27FC236}">
                <a16:creationId xmlns:a16="http://schemas.microsoft.com/office/drawing/2014/main" id="{BF1BC6F1-AEF6-BCCA-4722-ADE814585FB5}"/>
              </a:ext>
            </a:extLst>
          </p:cNvPr>
          <p:cNvSpPr txBox="1"/>
          <p:nvPr/>
        </p:nvSpPr>
        <p:spPr>
          <a:xfrm>
            <a:off x="5173557" y="2637699"/>
            <a:ext cx="1631344" cy="369332"/>
          </a:xfrm>
          <a:prstGeom prst="rect">
            <a:avLst/>
          </a:prstGeom>
          <a:noFill/>
        </p:spPr>
        <p:txBody>
          <a:bodyPr wrap="none" rtlCol="0">
            <a:spAutoFit/>
          </a:bodyPr>
          <a:lstStyle/>
          <a:p>
            <a:pPr algn="ctr"/>
            <a:r>
              <a:rPr lang="en-US" dirty="0"/>
              <a:t>User Proofings</a:t>
            </a:r>
          </a:p>
        </p:txBody>
      </p:sp>
      <p:sp>
        <p:nvSpPr>
          <p:cNvPr id="4" name="TextBox 3">
            <a:extLst>
              <a:ext uri="{FF2B5EF4-FFF2-40B4-BE49-F238E27FC236}">
                <a16:creationId xmlns:a16="http://schemas.microsoft.com/office/drawing/2014/main" id="{AB544E8C-CDB8-4677-8C78-0C16D59C8EAC}"/>
              </a:ext>
            </a:extLst>
          </p:cNvPr>
          <p:cNvSpPr txBox="1"/>
          <p:nvPr/>
        </p:nvSpPr>
        <p:spPr>
          <a:xfrm>
            <a:off x="8739200" y="4184338"/>
            <a:ext cx="1751506" cy="369332"/>
          </a:xfrm>
          <a:prstGeom prst="rect">
            <a:avLst/>
          </a:prstGeom>
          <a:noFill/>
        </p:spPr>
        <p:txBody>
          <a:bodyPr wrap="none" rtlCol="0">
            <a:spAutoFit/>
          </a:bodyPr>
          <a:lstStyle/>
          <a:p>
            <a:pPr algn="ctr"/>
            <a:r>
              <a:rPr lang="en-US" dirty="0"/>
              <a:t>Value Rewirings</a:t>
            </a:r>
          </a:p>
        </p:txBody>
      </p:sp>
      <p:sp>
        <p:nvSpPr>
          <p:cNvPr id="5" name="TextBox 4">
            <a:extLst>
              <a:ext uri="{FF2B5EF4-FFF2-40B4-BE49-F238E27FC236}">
                <a16:creationId xmlns:a16="http://schemas.microsoft.com/office/drawing/2014/main" id="{B0771C6A-45C6-F453-B574-50CB4DC2693D}"/>
              </a:ext>
            </a:extLst>
          </p:cNvPr>
          <p:cNvSpPr txBox="1"/>
          <p:nvPr/>
        </p:nvSpPr>
        <p:spPr>
          <a:xfrm>
            <a:off x="8450081" y="3384992"/>
            <a:ext cx="2329740" cy="369332"/>
          </a:xfrm>
          <a:prstGeom prst="rect">
            <a:avLst/>
          </a:prstGeom>
          <a:noFill/>
        </p:spPr>
        <p:txBody>
          <a:bodyPr wrap="none" rtlCol="0">
            <a:spAutoFit/>
          </a:bodyPr>
          <a:lstStyle/>
          <a:p>
            <a:pPr algn="ctr"/>
            <a:r>
              <a:rPr lang="en-US" dirty="0"/>
              <a:t>Expectation Shapings</a:t>
            </a:r>
          </a:p>
        </p:txBody>
      </p:sp>
      <p:sp>
        <p:nvSpPr>
          <p:cNvPr id="6" name="TextBox 5">
            <a:extLst>
              <a:ext uri="{FF2B5EF4-FFF2-40B4-BE49-F238E27FC236}">
                <a16:creationId xmlns:a16="http://schemas.microsoft.com/office/drawing/2014/main" id="{E20CE0C6-805A-DD88-F098-C143429B7947}"/>
              </a:ext>
            </a:extLst>
          </p:cNvPr>
          <p:cNvSpPr txBox="1"/>
          <p:nvPr/>
        </p:nvSpPr>
        <p:spPr>
          <a:xfrm>
            <a:off x="1102046" y="3384992"/>
            <a:ext cx="2191882" cy="369332"/>
          </a:xfrm>
          <a:prstGeom prst="rect">
            <a:avLst/>
          </a:prstGeom>
          <a:noFill/>
        </p:spPr>
        <p:txBody>
          <a:bodyPr wrap="none" rtlCol="0">
            <a:spAutoFit/>
          </a:bodyPr>
          <a:lstStyle/>
          <a:p>
            <a:pPr algn="ctr"/>
            <a:r>
              <a:rPr lang="en-US" dirty="0"/>
              <a:t>Nuanced Workflows</a:t>
            </a:r>
          </a:p>
        </p:txBody>
      </p:sp>
      <p:sp>
        <p:nvSpPr>
          <p:cNvPr id="7" name="TextBox 6">
            <a:extLst>
              <a:ext uri="{FF2B5EF4-FFF2-40B4-BE49-F238E27FC236}">
                <a16:creationId xmlns:a16="http://schemas.microsoft.com/office/drawing/2014/main" id="{5DF4BCB7-D393-D859-54BA-1CFF0ACD1535}"/>
              </a:ext>
            </a:extLst>
          </p:cNvPr>
          <p:cNvSpPr txBox="1"/>
          <p:nvPr/>
        </p:nvSpPr>
        <p:spPr>
          <a:xfrm>
            <a:off x="4019207" y="1934177"/>
            <a:ext cx="3940054" cy="369332"/>
          </a:xfrm>
          <a:prstGeom prst="rect">
            <a:avLst/>
          </a:prstGeom>
          <a:noFill/>
        </p:spPr>
        <p:txBody>
          <a:bodyPr wrap="none" rtlCol="0">
            <a:spAutoFit/>
          </a:bodyPr>
          <a:lstStyle/>
          <a:p>
            <a:pPr algn="ctr"/>
            <a:r>
              <a:rPr lang="en-US" dirty="0"/>
              <a:t>Accountable Permissions/Procedures</a:t>
            </a:r>
          </a:p>
        </p:txBody>
      </p:sp>
      <p:sp>
        <p:nvSpPr>
          <p:cNvPr id="8" name="TextBox 7">
            <a:extLst>
              <a:ext uri="{FF2B5EF4-FFF2-40B4-BE49-F238E27FC236}">
                <a16:creationId xmlns:a16="http://schemas.microsoft.com/office/drawing/2014/main" id="{C5E7064C-7C67-AA68-EE80-477250DBA7FF}"/>
              </a:ext>
            </a:extLst>
          </p:cNvPr>
          <p:cNvSpPr txBox="1"/>
          <p:nvPr/>
        </p:nvSpPr>
        <p:spPr>
          <a:xfrm>
            <a:off x="8328156" y="2637699"/>
            <a:ext cx="2573590" cy="369332"/>
          </a:xfrm>
          <a:prstGeom prst="rect">
            <a:avLst/>
          </a:prstGeom>
          <a:noFill/>
        </p:spPr>
        <p:txBody>
          <a:bodyPr wrap="none" rtlCol="0">
            <a:spAutoFit/>
          </a:bodyPr>
          <a:lstStyle/>
          <a:p>
            <a:pPr algn="ctr"/>
            <a:r>
              <a:rPr lang="en-US" dirty="0"/>
              <a:t>Functional Automations</a:t>
            </a:r>
          </a:p>
        </p:txBody>
      </p:sp>
      <p:sp>
        <p:nvSpPr>
          <p:cNvPr id="9" name="TextBox 8">
            <a:extLst>
              <a:ext uri="{FF2B5EF4-FFF2-40B4-BE49-F238E27FC236}">
                <a16:creationId xmlns:a16="http://schemas.microsoft.com/office/drawing/2014/main" id="{E9BE66DD-4D04-0454-259A-C21379C61A9E}"/>
              </a:ext>
            </a:extLst>
          </p:cNvPr>
          <p:cNvSpPr txBox="1"/>
          <p:nvPr/>
        </p:nvSpPr>
        <p:spPr>
          <a:xfrm>
            <a:off x="8592812" y="1186508"/>
            <a:ext cx="2044278" cy="369332"/>
          </a:xfrm>
          <a:prstGeom prst="rect">
            <a:avLst/>
          </a:prstGeom>
          <a:noFill/>
        </p:spPr>
        <p:txBody>
          <a:bodyPr wrap="none" rtlCol="0">
            <a:spAutoFit/>
          </a:bodyPr>
          <a:lstStyle/>
          <a:p>
            <a:pPr algn="ctr"/>
            <a:r>
              <a:rPr lang="en-US" dirty="0"/>
              <a:t>Event-Rule Models</a:t>
            </a:r>
          </a:p>
        </p:txBody>
      </p:sp>
      <p:sp>
        <p:nvSpPr>
          <p:cNvPr id="10" name="TextBox 9">
            <a:extLst>
              <a:ext uri="{FF2B5EF4-FFF2-40B4-BE49-F238E27FC236}">
                <a16:creationId xmlns:a16="http://schemas.microsoft.com/office/drawing/2014/main" id="{91843E76-1DB0-4BB3-452F-CB94DFFB265D}"/>
              </a:ext>
            </a:extLst>
          </p:cNvPr>
          <p:cNvSpPr txBox="1"/>
          <p:nvPr/>
        </p:nvSpPr>
        <p:spPr>
          <a:xfrm>
            <a:off x="728127" y="4961255"/>
            <a:ext cx="2939716" cy="369332"/>
          </a:xfrm>
          <a:prstGeom prst="rect">
            <a:avLst/>
          </a:prstGeom>
          <a:noFill/>
        </p:spPr>
        <p:txBody>
          <a:bodyPr wrap="none" rtlCol="0">
            <a:spAutoFit/>
          </a:bodyPr>
          <a:lstStyle/>
          <a:p>
            <a:pPr algn="ctr"/>
            <a:r>
              <a:rPr lang="en-US" dirty="0"/>
              <a:t>Market Steering Innovations</a:t>
            </a:r>
          </a:p>
        </p:txBody>
      </p:sp>
      <p:sp>
        <p:nvSpPr>
          <p:cNvPr id="11" name="TextBox 10">
            <a:extLst>
              <a:ext uri="{FF2B5EF4-FFF2-40B4-BE49-F238E27FC236}">
                <a16:creationId xmlns:a16="http://schemas.microsoft.com/office/drawing/2014/main" id="{EC4F7C18-77D5-079D-511A-2F368F19248F}"/>
              </a:ext>
            </a:extLst>
          </p:cNvPr>
          <p:cNvSpPr txBox="1"/>
          <p:nvPr/>
        </p:nvSpPr>
        <p:spPr>
          <a:xfrm>
            <a:off x="8813835" y="4961255"/>
            <a:ext cx="1602233" cy="369332"/>
          </a:xfrm>
          <a:prstGeom prst="rect">
            <a:avLst/>
          </a:prstGeom>
          <a:noFill/>
        </p:spPr>
        <p:txBody>
          <a:bodyPr wrap="none" rtlCol="0">
            <a:spAutoFit/>
          </a:bodyPr>
          <a:lstStyle/>
          <a:p>
            <a:pPr algn="ctr"/>
            <a:r>
              <a:rPr lang="en-US" dirty="0"/>
              <a:t>KPIs/Analytics</a:t>
            </a:r>
          </a:p>
        </p:txBody>
      </p:sp>
      <p:sp>
        <p:nvSpPr>
          <p:cNvPr id="12" name="TextBox 11">
            <a:extLst>
              <a:ext uri="{FF2B5EF4-FFF2-40B4-BE49-F238E27FC236}">
                <a16:creationId xmlns:a16="http://schemas.microsoft.com/office/drawing/2014/main" id="{850C29F7-96F2-EEBD-0C8F-9B6ACAEBAD44}"/>
              </a:ext>
            </a:extLst>
          </p:cNvPr>
          <p:cNvSpPr txBox="1"/>
          <p:nvPr/>
        </p:nvSpPr>
        <p:spPr>
          <a:xfrm>
            <a:off x="4858407" y="4961255"/>
            <a:ext cx="2261645" cy="369332"/>
          </a:xfrm>
          <a:prstGeom prst="rect">
            <a:avLst/>
          </a:prstGeom>
          <a:noFill/>
        </p:spPr>
        <p:txBody>
          <a:bodyPr wrap="none" rtlCol="0">
            <a:spAutoFit/>
          </a:bodyPr>
          <a:lstStyle/>
          <a:p>
            <a:pPr algn="ctr"/>
            <a:r>
              <a:rPr lang="en-US" dirty="0"/>
              <a:t>Systems Integrations</a:t>
            </a:r>
          </a:p>
        </p:txBody>
      </p:sp>
      <p:sp>
        <p:nvSpPr>
          <p:cNvPr id="13" name="TextBox 12">
            <a:extLst>
              <a:ext uri="{FF2B5EF4-FFF2-40B4-BE49-F238E27FC236}">
                <a16:creationId xmlns:a16="http://schemas.microsoft.com/office/drawing/2014/main" id="{0903DC28-3A0A-B32B-21CB-0E39B6AD96AD}"/>
              </a:ext>
            </a:extLst>
          </p:cNvPr>
          <p:cNvSpPr txBox="1"/>
          <p:nvPr/>
        </p:nvSpPr>
        <p:spPr>
          <a:xfrm>
            <a:off x="4665982" y="1186508"/>
            <a:ext cx="2646494" cy="369332"/>
          </a:xfrm>
          <a:prstGeom prst="rect">
            <a:avLst/>
          </a:prstGeom>
          <a:noFill/>
        </p:spPr>
        <p:txBody>
          <a:bodyPr wrap="none" rtlCol="0">
            <a:spAutoFit/>
          </a:bodyPr>
          <a:lstStyle/>
          <a:p>
            <a:pPr algn="ctr"/>
            <a:r>
              <a:rPr lang="en-US" dirty="0"/>
              <a:t>Process Transformations</a:t>
            </a:r>
          </a:p>
        </p:txBody>
      </p:sp>
      <p:sp>
        <p:nvSpPr>
          <p:cNvPr id="14" name="TextBox 13">
            <a:extLst>
              <a:ext uri="{FF2B5EF4-FFF2-40B4-BE49-F238E27FC236}">
                <a16:creationId xmlns:a16="http://schemas.microsoft.com/office/drawing/2014/main" id="{D6E51BE8-6EAC-792C-3D25-992F69B041EE}"/>
              </a:ext>
            </a:extLst>
          </p:cNvPr>
          <p:cNvSpPr txBox="1"/>
          <p:nvPr/>
        </p:nvSpPr>
        <p:spPr>
          <a:xfrm>
            <a:off x="1152827" y="1186508"/>
            <a:ext cx="2090316" cy="369332"/>
          </a:xfrm>
          <a:prstGeom prst="rect">
            <a:avLst/>
          </a:prstGeom>
          <a:noFill/>
        </p:spPr>
        <p:txBody>
          <a:bodyPr wrap="none" rtlCol="0">
            <a:spAutoFit/>
          </a:bodyPr>
          <a:lstStyle/>
          <a:p>
            <a:pPr algn="ctr"/>
            <a:r>
              <a:rPr lang="en-US" dirty="0"/>
              <a:t>Zero-Trust Controls</a:t>
            </a:r>
          </a:p>
        </p:txBody>
      </p:sp>
      <p:sp>
        <p:nvSpPr>
          <p:cNvPr id="15" name="TextBox 14">
            <a:extLst>
              <a:ext uri="{FF2B5EF4-FFF2-40B4-BE49-F238E27FC236}">
                <a16:creationId xmlns:a16="http://schemas.microsoft.com/office/drawing/2014/main" id="{456F1879-E46B-5D86-F27A-CAFD9E4C1E66}"/>
              </a:ext>
            </a:extLst>
          </p:cNvPr>
          <p:cNvSpPr txBox="1"/>
          <p:nvPr/>
        </p:nvSpPr>
        <p:spPr>
          <a:xfrm>
            <a:off x="1262922" y="4184338"/>
            <a:ext cx="1870127" cy="369332"/>
          </a:xfrm>
          <a:prstGeom prst="rect">
            <a:avLst/>
          </a:prstGeom>
          <a:noFill/>
        </p:spPr>
        <p:txBody>
          <a:bodyPr wrap="none" rtlCol="0">
            <a:spAutoFit/>
          </a:bodyPr>
          <a:lstStyle/>
          <a:p>
            <a:pPr algn="ctr"/>
            <a:r>
              <a:rPr lang="en-US" dirty="0"/>
              <a:t>Loss Preventions</a:t>
            </a:r>
          </a:p>
        </p:txBody>
      </p:sp>
      <p:sp>
        <p:nvSpPr>
          <p:cNvPr id="16" name="TextBox 15">
            <a:extLst>
              <a:ext uri="{FF2B5EF4-FFF2-40B4-BE49-F238E27FC236}">
                <a16:creationId xmlns:a16="http://schemas.microsoft.com/office/drawing/2014/main" id="{C1091AEB-E6EF-90F8-5845-05F4BE8B57E4}"/>
              </a:ext>
            </a:extLst>
          </p:cNvPr>
          <p:cNvSpPr txBox="1"/>
          <p:nvPr/>
        </p:nvSpPr>
        <p:spPr>
          <a:xfrm>
            <a:off x="4555632" y="3384992"/>
            <a:ext cx="2867195" cy="369332"/>
          </a:xfrm>
          <a:prstGeom prst="rect">
            <a:avLst/>
          </a:prstGeom>
          <a:noFill/>
        </p:spPr>
        <p:txBody>
          <a:bodyPr wrap="none" rtlCol="0">
            <a:spAutoFit/>
          </a:bodyPr>
          <a:lstStyle/>
          <a:p>
            <a:pPr algn="ctr"/>
            <a:r>
              <a:rPr lang="en-US" dirty="0"/>
              <a:t>Market/Service Expansions</a:t>
            </a:r>
          </a:p>
        </p:txBody>
      </p:sp>
      <p:sp>
        <p:nvSpPr>
          <p:cNvPr id="17" name="TextBox 16">
            <a:extLst>
              <a:ext uri="{FF2B5EF4-FFF2-40B4-BE49-F238E27FC236}">
                <a16:creationId xmlns:a16="http://schemas.microsoft.com/office/drawing/2014/main" id="{5A036D89-5316-1540-07AC-7297F67C3669}"/>
              </a:ext>
            </a:extLst>
          </p:cNvPr>
          <p:cNvSpPr txBox="1"/>
          <p:nvPr/>
        </p:nvSpPr>
        <p:spPr>
          <a:xfrm>
            <a:off x="4785085" y="4184338"/>
            <a:ext cx="2408288" cy="369332"/>
          </a:xfrm>
          <a:prstGeom prst="rect">
            <a:avLst/>
          </a:prstGeom>
          <a:noFill/>
        </p:spPr>
        <p:txBody>
          <a:bodyPr wrap="none" rtlCol="0">
            <a:spAutoFit/>
          </a:bodyPr>
          <a:lstStyle/>
          <a:p>
            <a:pPr algn="ctr"/>
            <a:r>
              <a:rPr lang="en-US" dirty="0"/>
              <a:t>Customer Integrations</a:t>
            </a:r>
          </a:p>
        </p:txBody>
      </p:sp>
      <p:sp>
        <p:nvSpPr>
          <p:cNvPr id="18" name="TextBox 17">
            <a:extLst>
              <a:ext uri="{FF2B5EF4-FFF2-40B4-BE49-F238E27FC236}">
                <a16:creationId xmlns:a16="http://schemas.microsoft.com/office/drawing/2014/main" id="{A13A1C3E-E0A1-198A-0B6F-4F4A44105D82}"/>
              </a:ext>
            </a:extLst>
          </p:cNvPr>
          <p:cNvSpPr txBox="1"/>
          <p:nvPr/>
        </p:nvSpPr>
        <p:spPr>
          <a:xfrm>
            <a:off x="8190010" y="1934177"/>
            <a:ext cx="2849883" cy="369332"/>
          </a:xfrm>
          <a:prstGeom prst="rect">
            <a:avLst/>
          </a:prstGeom>
          <a:noFill/>
        </p:spPr>
        <p:txBody>
          <a:bodyPr wrap="none" rtlCol="0">
            <a:spAutoFit/>
          </a:bodyPr>
          <a:lstStyle/>
          <a:p>
            <a:pPr algn="ctr"/>
            <a:r>
              <a:rPr lang="en-US" dirty="0"/>
              <a:t>Compliance Enforcements</a:t>
            </a:r>
          </a:p>
        </p:txBody>
      </p:sp>
      <p:sp>
        <p:nvSpPr>
          <p:cNvPr id="25" name="TextBox 24">
            <a:extLst>
              <a:ext uri="{FF2B5EF4-FFF2-40B4-BE49-F238E27FC236}">
                <a16:creationId xmlns:a16="http://schemas.microsoft.com/office/drawing/2014/main" id="{36C60FA0-29A2-99AC-59AB-F5C698D46E8B}"/>
              </a:ext>
            </a:extLst>
          </p:cNvPr>
          <p:cNvSpPr txBox="1"/>
          <p:nvPr/>
        </p:nvSpPr>
        <p:spPr>
          <a:xfrm>
            <a:off x="379841" y="316504"/>
            <a:ext cx="4278992" cy="369332"/>
          </a:xfrm>
          <a:prstGeom prst="rect">
            <a:avLst/>
          </a:prstGeom>
          <a:noFill/>
        </p:spPr>
        <p:txBody>
          <a:bodyPr wrap="none" rtlCol="0">
            <a:spAutoFit/>
          </a:bodyPr>
          <a:lstStyle/>
          <a:p>
            <a:r>
              <a:rPr lang="en-US" dirty="0">
                <a:solidFill>
                  <a:schemeClr val="accent2"/>
                </a:solidFill>
              </a:rPr>
              <a:t>Capabilities </a:t>
            </a:r>
            <a:r>
              <a:rPr lang="en-US" dirty="0"/>
              <a:t>| Optimizations-as-a-Service</a:t>
            </a:r>
          </a:p>
        </p:txBody>
      </p:sp>
      <p:sp>
        <p:nvSpPr>
          <p:cNvPr id="26" name="TextBox 25">
            <a:extLst>
              <a:ext uri="{FF2B5EF4-FFF2-40B4-BE49-F238E27FC236}">
                <a16:creationId xmlns:a16="http://schemas.microsoft.com/office/drawing/2014/main" id="{C03D3C06-199D-C366-892A-9E96C5C5A549}"/>
              </a:ext>
            </a:extLst>
          </p:cNvPr>
          <p:cNvSpPr txBox="1"/>
          <p:nvPr/>
        </p:nvSpPr>
        <p:spPr>
          <a:xfrm>
            <a:off x="907440" y="1934177"/>
            <a:ext cx="2581091" cy="369332"/>
          </a:xfrm>
          <a:prstGeom prst="rect">
            <a:avLst/>
          </a:prstGeom>
          <a:noFill/>
        </p:spPr>
        <p:txBody>
          <a:bodyPr wrap="none" rtlCol="0">
            <a:spAutoFit/>
          </a:bodyPr>
          <a:lstStyle/>
          <a:p>
            <a:pPr algn="ctr"/>
            <a:r>
              <a:rPr lang="en-US" dirty="0"/>
              <a:t>Dynamic Configurations</a:t>
            </a:r>
          </a:p>
        </p:txBody>
      </p:sp>
    </p:spTree>
    <p:extLst>
      <p:ext uri="{BB962C8B-B14F-4D97-AF65-F5344CB8AC3E}">
        <p14:creationId xmlns:p14="http://schemas.microsoft.com/office/powerpoint/2010/main" val="2327950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85A419-01D5-2B03-9CD2-1198FD5E3423}"/>
              </a:ext>
            </a:extLst>
          </p:cNvPr>
          <p:cNvSpPr txBox="1"/>
          <p:nvPr/>
        </p:nvSpPr>
        <p:spPr>
          <a:xfrm>
            <a:off x="1421939" y="2637699"/>
            <a:ext cx="1552092" cy="369332"/>
          </a:xfrm>
          <a:prstGeom prst="rect">
            <a:avLst/>
          </a:prstGeom>
          <a:noFill/>
        </p:spPr>
        <p:txBody>
          <a:bodyPr wrap="none" rtlCol="0">
            <a:spAutoFit/>
          </a:bodyPr>
          <a:lstStyle/>
          <a:p>
            <a:pPr algn="ctr"/>
            <a:r>
              <a:rPr lang="en-US" dirty="0"/>
              <a:t>Streamlinings</a:t>
            </a:r>
          </a:p>
        </p:txBody>
      </p:sp>
      <p:sp>
        <p:nvSpPr>
          <p:cNvPr id="3" name="TextBox 2">
            <a:extLst>
              <a:ext uri="{FF2B5EF4-FFF2-40B4-BE49-F238E27FC236}">
                <a16:creationId xmlns:a16="http://schemas.microsoft.com/office/drawing/2014/main" id="{EAB6014E-4D92-7F0A-650B-0FC312FCF2E1}"/>
              </a:ext>
            </a:extLst>
          </p:cNvPr>
          <p:cNvSpPr txBox="1"/>
          <p:nvPr/>
        </p:nvSpPr>
        <p:spPr>
          <a:xfrm>
            <a:off x="5173557" y="2637699"/>
            <a:ext cx="1631344" cy="369332"/>
          </a:xfrm>
          <a:prstGeom prst="rect">
            <a:avLst/>
          </a:prstGeom>
          <a:noFill/>
        </p:spPr>
        <p:txBody>
          <a:bodyPr wrap="none" rtlCol="0">
            <a:spAutoFit/>
          </a:bodyPr>
          <a:lstStyle/>
          <a:p>
            <a:pPr algn="ctr"/>
            <a:r>
              <a:rPr lang="en-US" dirty="0"/>
              <a:t>User Proofings</a:t>
            </a:r>
          </a:p>
        </p:txBody>
      </p:sp>
      <p:sp>
        <p:nvSpPr>
          <p:cNvPr id="6" name="TextBox 5">
            <a:extLst>
              <a:ext uri="{FF2B5EF4-FFF2-40B4-BE49-F238E27FC236}">
                <a16:creationId xmlns:a16="http://schemas.microsoft.com/office/drawing/2014/main" id="{745A61A4-12FF-B98E-1488-A61BB476FDA5}"/>
              </a:ext>
            </a:extLst>
          </p:cNvPr>
          <p:cNvSpPr txBox="1"/>
          <p:nvPr/>
        </p:nvSpPr>
        <p:spPr>
          <a:xfrm>
            <a:off x="1102046" y="3384992"/>
            <a:ext cx="2191882" cy="369332"/>
          </a:xfrm>
          <a:prstGeom prst="rect">
            <a:avLst/>
          </a:prstGeom>
          <a:noFill/>
        </p:spPr>
        <p:txBody>
          <a:bodyPr wrap="none" rtlCol="0">
            <a:spAutoFit/>
          </a:bodyPr>
          <a:lstStyle/>
          <a:p>
            <a:pPr algn="ctr"/>
            <a:r>
              <a:rPr lang="en-US" dirty="0"/>
              <a:t>Nuanced Workflows</a:t>
            </a:r>
          </a:p>
        </p:txBody>
      </p:sp>
      <p:sp>
        <p:nvSpPr>
          <p:cNvPr id="7" name="TextBox 6">
            <a:extLst>
              <a:ext uri="{FF2B5EF4-FFF2-40B4-BE49-F238E27FC236}">
                <a16:creationId xmlns:a16="http://schemas.microsoft.com/office/drawing/2014/main" id="{E3ED7B7B-5A00-772B-D5E2-C69CDAC0292C}"/>
              </a:ext>
            </a:extLst>
          </p:cNvPr>
          <p:cNvSpPr txBox="1"/>
          <p:nvPr/>
        </p:nvSpPr>
        <p:spPr>
          <a:xfrm>
            <a:off x="4019207" y="1934177"/>
            <a:ext cx="3940054" cy="369332"/>
          </a:xfrm>
          <a:prstGeom prst="rect">
            <a:avLst/>
          </a:prstGeom>
          <a:noFill/>
        </p:spPr>
        <p:txBody>
          <a:bodyPr wrap="none" rtlCol="0">
            <a:spAutoFit/>
          </a:bodyPr>
          <a:lstStyle/>
          <a:p>
            <a:pPr algn="ctr"/>
            <a:r>
              <a:rPr lang="en-US" dirty="0"/>
              <a:t>Accountable Permissions/Procedures</a:t>
            </a:r>
          </a:p>
        </p:txBody>
      </p:sp>
      <p:sp>
        <p:nvSpPr>
          <p:cNvPr id="8" name="TextBox 7">
            <a:extLst>
              <a:ext uri="{FF2B5EF4-FFF2-40B4-BE49-F238E27FC236}">
                <a16:creationId xmlns:a16="http://schemas.microsoft.com/office/drawing/2014/main" id="{9F60C922-9019-DC29-1042-42C0CC7F0324}"/>
              </a:ext>
            </a:extLst>
          </p:cNvPr>
          <p:cNvSpPr txBox="1"/>
          <p:nvPr/>
        </p:nvSpPr>
        <p:spPr>
          <a:xfrm>
            <a:off x="8328156" y="2637699"/>
            <a:ext cx="2573590" cy="369332"/>
          </a:xfrm>
          <a:prstGeom prst="rect">
            <a:avLst/>
          </a:prstGeom>
          <a:noFill/>
        </p:spPr>
        <p:txBody>
          <a:bodyPr wrap="none" rtlCol="0">
            <a:spAutoFit/>
          </a:bodyPr>
          <a:lstStyle/>
          <a:p>
            <a:pPr algn="ctr"/>
            <a:r>
              <a:rPr lang="en-US" dirty="0"/>
              <a:t>Functional Automations</a:t>
            </a:r>
          </a:p>
        </p:txBody>
      </p:sp>
      <p:sp>
        <p:nvSpPr>
          <p:cNvPr id="9" name="TextBox 8">
            <a:extLst>
              <a:ext uri="{FF2B5EF4-FFF2-40B4-BE49-F238E27FC236}">
                <a16:creationId xmlns:a16="http://schemas.microsoft.com/office/drawing/2014/main" id="{FCB30EC9-5DD5-1074-C02A-FC9FD52EA019}"/>
              </a:ext>
            </a:extLst>
          </p:cNvPr>
          <p:cNvSpPr txBox="1"/>
          <p:nvPr/>
        </p:nvSpPr>
        <p:spPr>
          <a:xfrm>
            <a:off x="8592812" y="1186508"/>
            <a:ext cx="2044278" cy="369332"/>
          </a:xfrm>
          <a:prstGeom prst="rect">
            <a:avLst/>
          </a:prstGeom>
          <a:noFill/>
        </p:spPr>
        <p:txBody>
          <a:bodyPr wrap="none" rtlCol="0">
            <a:spAutoFit/>
          </a:bodyPr>
          <a:lstStyle/>
          <a:p>
            <a:pPr algn="ctr"/>
            <a:r>
              <a:rPr lang="en-US" dirty="0"/>
              <a:t>Event-Rule Models</a:t>
            </a:r>
          </a:p>
        </p:txBody>
      </p:sp>
      <p:sp>
        <p:nvSpPr>
          <p:cNvPr id="10" name="TextBox 9">
            <a:extLst>
              <a:ext uri="{FF2B5EF4-FFF2-40B4-BE49-F238E27FC236}">
                <a16:creationId xmlns:a16="http://schemas.microsoft.com/office/drawing/2014/main" id="{037DC9DE-18B7-83E4-F4E8-509E2ACC6A82}"/>
              </a:ext>
            </a:extLst>
          </p:cNvPr>
          <p:cNvSpPr txBox="1"/>
          <p:nvPr/>
        </p:nvSpPr>
        <p:spPr>
          <a:xfrm>
            <a:off x="912218" y="4178935"/>
            <a:ext cx="2571538" cy="369332"/>
          </a:xfrm>
          <a:prstGeom prst="rect">
            <a:avLst/>
          </a:prstGeom>
          <a:noFill/>
        </p:spPr>
        <p:txBody>
          <a:bodyPr wrap="none" rtlCol="0">
            <a:spAutoFit/>
          </a:bodyPr>
          <a:lstStyle/>
          <a:p>
            <a:pPr algn="ctr"/>
            <a:r>
              <a:rPr lang="en-US" dirty="0"/>
              <a:t>Expectation Innovations</a:t>
            </a:r>
          </a:p>
        </p:txBody>
      </p:sp>
      <p:sp>
        <p:nvSpPr>
          <p:cNvPr id="11" name="TextBox 10">
            <a:extLst>
              <a:ext uri="{FF2B5EF4-FFF2-40B4-BE49-F238E27FC236}">
                <a16:creationId xmlns:a16="http://schemas.microsoft.com/office/drawing/2014/main" id="{02648530-5958-109E-125D-1D7BBCBFAF7B}"/>
              </a:ext>
            </a:extLst>
          </p:cNvPr>
          <p:cNvSpPr txBox="1"/>
          <p:nvPr/>
        </p:nvSpPr>
        <p:spPr>
          <a:xfrm>
            <a:off x="8813835" y="4178935"/>
            <a:ext cx="1602233" cy="369332"/>
          </a:xfrm>
          <a:prstGeom prst="rect">
            <a:avLst/>
          </a:prstGeom>
          <a:noFill/>
        </p:spPr>
        <p:txBody>
          <a:bodyPr wrap="none" rtlCol="0">
            <a:spAutoFit/>
          </a:bodyPr>
          <a:lstStyle/>
          <a:p>
            <a:pPr algn="ctr"/>
            <a:r>
              <a:rPr lang="en-US" dirty="0"/>
              <a:t>KPIs/Analytics</a:t>
            </a:r>
          </a:p>
        </p:txBody>
      </p:sp>
      <p:sp>
        <p:nvSpPr>
          <p:cNvPr id="12" name="TextBox 11">
            <a:extLst>
              <a:ext uri="{FF2B5EF4-FFF2-40B4-BE49-F238E27FC236}">
                <a16:creationId xmlns:a16="http://schemas.microsoft.com/office/drawing/2014/main" id="{C4FD9B24-A0E0-686F-2B7B-9E4EF5AE6A04}"/>
              </a:ext>
            </a:extLst>
          </p:cNvPr>
          <p:cNvSpPr txBox="1"/>
          <p:nvPr/>
        </p:nvSpPr>
        <p:spPr>
          <a:xfrm>
            <a:off x="4858407" y="4178935"/>
            <a:ext cx="2261645" cy="369332"/>
          </a:xfrm>
          <a:prstGeom prst="rect">
            <a:avLst/>
          </a:prstGeom>
          <a:noFill/>
        </p:spPr>
        <p:txBody>
          <a:bodyPr wrap="none" rtlCol="0">
            <a:spAutoFit/>
          </a:bodyPr>
          <a:lstStyle/>
          <a:p>
            <a:pPr algn="ctr"/>
            <a:r>
              <a:rPr lang="en-US" dirty="0"/>
              <a:t>Systems Integrations</a:t>
            </a:r>
          </a:p>
        </p:txBody>
      </p:sp>
      <p:sp>
        <p:nvSpPr>
          <p:cNvPr id="13" name="TextBox 12">
            <a:extLst>
              <a:ext uri="{FF2B5EF4-FFF2-40B4-BE49-F238E27FC236}">
                <a16:creationId xmlns:a16="http://schemas.microsoft.com/office/drawing/2014/main" id="{21303EDD-305C-2FA2-82A3-179A43B0D71E}"/>
              </a:ext>
            </a:extLst>
          </p:cNvPr>
          <p:cNvSpPr txBox="1"/>
          <p:nvPr/>
        </p:nvSpPr>
        <p:spPr>
          <a:xfrm>
            <a:off x="4665982" y="1186508"/>
            <a:ext cx="2646494" cy="369332"/>
          </a:xfrm>
          <a:prstGeom prst="rect">
            <a:avLst/>
          </a:prstGeom>
          <a:noFill/>
        </p:spPr>
        <p:txBody>
          <a:bodyPr wrap="none" rtlCol="0">
            <a:spAutoFit/>
          </a:bodyPr>
          <a:lstStyle/>
          <a:p>
            <a:pPr algn="ctr"/>
            <a:r>
              <a:rPr lang="en-US" dirty="0"/>
              <a:t>Process Transformations</a:t>
            </a:r>
          </a:p>
        </p:txBody>
      </p:sp>
      <p:sp>
        <p:nvSpPr>
          <p:cNvPr id="14" name="TextBox 13">
            <a:extLst>
              <a:ext uri="{FF2B5EF4-FFF2-40B4-BE49-F238E27FC236}">
                <a16:creationId xmlns:a16="http://schemas.microsoft.com/office/drawing/2014/main" id="{CC806D9C-904C-D265-41B9-79BB56C2D538}"/>
              </a:ext>
            </a:extLst>
          </p:cNvPr>
          <p:cNvSpPr txBox="1"/>
          <p:nvPr/>
        </p:nvSpPr>
        <p:spPr>
          <a:xfrm>
            <a:off x="1152827" y="1186508"/>
            <a:ext cx="2090316" cy="369332"/>
          </a:xfrm>
          <a:prstGeom prst="rect">
            <a:avLst/>
          </a:prstGeom>
          <a:noFill/>
        </p:spPr>
        <p:txBody>
          <a:bodyPr wrap="none" rtlCol="0">
            <a:spAutoFit/>
          </a:bodyPr>
          <a:lstStyle/>
          <a:p>
            <a:pPr algn="ctr"/>
            <a:r>
              <a:rPr lang="en-US" dirty="0"/>
              <a:t>Zero-Trust Controls</a:t>
            </a:r>
          </a:p>
        </p:txBody>
      </p:sp>
      <p:sp>
        <p:nvSpPr>
          <p:cNvPr id="15" name="TextBox 14">
            <a:extLst>
              <a:ext uri="{FF2B5EF4-FFF2-40B4-BE49-F238E27FC236}">
                <a16:creationId xmlns:a16="http://schemas.microsoft.com/office/drawing/2014/main" id="{B783671A-B608-30CC-7ABB-C61712D35EA7}"/>
              </a:ext>
            </a:extLst>
          </p:cNvPr>
          <p:cNvSpPr txBox="1"/>
          <p:nvPr/>
        </p:nvSpPr>
        <p:spPr>
          <a:xfrm>
            <a:off x="8679887" y="3384992"/>
            <a:ext cx="1870127" cy="369332"/>
          </a:xfrm>
          <a:prstGeom prst="rect">
            <a:avLst/>
          </a:prstGeom>
          <a:noFill/>
        </p:spPr>
        <p:txBody>
          <a:bodyPr wrap="none" rtlCol="0">
            <a:spAutoFit/>
          </a:bodyPr>
          <a:lstStyle/>
          <a:p>
            <a:pPr algn="ctr"/>
            <a:r>
              <a:rPr lang="en-US" dirty="0"/>
              <a:t>Loss Preventions</a:t>
            </a:r>
          </a:p>
        </p:txBody>
      </p:sp>
      <p:sp>
        <p:nvSpPr>
          <p:cNvPr id="17" name="TextBox 16">
            <a:extLst>
              <a:ext uri="{FF2B5EF4-FFF2-40B4-BE49-F238E27FC236}">
                <a16:creationId xmlns:a16="http://schemas.microsoft.com/office/drawing/2014/main" id="{227A63A8-B6FA-2639-B6E5-75CF561D8E4F}"/>
              </a:ext>
            </a:extLst>
          </p:cNvPr>
          <p:cNvSpPr txBox="1"/>
          <p:nvPr/>
        </p:nvSpPr>
        <p:spPr>
          <a:xfrm>
            <a:off x="4891856" y="3384992"/>
            <a:ext cx="2408288" cy="369332"/>
          </a:xfrm>
          <a:prstGeom prst="rect">
            <a:avLst/>
          </a:prstGeom>
          <a:noFill/>
        </p:spPr>
        <p:txBody>
          <a:bodyPr wrap="none" rtlCol="0">
            <a:spAutoFit/>
          </a:bodyPr>
          <a:lstStyle/>
          <a:p>
            <a:pPr algn="ctr"/>
            <a:r>
              <a:rPr lang="en-US" dirty="0"/>
              <a:t>Customer Integrations</a:t>
            </a:r>
          </a:p>
        </p:txBody>
      </p:sp>
      <p:sp>
        <p:nvSpPr>
          <p:cNvPr id="18" name="TextBox 17">
            <a:extLst>
              <a:ext uri="{FF2B5EF4-FFF2-40B4-BE49-F238E27FC236}">
                <a16:creationId xmlns:a16="http://schemas.microsoft.com/office/drawing/2014/main" id="{899BCE9E-C5E9-6BA8-BEBE-CD087DF143DA}"/>
              </a:ext>
            </a:extLst>
          </p:cNvPr>
          <p:cNvSpPr txBox="1"/>
          <p:nvPr/>
        </p:nvSpPr>
        <p:spPr>
          <a:xfrm>
            <a:off x="8190010" y="1934177"/>
            <a:ext cx="2849883" cy="369332"/>
          </a:xfrm>
          <a:prstGeom prst="rect">
            <a:avLst/>
          </a:prstGeom>
          <a:noFill/>
        </p:spPr>
        <p:txBody>
          <a:bodyPr wrap="none" rtlCol="0">
            <a:spAutoFit/>
          </a:bodyPr>
          <a:lstStyle/>
          <a:p>
            <a:pPr algn="ctr"/>
            <a:r>
              <a:rPr lang="en-US" dirty="0"/>
              <a:t>Compliance Enforcements</a:t>
            </a:r>
          </a:p>
        </p:txBody>
      </p:sp>
      <p:sp>
        <p:nvSpPr>
          <p:cNvPr id="25" name="TextBox 24">
            <a:extLst>
              <a:ext uri="{FF2B5EF4-FFF2-40B4-BE49-F238E27FC236}">
                <a16:creationId xmlns:a16="http://schemas.microsoft.com/office/drawing/2014/main" id="{AE065807-7EF4-7008-71E8-B9D336C38F27}"/>
              </a:ext>
            </a:extLst>
          </p:cNvPr>
          <p:cNvSpPr txBox="1"/>
          <p:nvPr/>
        </p:nvSpPr>
        <p:spPr>
          <a:xfrm>
            <a:off x="379841" y="316504"/>
            <a:ext cx="4278992" cy="369332"/>
          </a:xfrm>
          <a:prstGeom prst="rect">
            <a:avLst/>
          </a:prstGeom>
          <a:noFill/>
        </p:spPr>
        <p:txBody>
          <a:bodyPr wrap="none" rtlCol="0">
            <a:spAutoFit/>
          </a:bodyPr>
          <a:lstStyle/>
          <a:p>
            <a:r>
              <a:rPr lang="en-US" dirty="0">
                <a:solidFill>
                  <a:schemeClr val="accent2"/>
                </a:solidFill>
              </a:rPr>
              <a:t>Capabilities </a:t>
            </a:r>
            <a:r>
              <a:rPr lang="en-US" dirty="0"/>
              <a:t>| Optimizations-as-a-Service</a:t>
            </a:r>
          </a:p>
        </p:txBody>
      </p:sp>
      <p:sp>
        <p:nvSpPr>
          <p:cNvPr id="26" name="TextBox 25">
            <a:extLst>
              <a:ext uri="{FF2B5EF4-FFF2-40B4-BE49-F238E27FC236}">
                <a16:creationId xmlns:a16="http://schemas.microsoft.com/office/drawing/2014/main" id="{87B47C3A-639F-4811-4EA8-BDDE32E9FDA8}"/>
              </a:ext>
            </a:extLst>
          </p:cNvPr>
          <p:cNvSpPr txBox="1"/>
          <p:nvPr/>
        </p:nvSpPr>
        <p:spPr>
          <a:xfrm>
            <a:off x="907440" y="1934177"/>
            <a:ext cx="2581091" cy="369332"/>
          </a:xfrm>
          <a:prstGeom prst="rect">
            <a:avLst/>
          </a:prstGeom>
          <a:noFill/>
        </p:spPr>
        <p:txBody>
          <a:bodyPr wrap="none" rtlCol="0">
            <a:spAutoFit/>
          </a:bodyPr>
          <a:lstStyle/>
          <a:p>
            <a:pPr algn="ctr"/>
            <a:r>
              <a:rPr lang="en-US" dirty="0"/>
              <a:t>Dynamic Configurations</a:t>
            </a:r>
          </a:p>
        </p:txBody>
      </p:sp>
    </p:spTree>
    <p:extLst>
      <p:ext uri="{BB962C8B-B14F-4D97-AF65-F5344CB8AC3E}">
        <p14:creationId xmlns:p14="http://schemas.microsoft.com/office/powerpoint/2010/main" val="3268302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F399BC-8E49-C5C0-94A0-33133B862263}"/>
              </a:ext>
            </a:extLst>
          </p:cNvPr>
          <p:cNvSpPr txBox="1"/>
          <p:nvPr/>
        </p:nvSpPr>
        <p:spPr>
          <a:xfrm>
            <a:off x="764930" y="1441938"/>
            <a:ext cx="10337317" cy="2554545"/>
          </a:xfrm>
          <a:prstGeom prst="rect">
            <a:avLst/>
          </a:prstGeom>
          <a:noFill/>
        </p:spPr>
        <p:txBody>
          <a:bodyPr wrap="none" rtlCol="0">
            <a:spAutoFit/>
          </a:bodyPr>
          <a:lstStyle/>
          <a:p>
            <a:r>
              <a:rPr lang="en-US" sz="1600" b="1" dirty="0"/>
              <a:t>Challenge:</a:t>
            </a:r>
          </a:p>
          <a:p>
            <a:r>
              <a:rPr lang="en-US" sz="1600" dirty="0"/>
              <a:t>Securely automate permitted ATM lock access requests directly from authorized field technicians and cash loaders</a:t>
            </a:r>
          </a:p>
          <a:p>
            <a:endParaRPr lang="en-US" sz="1600" dirty="0"/>
          </a:p>
          <a:p>
            <a:endParaRPr lang="en-US" sz="1600" dirty="0"/>
          </a:p>
          <a:p>
            <a:r>
              <a:rPr lang="en-US" sz="1600" b="1" dirty="0"/>
              <a:t>Target:</a:t>
            </a:r>
          </a:p>
          <a:p>
            <a:r>
              <a:rPr lang="en-US" sz="1600" dirty="0"/>
              <a:t>Reduce manpower requirements to staff dispatch support operations while preserving fully security and auditability</a:t>
            </a:r>
          </a:p>
          <a:p>
            <a:endParaRPr lang="en-US" sz="1600" dirty="0"/>
          </a:p>
          <a:p>
            <a:endParaRPr lang="en-US" sz="1600" dirty="0"/>
          </a:p>
          <a:p>
            <a:r>
              <a:rPr lang="en-US" sz="1600" b="1" dirty="0"/>
              <a:t>Outcome:</a:t>
            </a:r>
          </a:p>
          <a:p>
            <a:r>
              <a:rPr lang="en-US" sz="1600" dirty="0"/>
              <a:t>Cross-ATM-lock-system-platform offloading 95%+ of routine daily manual dispatching costs</a:t>
            </a:r>
          </a:p>
        </p:txBody>
      </p:sp>
      <p:pic>
        <p:nvPicPr>
          <p:cNvPr id="3" name="Picture 2">
            <a:extLst>
              <a:ext uri="{FF2B5EF4-FFF2-40B4-BE49-F238E27FC236}">
                <a16:creationId xmlns:a16="http://schemas.microsoft.com/office/drawing/2014/main" id="{BBF5E74B-AD32-AB16-FE25-2865B3356B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27" y="593870"/>
            <a:ext cx="3589962" cy="587706"/>
          </a:xfrm>
          <a:prstGeom prst="rect">
            <a:avLst/>
          </a:prstGeom>
        </p:spPr>
      </p:pic>
    </p:spTree>
    <p:extLst>
      <p:ext uri="{BB962C8B-B14F-4D97-AF65-F5344CB8AC3E}">
        <p14:creationId xmlns:p14="http://schemas.microsoft.com/office/powerpoint/2010/main" val="3221609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6CD5-1090-2A66-FFE6-C7699173A6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ABCBDD-935F-E855-4781-798D8CDDA70A}"/>
              </a:ext>
            </a:extLst>
          </p:cNvPr>
          <p:cNvSpPr txBox="1"/>
          <p:nvPr/>
        </p:nvSpPr>
        <p:spPr>
          <a:xfrm>
            <a:off x="622055" y="316496"/>
            <a:ext cx="9752867"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Company Optimization – CIT/ATM/FLM Cash Operations/Logistics</a:t>
            </a:r>
          </a:p>
        </p:txBody>
      </p:sp>
      <p:sp>
        <p:nvSpPr>
          <p:cNvPr id="38" name="Rectangle: Rounded Corners 37">
            <a:extLst>
              <a:ext uri="{FF2B5EF4-FFF2-40B4-BE49-F238E27FC236}">
                <a16:creationId xmlns:a16="http://schemas.microsoft.com/office/drawing/2014/main" id="{FDAE498F-4D72-2590-EED4-AC8AAD6A865C}"/>
              </a:ext>
            </a:extLst>
          </p:cNvPr>
          <p:cNvSpPr/>
          <p:nvPr/>
        </p:nvSpPr>
        <p:spPr>
          <a:xfrm>
            <a:off x="5767912" y="2759737"/>
            <a:ext cx="5048647"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B068FB2F-4008-966F-87B0-DDAFFF518AC5}"/>
              </a:ext>
            </a:extLst>
          </p:cNvPr>
          <p:cNvSpPr/>
          <p:nvPr/>
        </p:nvSpPr>
        <p:spPr>
          <a:xfrm>
            <a:off x="8665780" y="4984807"/>
            <a:ext cx="2434598"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Schedule Demo</a:t>
            </a:r>
          </a:p>
        </p:txBody>
      </p:sp>
      <p:sp>
        <p:nvSpPr>
          <p:cNvPr id="3" name="TextBox 2">
            <a:extLst>
              <a:ext uri="{FF2B5EF4-FFF2-40B4-BE49-F238E27FC236}">
                <a16:creationId xmlns:a16="http://schemas.microsoft.com/office/drawing/2014/main" id="{AA6440AF-7926-3F21-EC7E-E006889A6907}"/>
              </a:ext>
            </a:extLst>
          </p:cNvPr>
          <p:cNvSpPr txBox="1"/>
          <p:nvPr/>
        </p:nvSpPr>
        <p:spPr>
          <a:xfrm>
            <a:off x="6094348" y="3558277"/>
            <a:ext cx="4039054" cy="738664"/>
          </a:xfrm>
          <a:prstGeom prst="rect">
            <a:avLst/>
          </a:prstGeom>
          <a:noFill/>
        </p:spPr>
        <p:txBody>
          <a:bodyPr wrap="none" rtlCol="0">
            <a:spAutoFit/>
          </a:bodyPr>
          <a:lstStyle/>
          <a:p>
            <a:r>
              <a:rPr lang="en-US" sz="1600" b="1" dirty="0"/>
              <a:t>Zero-Trust CIT/ATM/Vault/FLM Operations</a:t>
            </a:r>
          </a:p>
          <a:p>
            <a:endParaRPr lang="en-US" sz="1200" b="1" dirty="0"/>
          </a:p>
          <a:p>
            <a:r>
              <a:rPr lang="en-US" sz="1400" b="1" dirty="0">
                <a:solidFill>
                  <a:schemeClr val="accent6">
                    <a:lumMod val="75000"/>
                  </a:schemeClr>
                </a:solidFill>
              </a:rPr>
              <a:t>$3Bn+/mo </a:t>
            </a:r>
            <a:r>
              <a:rPr lang="en-US" sz="1400" b="1" dirty="0"/>
              <a:t>Secured Cash Processing/Transport</a:t>
            </a:r>
          </a:p>
        </p:txBody>
      </p:sp>
      <p:pic>
        <p:nvPicPr>
          <p:cNvPr id="2" name="Picture 1">
            <a:extLst>
              <a:ext uri="{FF2B5EF4-FFF2-40B4-BE49-F238E27FC236}">
                <a16:creationId xmlns:a16="http://schemas.microsoft.com/office/drawing/2014/main" id="{8DF3F43E-7A8F-1FEF-2CAE-134BEEAB3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8233" y="2921719"/>
            <a:ext cx="3645044" cy="576400"/>
          </a:xfrm>
          <a:prstGeom prst="rect">
            <a:avLst/>
          </a:prstGeom>
        </p:spPr>
      </p:pic>
      <p:grpSp>
        <p:nvGrpSpPr>
          <p:cNvPr id="54" name="Group 53">
            <a:extLst>
              <a:ext uri="{FF2B5EF4-FFF2-40B4-BE49-F238E27FC236}">
                <a16:creationId xmlns:a16="http://schemas.microsoft.com/office/drawing/2014/main" id="{33F596A7-DBA1-21E3-AB01-D31E2EB015B5}"/>
              </a:ext>
            </a:extLst>
          </p:cNvPr>
          <p:cNvGrpSpPr/>
          <p:nvPr/>
        </p:nvGrpSpPr>
        <p:grpSpPr>
          <a:xfrm>
            <a:off x="655084" y="930653"/>
            <a:ext cx="7689932" cy="5655053"/>
            <a:chOff x="655084" y="930653"/>
            <a:chExt cx="7689932" cy="5655053"/>
          </a:xfrm>
        </p:grpSpPr>
        <p:pic>
          <p:nvPicPr>
            <p:cNvPr id="52" name="Picture 51">
              <a:extLst>
                <a:ext uri="{FF2B5EF4-FFF2-40B4-BE49-F238E27FC236}">
                  <a16:creationId xmlns:a16="http://schemas.microsoft.com/office/drawing/2014/main" id="{7A5A1706-BB0B-32C3-3DE7-DFFB27FC1E22}"/>
                </a:ext>
              </a:extLst>
            </p:cNvPr>
            <p:cNvPicPr>
              <a:picLocks noChangeAspect="1"/>
            </p:cNvPicPr>
            <p:nvPr/>
          </p:nvPicPr>
          <p:blipFill>
            <a:blip r:embed="rId3"/>
            <a:stretch>
              <a:fillRect/>
            </a:stretch>
          </p:blipFill>
          <p:spPr>
            <a:xfrm>
              <a:off x="2234384" y="937260"/>
              <a:ext cx="6057852" cy="5502550"/>
            </a:xfrm>
            <a:prstGeom prst="rect">
              <a:avLst/>
            </a:prstGeom>
          </p:spPr>
        </p:pic>
        <p:grpSp>
          <p:nvGrpSpPr>
            <p:cNvPr id="42" name="Group 41">
              <a:extLst>
                <a:ext uri="{FF2B5EF4-FFF2-40B4-BE49-F238E27FC236}">
                  <a16:creationId xmlns:a16="http://schemas.microsoft.com/office/drawing/2014/main" id="{2F3CA3D9-F2E5-C4CF-FA6F-4FB348DB9E04}"/>
                </a:ext>
              </a:extLst>
            </p:cNvPr>
            <p:cNvGrpSpPr/>
            <p:nvPr/>
          </p:nvGrpSpPr>
          <p:grpSpPr>
            <a:xfrm>
              <a:off x="655084" y="1597322"/>
              <a:ext cx="2932177" cy="4988384"/>
              <a:chOff x="450332" y="972322"/>
              <a:chExt cx="3299134" cy="5612672"/>
            </a:xfrm>
          </p:grpSpPr>
          <p:pic>
            <p:nvPicPr>
              <p:cNvPr id="1026" name="Picture 2" descr="Vector Modern smartphone isolated. Mobile phone with blank screen. Cell ...">
                <a:extLst>
                  <a:ext uri="{FF2B5EF4-FFF2-40B4-BE49-F238E27FC236}">
                    <a16:creationId xmlns:a16="http://schemas.microsoft.com/office/drawing/2014/main" id="{C1257D9C-68D9-36E5-69ED-1D9A8972D9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75" t="6155" r="28635" b="5721"/>
              <a:stretch>
                <a:fillRect/>
              </a:stretch>
            </p:blipFill>
            <p:spPr bwMode="auto">
              <a:xfrm>
                <a:off x="746947" y="972322"/>
                <a:ext cx="2580104" cy="532617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EA34984-055E-B918-31C3-0FDA0705BCAA}"/>
                  </a:ext>
                </a:extLst>
              </p:cNvPr>
              <p:cNvGrpSpPr/>
              <p:nvPr/>
            </p:nvGrpSpPr>
            <p:grpSpPr>
              <a:xfrm>
                <a:off x="922850" y="1380515"/>
                <a:ext cx="2278000" cy="4756620"/>
                <a:chOff x="2814677" y="1377694"/>
                <a:chExt cx="2219363" cy="4634183"/>
              </a:xfrm>
            </p:grpSpPr>
            <p:pic>
              <p:nvPicPr>
                <p:cNvPr id="7" name="Picture 6">
                  <a:extLst>
                    <a:ext uri="{FF2B5EF4-FFF2-40B4-BE49-F238E27FC236}">
                      <a16:creationId xmlns:a16="http://schemas.microsoft.com/office/drawing/2014/main" id="{34A52E76-BB8F-35DE-6A61-6137138D71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4678" y="1377694"/>
                  <a:ext cx="2219362" cy="4438723"/>
                </a:xfrm>
                <a:prstGeom prst="rect">
                  <a:avLst/>
                </a:prstGeom>
              </p:spPr>
            </p:pic>
            <p:pic>
              <p:nvPicPr>
                <p:cNvPr id="8" name="Picture 7">
                  <a:extLst>
                    <a:ext uri="{FF2B5EF4-FFF2-40B4-BE49-F238E27FC236}">
                      <a16:creationId xmlns:a16="http://schemas.microsoft.com/office/drawing/2014/main" id="{94F2ECF0-959E-B8DD-CC74-715F759FA2F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0004"/>
                <a:stretch/>
              </p:blipFill>
              <p:spPr>
                <a:xfrm>
                  <a:off x="2814677" y="4650110"/>
                  <a:ext cx="2219362" cy="1361767"/>
                </a:xfrm>
                <a:prstGeom prst="rect">
                  <a:avLst/>
                </a:prstGeom>
                <a:ln>
                  <a:noFill/>
                </a:ln>
              </p:spPr>
            </p:pic>
            <p:grpSp>
              <p:nvGrpSpPr>
                <p:cNvPr id="10" name="Group 9">
                  <a:extLst>
                    <a:ext uri="{FF2B5EF4-FFF2-40B4-BE49-F238E27FC236}">
                      <a16:creationId xmlns:a16="http://schemas.microsoft.com/office/drawing/2014/main" id="{86C12A9D-D8DA-DDD1-8D91-2BEBA28319EC}"/>
                    </a:ext>
                  </a:extLst>
                </p:cNvPr>
                <p:cNvGrpSpPr/>
                <p:nvPr/>
              </p:nvGrpSpPr>
              <p:grpSpPr>
                <a:xfrm>
                  <a:off x="3715680" y="4207368"/>
                  <a:ext cx="516012" cy="87630"/>
                  <a:chOff x="4105705" y="4200525"/>
                  <a:chExt cx="516012" cy="87630"/>
                </a:xfrm>
              </p:grpSpPr>
              <p:pic>
                <p:nvPicPr>
                  <p:cNvPr id="11" name="Picture 10">
                    <a:extLst>
                      <a:ext uri="{FF2B5EF4-FFF2-40B4-BE49-F238E27FC236}">
                        <a16:creationId xmlns:a16="http://schemas.microsoft.com/office/drawing/2014/main" id="{60E72A2C-7BC7-7611-BA48-A2C82E34E866}"/>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41007" t="57612" r="41416" b="40800"/>
                  <a:stretch/>
                </p:blipFill>
                <p:spPr>
                  <a:xfrm>
                    <a:off x="4105705" y="4200525"/>
                    <a:ext cx="390095" cy="70485"/>
                  </a:xfrm>
                  <a:prstGeom prst="rect">
                    <a:avLst/>
                  </a:prstGeom>
                </p:spPr>
              </p:pic>
              <p:pic>
                <p:nvPicPr>
                  <p:cNvPr id="24" name="Picture 23">
                    <a:extLst>
                      <a:ext uri="{FF2B5EF4-FFF2-40B4-BE49-F238E27FC236}">
                        <a16:creationId xmlns:a16="http://schemas.microsoft.com/office/drawing/2014/main" id="{6DFCBD39-DBAF-AF77-4357-17E2635E744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0901" t="57655" r="36075" b="40542"/>
                  <a:stretch/>
                </p:blipFill>
                <p:spPr>
                  <a:xfrm>
                    <a:off x="4495800" y="4208146"/>
                    <a:ext cx="67105" cy="80009"/>
                  </a:xfrm>
                  <a:prstGeom prst="rect">
                    <a:avLst/>
                  </a:prstGeom>
                </p:spPr>
              </p:pic>
              <p:pic>
                <p:nvPicPr>
                  <p:cNvPr id="25" name="Picture 24">
                    <a:extLst>
                      <a:ext uri="{FF2B5EF4-FFF2-40B4-BE49-F238E27FC236}">
                        <a16:creationId xmlns:a16="http://schemas.microsoft.com/office/drawing/2014/main" id="{206D3506-61D4-0B1A-C7EB-950E97268539}"/>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0901" t="57655" r="36075" b="40542"/>
                  <a:stretch/>
                </p:blipFill>
                <p:spPr>
                  <a:xfrm>
                    <a:off x="4554612" y="4208146"/>
                    <a:ext cx="67105" cy="80009"/>
                  </a:xfrm>
                  <a:prstGeom prst="rect">
                    <a:avLst/>
                  </a:prstGeom>
                </p:spPr>
              </p:pic>
            </p:grpSp>
          </p:grpSp>
          <p:grpSp>
            <p:nvGrpSpPr>
              <p:cNvPr id="13" name="Group 12">
                <a:extLst>
                  <a:ext uri="{FF2B5EF4-FFF2-40B4-BE49-F238E27FC236}">
                    <a16:creationId xmlns:a16="http://schemas.microsoft.com/office/drawing/2014/main" id="{BD5C4BEE-906C-82FA-1B95-16D5DF5D6F24}"/>
                  </a:ext>
                </a:extLst>
              </p:cNvPr>
              <p:cNvGrpSpPr/>
              <p:nvPr/>
            </p:nvGrpSpPr>
            <p:grpSpPr>
              <a:xfrm>
                <a:off x="450332" y="5962083"/>
                <a:ext cx="3299134" cy="622911"/>
                <a:chOff x="1917353" y="3770354"/>
                <a:chExt cx="4260177" cy="804366"/>
              </a:xfrm>
            </p:grpSpPr>
            <p:sp>
              <p:nvSpPr>
                <p:cNvPr id="14" name="Rounded Rectangle 17">
                  <a:extLst>
                    <a:ext uri="{FF2B5EF4-FFF2-40B4-BE49-F238E27FC236}">
                      <a16:creationId xmlns:a16="http://schemas.microsoft.com/office/drawing/2014/main" id="{1743CA56-8BDD-D212-A8E3-227E8597DC11}"/>
                    </a:ext>
                  </a:extLst>
                </p:cNvPr>
                <p:cNvSpPr/>
                <p:nvPr/>
              </p:nvSpPr>
              <p:spPr>
                <a:xfrm>
                  <a:off x="1917353" y="3770354"/>
                  <a:ext cx="4260177"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19113"/>
                  <a:r>
                    <a:rPr lang="en-US" sz="1600" b="1" dirty="0"/>
                    <a:t>Workflow Enforcement</a:t>
                  </a:r>
                </a:p>
              </p:txBody>
            </p:sp>
            <p:grpSp>
              <p:nvGrpSpPr>
                <p:cNvPr id="15" name="Group 14">
                  <a:extLst>
                    <a:ext uri="{FF2B5EF4-FFF2-40B4-BE49-F238E27FC236}">
                      <a16:creationId xmlns:a16="http://schemas.microsoft.com/office/drawing/2014/main" id="{C817A829-42F0-26FC-8E42-6E592570B064}"/>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8D582F7E-4167-27E0-6915-87C3E4DA83D0}"/>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85C25722-2F76-0504-4A28-D80972A2F9C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pic>
          <p:nvPicPr>
            <p:cNvPr id="39" name="Picture 38">
              <a:extLst>
                <a:ext uri="{FF2B5EF4-FFF2-40B4-BE49-F238E27FC236}">
                  <a16:creationId xmlns:a16="http://schemas.microsoft.com/office/drawing/2014/main" id="{54E1CFC7-CF43-E9D3-1C44-369ADCC44BED}"/>
                </a:ext>
              </a:extLst>
            </p:cNvPr>
            <p:cNvPicPr>
              <a:picLocks noChangeAspect="1"/>
            </p:cNvPicPr>
            <p:nvPr/>
          </p:nvPicPr>
          <p:blipFill>
            <a:blip r:embed="rId10"/>
            <a:stretch>
              <a:fillRect/>
            </a:stretch>
          </p:blipFill>
          <p:spPr>
            <a:xfrm>
              <a:off x="6022727" y="4472815"/>
              <a:ext cx="2322289" cy="445058"/>
            </a:xfrm>
            <a:prstGeom prst="rect">
              <a:avLst/>
            </a:prstGeom>
          </p:spPr>
        </p:pic>
        <p:grpSp>
          <p:nvGrpSpPr>
            <p:cNvPr id="46" name="Group 45">
              <a:extLst>
                <a:ext uri="{FF2B5EF4-FFF2-40B4-BE49-F238E27FC236}">
                  <a16:creationId xmlns:a16="http://schemas.microsoft.com/office/drawing/2014/main" id="{B96F3D17-1744-0AFE-5F23-65B0699C1D8F}"/>
                </a:ext>
              </a:extLst>
            </p:cNvPr>
            <p:cNvGrpSpPr/>
            <p:nvPr/>
          </p:nvGrpSpPr>
          <p:grpSpPr>
            <a:xfrm>
              <a:off x="2283462" y="930653"/>
              <a:ext cx="1672590" cy="235929"/>
              <a:chOff x="1849120" y="937260"/>
              <a:chExt cx="1672590" cy="235929"/>
            </a:xfrm>
          </p:grpSpPr>
          <p:sp>
            <p:nvSpPr>
              <p:cNvPr id="43" name="Rectangle 42">
                <a:extLst>
                  <a:ext uri="{FF2B5EF4-FFF2-40B4-BE49-F238E27FC236}">
                    <a16:creationId xmlns:a16="http://schemas.microsoft.com/office/drawing/2014/main" id="{FF91F2A9-1551-40A7-0AF6-22688981D405}"/>
                  </a:ext>
                </a:extLst>
              </p:cNvPr>
              <p:cNvSpPr/>
              <p:nvPr/>
            </p:nvSpPr>
            <p:spPr>
              <a:xfrm>
                <a:off x="1849120" y="937260"/>
                <a:ext cx="1672590" cy="235929"/>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solidFill>
                      <a:srgbClr val="02072E"/>
                    </a:solidFill>
                  </a:rPr>
                  <a:t>          Main Branch</a:t>
                </a:r>
              </a:p>
            </p:txBody>
          </p:sp>
          <p:pic>
            <p:nvPicPr>
              <p:cNvPr id="44" name="Picture 43">
                <a:extLst>
                  <a:ext uri="{FF2B5EF4-FFF2-40B4-BE49-F238E27FC236}">
                    <a16:creationId xmlns:a16="http://schemas.microsoft.com/office/drawing/2014/main" id="{4ABF53DA-C3D0-7ABF-21BB-4341D37ED43E}"/>
                  </a:ext>
                </a:extLst>
              </p:cNvPr>
              <p:cNvPicPr>
                <a:picLocks noChangeAspect="1"/>
              </p:cNvPicPr>
              <p:nvPr/>
            </p:nvPicPr>
            <p:blipFill>
              <a:blip r:embed="rId11"/>
              <a:srcRect l="25715" t="1419" r="73284" b="96894"/>
              <a:stretch>
                <a:fillRect/>
              </a:stretch>
            </p:blipFill>
            <p:spPr>
              <a:xfrm>
                <a:off x="2943294" y="1005211"/>
                <a:ext cx="65942" cy="100027"/>
              </a:xfrm>
              <a:prstGeom prst="rect">
                <a:avLst/>
              </a:prstGeom>
            </p:spPr>
          </p:pic>
          <p:pic>
            <p:nvPicPr>
              <p:cNvPr id="45" name="Picture 44">
                <a:extLst>
                  <a:ext uri="{FF2B5EF4-FFF2-40B4-BE49-F238E27FC236}">
                    <a16:creationId xmlns:a16="http://schemas.microsoft.com/office/drawing/2014/main" id="{7B7D2D62-68AE-15D0-B1FB-3F69E7440A2E}"/>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5031" t="17452" r="29292" b="32459"/>
              <a:stretch/>
            </p:blipFill>
            <p:spPr>
              <a:xfrm>
                <a:off x="1897619" y="958101"/>
                <a:ext cx="224130" cy="194247"/>
              </a:xfrm>
              <a:prstGeom prst="rect">
                <a:avLst/>
              </a:prstGeom>
            </p:spPr>
          </p:pic>
        </p:grpSp>
      </p:grpSp>
      <p:sp>
        <p:nvSpPr>
          <p:cNvPr id="53" name="Rectangle: Rounded Corners 52">
            <a:extLst>
              <a:ext uri="{FF2B5EF4-FFF2-40B4-BE49-F238E27FC236}">
                <a16:creationId xmlns:a16="http://schemas.microsoft.com/office/drawing/2014/main" id="{811C5907-1A3F-982B-40FD-0983CA2804CF}"/>
              </a:ext>
            </a:extLst>
          </p:cNvPr>
          <p:cNvSpPr/>
          <p:nvPr/>
        </p:nvSpPr>
        <p:spPr>
          <a:xfrm>
            <a:off x="9423474" y="2273405"/>
            <a:ext cx="1393085"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Visit Site</a:t>
            </a:r>
          </a:p>
        </p:txBody>
      </p:sp>
    </p:spTree>
    <p:extLst>
      <p:ext uri="{BB962C8B-B14F-4D97-AF65-F5344CB8AC3E}">
        <p14:creationId xmlns:p14="http://schemas.microsoft.com/office/powerpoint/2010/main" val="1862934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AD582-6AD5-3498-F3C1-353BC92AF7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A3CD2B-FDE3-4B23-02DB-2D1C76FE21EE}"/>
              </a:ext>
            </a:extLst>
          </p:cNvPr>
          <p:cNvSpPr txBox="1"/>
          <p:nvPr/>
        </p:nvSpPr>
        <p:spPr>
          <a:xfrm>
            <a:off x="764930" y="1441938"/>
            <a:ext cx="10756510" cy="3293209"/>
          </a:xfrm>
          <a:prstGeom prst="rect">
            <a:avLst/>
          </a:prstGeom>
          <a:noFill/>
        </p:spPr>
        <p:txBody>
          <a:bodyPr wrap="square" rtlCol="0">
            <a:spAutoFit/>
          </a:bodyPr>
          <a:lstStyle/>
          <a:p>
            <a:r>
              <a:rPr lang="en-US" sz="1600" b="1" dirty="0"/>
              <a:t>Challenge:</a:t>
            </a:r>
          </a:p>
          <a:p>
            <a:r>
              <a:rPr lang="en-US" sz="1600" dirty="0"/>
              <a:t>Replace a degrading cash logistics platform with a more adaptive, streamlined, and auditable operations foundation leveraging contemporary technologies for a 24x7 high-volume cash processing/transportation provider.</a:t>
            </a:r>
          </a:p>
          <a:p>
            <a:endParaRPr lang="en-US" sz="1600" dirty="0"/>
          </a:p>
          <a:p>
            <a:endParaRPr lang="en-US" sz="1600" dirty="0"/>
          </a:p>
          <a:p>
            <a:r>
              <a:rPr lang="en-US" sz="1600" b="1" dirty="0"/>
              <a:t>Target:</a:t>
            </a:r>
          </a:p>
          <a:p>
            <a:r>
              <a:rPr lang="en-US" sz="1600" dirty="0"/>
              <a:t>Provide a simplified, multi-lingual, multi-currency cash operations platform with centralized control enforcements across all aspects of the operations model (vaults, branches, trucks, routes, field users)</a:t>
            </a:r>
          </a:p>
          <a:p>
            <a:endParaRPr lang="en-US" sz="1600" dirty="0"/>
          </a:p>
          <a:p>
            <a:endParaRPr lang="en-US" sz="1600" dirty="0"/>
          </a:p>
          <a:p>
            <a:r>
              <a:rPr lang="en-US" sz="1600" b="1" dirty="0"/>
              <a:t>Outcome:</a:t>
            </a:r>
          </a:p>
          <a:p>
            <a:r>
              <a:rPr lang="en-US" sz="1600" dirty="0"/>
              <a:t>Reduced resource onboarding times, increased operating consistency, and centralized auditing of all operational details across billions in monthly cash movements.</a:t>
            </a:r>
          </a:p>
        </p:txBody>
      </p:sp>
      <p:pic>
        <p:nvPicPr>
          <p:cNvPr id="3" name="Picture 2">
            <a:extLst>
              <a:ext uri="{FF2B5EF4-FFF2-40B4-BE49-F238E27FC236}">
                <a16:creationId xmlns:a16="http://schemas.microsoft.com/office/drawing/2014/main" id="{94B72E4B-F2D4-9C66-BB0F-72CB1A032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3" y="544279"/>
            <a:ext cx="3645044" cy="576400"/>
          </a:xfrm>
          <a:prstGeom prst="rect">
            <a:avLst/>
          </a:prstGeom>
        </p:spPr>
      </p:pic>
    </p:spTree>
    <p:extLst>
      <p:ext uri="{BB962C8B-B14F-4D97-AF65-F5344CB8AC3E}">
        <p14:creationId xmlns:p14="http://schemas.microsoft.com/office/powerpoint/2010/main" val="2022238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BCF3-487A-18B9-92E1-180EDBF3B791}"/>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82D3B687-E2B5-90DC-2E39-BBBBB12503A6}"/>
              </a:ext>
            </a:extLst>
          </p:cNvPr>
          <p:cNvPicPr>
            <a:picLocks noChangeAspect="1"/>
          </p:cNvPicPr>
          <p:nvPr/>
        </p:nvPicPr>
        <p:blipFill>
          <a:blip r:embed="rId2"/>
          <a:stretch>
            <a:fillRect/>
          </a:stretch>
        </p:blipFill>
        <p:spPr>
          <a:xfrm>
            <a:off x="1803506" y="915086"/>
            <a:ext cx="9505594" cy="5342683"/>
          </a:xfrm>
          <a:prstGeom prst="rect">
            <a:avLst/>
          </a:prstGeom>
        </p:spPr>
      </p:pic>
      <p:sp>
        <p:nvSpPr>
          <p:cNvPr id="4" name="TextBox 3">
            <a:extLst>
              <a:ext uri="{FF2B5EF4-FFF2-40B4-BE49-F238E27FC236}">
                <a16:creationId xmlns:a16="http://schemas.microsoft.com/office/drawing/2014/main" id="{781DDA7D-E535-47EA-D7DA-5A9F5352A49C}"/>
              </a:ext>
            </a:extLst>
          </p:cNvPr>
          <p:cNvSpPr txBox="1"/>
          <p:nvPr/>
        </p:nvSpPr>
        <p:spPr>
          <a:xfrm>
            <a:off x="622055" y="316496"/>
            <a:ext cx="10544175"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Program Optimization – Contracted Services Fulfillment + Compliance Mgmt</a:t>
            </a:r>
          </a:p>
        </p:txBody>
      </p:sp>
      <p:grpSp>
        <p:nvGrpSpPr>
          <p:cNvPr id="41" name="Group 40">
            <a:extLst>
              <a:ext uri="{FF2B5EF4-FFF2-40B4-BE49-F238E27FC236}">
                <a16:creationId xmlns:a16="http://schemas.microsoft.com/office/drawing/2014/main" id="{5706F38A-6B0C-CDBA-93DD-7B23F24D83CB}"/>
              </a:ext>
            </a:extLst>
          </p:cNvPr>
          <p:cNvGrpSpPr/>
          <p:nvPr/>
        </p:nvGrpSpPr>
        <p:grpSpPr>
          <a:xfrm>
            <a:off x="704472" y="1978269"/>
            <a:ext cx="3146559" cy="4701007"/>
            <a:chOff x="268646" y="972322"/>
            <a:chExt cx="3565009" cy="5326178"/>
          </a:xfrm>
        </p:grpSpPr>
        <p:pic>
          <p:nvPicPr>
            <p:cNvPr id="1026" name="Picture 2" descr="Vector Modern smartphone isolated. Mobile phone with blank screen. Cell ...">
              <a:extLst>
                <a:ext uri="{FF2B5EF4-FFF2-40B4-BE49-F238E27FC236}">
                  <a16:creationId xmlns:a16="http://schemas.microsoft.com/office/drawing/2014/main" id="{155A2D61-C355-048A-7F6A-BFEBE9961A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795" b="5721"/>
            <a:stretch>
              <a:fillRect/>
            </a:stretch>
          </p:blipFill>
          <p:spPr bwMode="auto">
            <a:xfrm>
              <a:off x="746947" y="972322"/>
              <a:ext cx="2570417" cy="532617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164061C9-4406-7860-3292-F2B5E012CF12}"/>
                </a:ext>
              </a:extLst>
            </p:cNvPr>
            <p:cNvPicPr>
              <a:picLocks noChangeAspect="1"/>
            </p:cNvPicPr>
            <p:nvPr/>
          </p:nvPicPr>
          <p:blipFill>
            <a:blip r:embed="rId4">
              <a:extLst>
                <a:ext uri="{28A0092B-C50C-407E-A947-70E740481C1C}">
                  <a14:useLocalDpi xmlns:a14="http://schemas.microsoft.com/office/drawing/2010/main" val="0"/>
                </a:ext>
              </a:extLst>
            </a:blip>
            <a:srcRect b="5527"/>
            <a:stretch>
              <a:fillRect/>
            </a:stretch>
          </p:blipFill>
          <p:spPr>
            <a:xfrm>
              <a:off x="911194" y="1380391"/>
              <a:ext cx="2280413" cy="4659184"/>
            </a:xfrm>
            <a:prstGeom prst="rect">
              <a:avLst/>
            </a:prstGeom>
          </p:spPr>
        </p:pic>
        <p:grpSp>
          <p:nvGrpSpPr>
            <p:cNvPr id="13" name="Group 12">
              <a:extLst>
                <a:ext uri="{FF2B5EF4-FFF2-40B4-BE49-F238E27FC236}">
                  <a16:creationId xmlns:a16="http://schemas.microsoft.com/office/drawing/2014/main" id="{C9C1C11C-83F7-E7CD-A516-70470A0CE73B}"/>
                </a:ext>
              </a:extLst>
            </p:cNvPr>
            <p:cNvGrpSpPr/>
            <p:nvPr/>
          </p:nvGrpSpPr>
          <p:grpSpPr>
            <a:xfrm>
              <a:off x="268646" y="5303484"/>
              <a:ext cx="3565009" cy="622911"/>
              <a:chOff x="1917353" y="3770354"/>
              <a:chExt cx="4603502" cy="804366"/>
            </a:xfrm>
          </p:grpSpPr>
          <p:sp>
            <p:nvSpPr>
              <p:cNvPr id="14" name="Rounded Rectangle 17">
                <a:extLst>
                  <a:ext uri="{FF2B5EF4-FFF2-40B4-BE49-F238E27FC236}">
                    <a16:creationId xmlns:a16="http://schemas.microsoft.com/office/drawing/2014/main" id="{69B792E0-52D8-2FE3-1A22-476299232862}"/>
                  </a:ext>
                </a:extLst>
              </p:cNvPr>
              <p:cNvSpPr/>
              <p:nvPr/>
            </p:nvSpPr>
            <p:spPr>
              <a:xfrm>
                <a:off x="1917353" y="3770354"/>
                <a:ext cx="4603502"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19113"/>
                <a:r>
                  <a:rPr lang="en-US" sz="1600" b="1" dirty="0"/>
                  <a:t>Government Compliance</a:t>
                </a:r>
              </a:p>
            </p:txBody>
          </p:sp>
          <p:grpSp>
            <p:nvGrpSpPr>
              <p:cNvPr id="15" name="Group 14">
                <a:extLst>
                  <a:ext uri="{FF2B5EF4-FFF2-40B4-BE49-F238E27FC236}">
                    <a16:creationId xmlns:a16="http://schemas.microsoft.com/office/drawing/2014/main" id="{B8AE4661-EC89-E72B-D827-48653732DD9E}"/>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716CBCD5-C036-64EB-FA82-22CC9A41A394}"/>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5FA13F72-367C-5951-6CB5-23344D2560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nvGrpSpPr>
          <p:cNvPr id="40" name="Group 39">
            <a:extLst>
              <a:ext uri="{FF2B5EF4-FFF2-40B4-BE49-F238E27FC236}">
                <a16:creationId xmlns:a16="http://schemas.microsoft.com/office/drawing/2014/main" id="{8AB37478-8EFB-2D6B-158C-49DA101513EA}"/>
              </a:ext>
            </a:extLst>
          </p:cNvPr>
          <p:cNvGrpSpPr/>
          <p:nvPr/>
        </p:nvGrpSpPr>
        <p:grpSpPr>
          <a:xfrm>
            <a:off x="4560450" y="3104033"/>
            <a:ext cx="4335520" cy="2449990"/>
            <a:chOff x="6540565" y="2853494"/>
            <a:chExt cx="4335520" cy="2449990"/>
          </a:xfrm>
        </p:grpSpPr>
        <p:sp>
          <p:nvSpPr>
            <p:cNvPr id="38" name="Rectangle: Rounded Corners 37">
              <a:extLst>
                <a:ext uri="{FF2B5EF4-FFF2-40B4-BE49-F238E27FC236}">
                  <a16:creationId xmlns:a16="http://schemas.microsoft.com/office/drawing/2014/main" id="{4A56253B-3C8C-9BE2-AF94-7AB9E30C3F6C}"/>
                </a:ext>
              </a:extLst>
            </p:cNvPr>
            <p:cNvSpPr/>
            <p:nvPr/>
          </p:nvSpPr>
          <p:spPr>
            <a:xfrm>
              <a:off x="6540565" y="2853494"/>
              <a:ext cx="4335520"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0D63D0D5-C1AF-7468-9FD6-B7634EADE5A6}"/>
                </a:ext>
              </a:extLst>
            </p:cNvPr>
            <p:cNvPicPr>
              <a:picLocks noChangeAspect="1"/>
            </p:cNvPicPr>
            <p:nvPr/>
          </p:nvPicPr>
          <p:blipFill>
            <a:blip r:embed="rId6"/>
            <a:stretch>
              <a:fillRect/>
            </a:stretch>
          </p:blipFill>
          <p:spPr>
            <a:xfrm>
              <a:off x="6725014" y="4796487"/>
              <a:ext cx="2322289" cy="445058"/>
            </a:xfrm>
            <a:prstGeom prst="rect">
              <a:avLst/>
            </a:prstGeom>
          </p:spPr>
        </p:pic>
        <p:sp>
          <p:nvSpPr>
            <p:cNvPr id="3" name="TextBox 2">
              <a:extLst>
                <a:ext uri="{FF2B5EF4-FFF2-40B4-BE49-F238E27FC236}">
                  <a16:creationId xmlns:a16="http://schemas.microsoft.com/office/drawing/2014/main" id="{55E8D226-AE24-9429-69B5-9DAD0582799D}"/>
                </a:ext>
              </a:extLst>
            </p:cNvPr>
            <p:cNvSpPr txBox="1"/>
            <p:nvPr/>
          </p:nvSpPr>
          <p:spPr>
            <a:xfrm>
              <a:off x="6635176" y="3782334"/>
              <a:ext cx="4139210" cy="923330"/>
            </a:xfrm>
            <a:prstGeom prst="rect">
              <a:avLst/>
            </a:prstGeom>
            <a:noFill/>
          </p:spPr>
          <p:txBody>
            <a:bodyPr wrap="none" rtlCol="0">
              <a:spAutoFit/>
            </a:bodyPr>
            <a:lstStyle/>
            <a:p>
              <a:r>
                <a:rPr lang="en-US" sz="1600" b="1" dirty="0"/>
                <a:t>US Immigration Court Services</a:t>
              </a:r>
            </a:p>
            <a:p>
              <a:r>
                <a:rPr lang="en-US" sz="1400" b="1" dirty="0"/>
                <a:t>Contracted Interpreter Fulfillment +Compliance</a:t>
              </a:r>
            </a:p>
            <a:p>
              <a:endParaRPr lang="en-US" sz="1000" b="1" dirty="0"/>
            </a:p>
            <a:p>
              <a:r>
                <a:rPr lang="en-US" sz="1400" b="1" dirty="0">
                  <a:solidFill>
                    <a:schemeClr val="accent6">
                      <a:lumMod val="75000"/>
                    </a:schemeClr>
                  </a:solidFill>
                </a:rPr>
                <a:t>25k+/mo </a:t>
              </a:r>
              <a:r>
                <a:rPr lang="en-US" sz="1400" b="1" dirty="0"/>
                <a:t>DOJ/EOIR Interpretation Service Orders</a:t>
              </a:r>
            </a:p>
          </p:txBody>
        </p:sp>
        <p:pic>
          <p:nvPicPr>
            <p:cNvPr id="33" name="Picture 32">
              <a:extLst>
                <a:ext uri="{FF2B5EF4-FFF2-40B4-BE49-F238E27FC236}">
                  <a16:creationId xmlns:a16="http://schemas.microsoft.com/office/drawing/2014/main" id="{30F6AC9C-3997-C808-33E0-374A321BDE85}"/>
                </a:ext>
              </a:extLst>
            </p:cNvPr>
            <p:cNvPicPr>
              <a:picLocks noChangeAspect="1"/>
            </p:cNvPicPr>
            <p:nvPr/>
          </p:nvPicPr>
          <p:blipFill>
            <a:blip r:embed="rId7"/>
            <a:stretch>
              <a:fillRect/>
            </a:stretch>
          </p:blipFill>
          <p:spPr>
            <a:xfrm>
              <a:off x="6635176" y="2961014"/>
              <a:ext cx="1973622" cy="821320"/>
            </a:xfrm>
            <a:prstGeom prst="rect">
              <a:avLst/>
            </a:prstGeom>
          </p:spPr>
        </p:pic>
      </p:grpSp>
    </p:spTree>
    <p:extLst>
      <p:ext uri="{BB962C8B-B14F-4D97-AF65-F5344CB8AC3E}">
        <p14:creationId xmlns:p14="http://schemas.microsoft.com/office/powerpoint/2010/main" val="883934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BA2B4-6277-5F4A-2330-6084528B65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14E713-A3B0-31FE-99F8-CFF007CAD926}"/>
              </a:ext>
            </a:extLst>
          </p:cNvPr>
          <p:cNvSpPr txBox="1"/>
          <p:nvPr/>
        </p:nvSpPr>
        <p:spPr>
          <a:xfrm>
            <a:off x="764930" y="1441938"/>
            <a:ext cx="10756510" cy="3539430"/>
          </a:xfrm>
          <a:prstGeom prst="rect">
            <a:avLst/>
          </a:prstGeom>
          <a:noFill/>
        </p:spPr>
        <p:txBody>
          <a:bodyPr wrap="square" rtlCol="0">
            <a:spAutoFit/>
          </a:bodyPr>
          <a:lstStyle/>
          <a:p>
            <a:r>
              <a:rPr lang="en-US" sz="1600" b="1" dirty="0"/>
              <a:t>Challenge:</a:t>
            </a:r>
          </a:p>
          <a:p>
            <a:r>
              <a:rPr lang="en-US" sz="1600" dirty="0"/>
              <a:t>Reduce resources/costs associated with manually coordinating court work order assignments with aligned contract resources, to increase contractor compliance with governmental work performance requirements, and to avoid government penalties for underdelivering minimum work order fulfillment rates.</a:t>
            </a:r>
          </a:p>
          <a:p>
            <a:endParaRPr lang="en-US" sz="1600" dirty="0"/>
          </a:p>
          <a:p>
            <a:r>
              <a:rPr lang="en-US" sz="1600" b="1" dirty="0"/>
              <a:t>Target:</a:t>
            </a:r>
          </a:p>
          <a:p>
            <a:r>
              <a:rPr lang="en-US" sz="1600" dirty="0"/>
              <a:t>Provide an uber-like open marketplace for DOJ approved court interpretation contractors to self-select appropriate case loads within defined operating rules and contractor rate preferences.</a:t>
            </a:r>
          </a:p>
          <a:p>
            <a:endParaRPr lang="en-US" sz="1600" dirty="0"/>
          </a:p>
          <a:p>
            <a:endParaRPr lang="en-US" sz="1600" dirty="0"/>
          </a:p>
          <a:p>
            <a:endParaRPr lang="en-US" sz="1600" dirty="0"/>
          </a:p>
          <a:p>
            <a:r>
              <a:rPr lang="en-US" sz="1600" b="1" dirty="0"/>
              <a:t>Outcome:</a:t>
            </a:r>
          </a:p>
          <a:p>
            <a:r>
              <a:rPr lang="en-US" sz="1600" dirty="0"/>
              <a:t>82%+ automated fulfillment of approximately 20-25k/month DOJ  approved interpretation service work orders and massive reduction of internal processing requirements to invoice services.</a:t>
            </a:r>
          </a:p>
        </p:txBody>
      </p:sp>
      <p:pic>
        <p:nvPicPr>
          <p:cNvPr id="3" name="Picture 2">
            <a:extLst>
              <a:ext uri="{FF2B5EF4-FFF2-40B4-BE49-F238E27FC236}">
                <a16:creationId xmlns:a16="http://schemas.microsoft.com/office/drawing/2014/main" id="{BF27DF59-F8D2-9E6A-C86A-160DB5FD7C1B}"/>
              </a:ext>
            </a:extLst>
          </p:cNvPr>
          <p:cNvPicPr>
            <a:picLocks noChangeAspect="1"/>
          </p:cNvPicPr>
          <p:nvPr/>
        </p:nvPicPr>
        <p:blipFill>
          <a:blip r:embed="rId2"/>
          <a:stretch>
            <a:fillRect/>
          </a:stretch>
        </p:blipFill>
        <p:spPr>
          <a:xfrm>
            <a:off x="585981" y="407393"/>
            <a:ext cx="1973622" cy="821320"/>
          </a:xfrm>
          <a:prstGeom prst="rect">
            <a:avLst/>
          </a:prstGeom>
        </p:spPr>
      </p:pic>
    </p:spTree>
    <p:extLst>
      <p:ext uri="{BB962C8B-B14F-4D97-AF65-F5344CB8AC3E}">
        <p14:creationId xmlns:p14="http://schemas.microsoft.com/office/powerpoint/2010/main" val="1120110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5340-B2CB-8893-5C89-30141246C1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2C8E8D-1014-324D-683A-6D2EBFE06DF5}"/>
              </a:ext>
            </a:extLst>
          </p:cNvPr>
          <p:cNvSpPr txBox="1"/>
          <p:nvPr/>
        </p:nvSpPr>
        <p:spPr>
          <a:xfrm>
            <a:off x="622055" y="316496"/>
            <a:ext cx="10544175"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Business Optimization – Coin Currency Order Processing</a:t>
            </a:r>
          </a:p>
        </p:txBody>
      </p:sp>
      <p:grpSp>
        <p:nvGrpSpPr>
          <p:cNvPr id="18" name="Group 17">
            <a:extLst>
              <a:ext uri="{FF2B5EF4-FFF2-40B4-BE49-F238E27FC236}">
                <a16:creationId xmlns:a16="http://schemas.microsoft.com/office/drawing/2014/main" id="{1A0FDD50-5CDF-27FB-B48E-8D9C91AC1A06}"/>
              </a:ext>
            </a:extLst>
          </p:cNvPr>
          <p:cNvGrpSpPr/>
          <p:nvPr/>
        </p:nvGrpSpPr>
        <p:grpSpPr>
          <a:xfrm>
            <a:off x="450333" y="1000058"/>
            <a:ext cx="10469713" cy="5584936"/>
            <a:chOff x="450333" y="1000058"/>
            <a:chExt cx="10469713" cy="5584936"/>
          </a:xfrm>
        </p:grpSpPr>
        <p:pic>
          <p:nvPicPr>
            <p:cNvPr id="8" name="Picture 7">
              <a:extLst>
                <a:ext uri="{FF2B5EF4-FFF2-40B4-BE49-F238E27FC236}">
                  <a16:creationId xmlns:a16="http://schemas.microsoft.com/office/drawing/2014/main" id="{1DE470EC-63B6-B4F2-23DC-DAE59AE8CBA5}"/>
                </a:ext>
              </a:extLst>
            </p:cNvPr>
            <p:cNvPicPr>
              <a:picLocks noChangeAspect="1"/>
            </p:cNvPicPr>
            <p:nvPr/>
          </p:nvPicPr>
          <p:blipFill>
            <a:blip r:embed="rId2"/>
            <a:stretch>
              <a:fillRect/>
            </a:stretch>
          </p:blipFill>
          <p:spPr>
            <a:xfrm>
              <a:off x="1023086" y="1000058"/>
              <a:ext cx="9896960" cy="5119117"/>
            </a:xfrm>
            <a:prstGeom prst="rect">
              <a:avLst/>
            </a:prstGeom>
          </p:spPr>
        </p:pic>
        <p:grpSp>
          <p:nvGrpSpPr>
            <p:cNvPr id="13" name="Group 12">
              <a:extLst>
                <a:ext uri="{FF2B5EF4-FFF2-40B4-BE49-F238E27FC236}">
                  <a16:creationId xmlns:a16="http://schemas.microsoft.com/office/drawing/2014/main" id="{6BB431FA-873E-EBCC-4574-958B94F0BC51}"/>
                </a:ext>
              </a:extLst>
            </p:cNvPr>
            <p:cNvGrpSpPr/>
            <p:nvPr/>
          </p:nvGrpSpPr>
          <p:grpSpPr>
            <a:xfrm>
              <a:off x="450333" y="5962083"/>
              <a:ext cx="2841508" cy="622911"/>
              <a:chOff x="1917354" y="3770354"/>
              <a:chExt cx="3669244" cy="804366"/>
            </a:xfrm>
          </p:grpSpPr>
          <p:sp>
            <p:nvSpPr>
              <p:cNvPr id="14" name="Rounded Rectangle 17">
                <a:extLst>
                  <a:ext uri="{FF2B5EF4-FFF2-40B4-BE49-F238E27FC236}">
                    <a16:creationId xmlns:a16="http://schemas.microsoft.com/office/drawing/2014/main" id="{99F0DDD1-F7A7-B5F3-2202-7A1BF63370F4}"/>
                  </a:ext>
                </a:extLst>
              </p:cNvPr>
              <p:cNvSpPr/>
              <p:nvPr/>
            </p:nvSpPr>
            <p:spPr>
              <a:xfrm>
                <a:off x="1917354" y="3770354"/>
                <a:ext cx="3669244"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625475" algn="ctr"/>
                <a:r>
                  <a:rPr lang="en-US" sz="2000" b="1" dirty="0"/>
                  <a:t>Revenue Velocity</a:t>
                </a:r>
              </a:p>
            </p:txBody>
          </p:sp>
          <p:grpSp>
            <p:nvGrpSpPr>
              <p:cNvPr id="15" name="Group 14">
                <a:extLst>
                  <a:ext uri="{FF2B5EF4-FFF2-40B4-BE49-F238E27FC236}">
                    <a16:creationId xmlns:a16="http://schemas.microsoft.com/office/drawing/2014/main" id="{FDF64D43-1600-BBB4-9131-10650229D255}"/>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29674A0B-52B8-2060-6DA4-80FDEC2859CB}"/>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30D0A6FC-8529-D0BA-48E0-74481E0AB3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sp>
        <p:nvSpPr>
          <p:cNvPr id="6" name="Rectangle: Rounded Corners 5">
            <a:extLst>
              <a:ext uri="{FF2B5EF4-FFF2-40B4-BE49-F238E27FC236}">
                <a16:creationId xmlns:a16="http://schemas.microsoft.com/office/drawing/2014/main" id="{E7AD6A6B-18D8-1640-3430-F7FC5840FB33}"/>
              </a:ext>
            </a:extLst>
          </p:cNvPr>
          <p:cNvSpPr/>
          <p:nvPr/>
        </p:nvSpPr>
        <p:spPr>
          <a:xfrm>
            <a:off x="6866950" y="3046274"/>
            <a:ext cx="5048647"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3A4358-FF31-7626-CD71-BD5B95102DCA}"/>
              </a:ext>
            </a:extLst>
          </p:cNvPr>
          <p:cNvSpPr txBox="1"/>
          <p:nvPr/>
        </p:nvSpPr>
        <p:spPr>
          <a:xfrm>
            <a:off x="7195038" y="4035701"/>
            <a:ext cx="4308615" cy="923330"/>
          </a:xfrm>
          <a:prstGeom prst="rect">
            <a:avLst/>
          </a:prstGeom>
          <a:noFill/>
        </p:spPr>
        <p:txBody>
          <a:bodyPr wrap="none" rtlCol="0">
            <a:spAutoFit/>
          </a:bodyPr>
          <a:lstStyle/>
          <a:p>
            <a:r>
              <a:rPr lang="en-US" b="1" dirty="0"/>
              <a:t>Coin Currency Processing Management</a:t>
            </a:r>
          </a:p>
          <a:p>
            <a:endParaRPr lang="en-US" sz="2000" b="1" dirty="0"/>
          </a:p>
          <a:p>
            <a:r>
              <a:rPr lang="en-US" sz="1600" b="1" dirty="0">
                <a:solidFill>
                  <a:schemeClr val="accent6">
                    <a:lumMod val="75000"/>
                  </a:schemeClr>
                </a:solidFill>
              </a:rPr>
              <a:t>$100M+/mo </a:t>
            </a:r>
            <a:r>
              <a:rPr lang="en-US" sz="1600" b="1" dirty="0"/>
              <a:t>Coin Processing Order Flows</a:t>
            </a:r>
          </a:p>
        </p:txBody>
      </p:sp>
      <p:pic>
        <p:nvPicPr>
          <p:cNvPr id="10" name="Picture 9">
            <a:extLst>
              <a:ext uri="{FF2B5EF4-FFF2-40B4-BE49-F238E27FC236}">
                <a16:creationId xmlns:a16="http://schemas.microsoft.com/office/drawing/2014/main" id="{AF1405DF-12EB-8F9A-221E-C9516FA661D6}"/>
              </a:ext>
            </a:extLst>
          </p:cNvPr>
          <p:cNvPicPr>
            <a:picLocks noChangeAspect="1"/>
          </p:cNvPicPr>
          <p:nvPr/>
        </p:nvPicPr>
        <p:blipFill>
          <a:blip r:embed="rId4"/>
          <a:stretch>
            <a:fillRect/>
          </a:stretch>
        </p:blipFill>
        <p:spPr>
          <a:xfrm>
            <a:off x="7082720" y="3345887"/>
            <a:ext cx="2015559" cy="636493"/>
          </a:xfrm>
          <a:prstGeom prst="rect">
            <a:avLst/>
          </a:prstGeom>
        </p:spPr>
      </p:pic>
    </p:spTree>
    <p:extLst>
      <p:ext uri="{BB962C8B-B14F-4D97-AF65-F5344CB8AC3E}">
        <p14:creationId xmlns:p14="http://schemas.microsoft.com/office/powerpoint/2010/main" val="329152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2751A-E9C4-7803-569B-1CB62A1F45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05CE1A-F1D3-CEDB-4B3C-269599423161}"/>
              </a:ext>
            </a:extLst>
          </p:cNvPr>
          <p:cNvSpPr txBox="1"/>
          <p:nvPr/>
        </p:nvSpPr>
        <p:spPr>
          <a:xfrm>
            <a:off x="764930" y="1441938"/>
            <a:ext cx="10756510" cy="2800767"/>
          </a:xfrm>
          <a:prstGeom prst="rect">
            <a:avLst/>
          </a:prstGeom>
          <a:noFill/>
        </p:spPr>
        <p:txBody>
          <a:bodyPr wrap="square" rtlCol="0">
            <a:spAutoFit/>
          </a:bodyPr>
          <a:lstStyle/>
          <a:p>
            <a:r>
              <a:rPr lang="en-US" sz="1600" b="1" dirty="0"/>
              <a:t>Challenge:</a:t>
            </a:r>
          </a:p>
          <a:p>
            <a:r>
              <a:rPr lang="en-US" sz="1600" dirty="0"/>
              <a:t>Digitally transform internal operations for national coin processing and servicing operation</a:t>
            </a:r>
          </a:p>
          <a:p>
            <a:endParaRPr lang="en-US" sz="1600" dirty="0"/>
          </a:p>
          <a:p>
            <a:endParaRPr lang="en-US" sz="1600" dirty="0"/>
          </a:p>
          <a:p>
            <a:r>
              <a:rPr lang="en-US" sz="1600" b="1" dirty="0"/>
              <a:t>Target:</a:t>
            </a:r>
          </a:p>
          <a:p>
            <a:r>
              <a:rPr lang="en-US" sz="1600" dirty="0"/>
              <a:t>Expedite coin packaging turns and increase overall business velocity</a:t>
            </a:r>
          </a:p>
          <a:p>
            <a:endParaRPr lang="en-US" sz="1600" dirty="0"/>
          </a:p>
          <a:p>
            <a:endParaRPr lang="en-US" sz="1600" dirty="0"/>
          </a:p>
          <a:p>
            <a:r>
              <a:rPr lang="en-US" sz="1600" b="1" dirty="0"/>
              <a:t>Outcome:</a:t>
            </a:r>
          </a:p>
          <a:p>
            <a:r>
              <a:rPr lang="en-US" sz="1600" dirty="0"/>
              <a:t>$100M+/mo in fully-auditable coin packaging orders, creation of new business line for transportation coordination, increased billing accuracy and speed  </a:t>
            </a:r>
          </a:p>
        </p:txBody>
      </p:sp>
      <p:pic>
        <p:nvPicPr>
          <p:cNvPr id="3" name="Picture 2">
            <a:extLst>
              <a:ext uri="{FF2B5EF4-FFF2-40B4-BE49-F238E27FC236}">
                <a16:creationId xmlns:a16="http://schemas.microsoft.com/office/drawing/2014/main" id="{0E69BAB5-39E8-BA2A-52D1-F0C436BDAD30}"/>
              </a:ext>
            </a:extLst>
          </p:cNvPr>
          <p:cNvPicPr>
            <a:picLocks noChangeAspect="1"/>
          </p:cNvPicPr>
          <p:nvPr/>
        </p:nvPicPr>
        <p:blipFill>
          <a:blip r:embed="rId2"/>
          <a:stretch>
            <a:fillRect/>
          </a:stretch>
        </p:blipFill>
        <p:spPr>
          <a:xfrm>
            <a:off x="764930" y="602687"/>
            <a:ext cx="2015559" cy="636493"/>
          </a:xfrm>
          <a:prstGeom prst="rect">
            <a:avLst/>
          </a:prstGeom>
        </p:spPr>
      </p:pic>
    </p:spTree>
    <p:extLst>
      <p:ext uri="{BB962C8B-B14F-4D97-AF65-F5344CB8AC3E}">
        <p14:creationId xmlns:p14="http://schemas.microsoft.com/office/powerpoint/2010/main" val="1636024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C261EC-2151-3BD8-21B0-C528C96EE029}"/>
              </a:ext>
            </a:extLst>
          </p:cNvPr>
          <p:cNvSpPr txBox="1"/>
          <p:nvPr/>
        </p:nvSpPr>
        <p:spPr>
          <a:xfrm>
            <a:off x="538480" y="340360"/>
            <a:ext cx="993285" cy="369332"/>
          </a:xfrm>
          <a:prstGeom prst="rect">
            <a:avLst/>
          </a:prstGeom>
          <a:noFill/>
        </p:spPr>
        <p:txBody>
          <a:bodyPr wrap="none" rtlCol="0">
            <a:spAutoFit/>
          </a:bodyPr>
          <a:lstStyle/>
          <a:p>
            <a:r>
              <a:rPr lang="en-US" dirty="0"/>
              <a:t>Contact</a:t>
            </a:r>
          </a:p>
        </p:txBody>
      </p:sp>
      <p:sp>
        <p:nvSpPr>
          <p:cNvPr id="3" name="TextBox 2">
            <a:extLst>
              <a:ext uri="{FF2B5EF4-FFF2-40B4-BE49-F238E27FC236}">
                <a16:creationId xmlns:a16="http://schemas.microsoft.com/office/drawing/2014/main" id="{A5B47BA3-A493-9C2A-7B60-8E754CDC4A6C}"/>
              </a:ext>
            </a:extLst>
          </p:cNvPr>
          <p:cNvSpPr txBox="1"/>
          <p:nvPr/>
        </p:nvSpPr>
        <p:spPr>
          <a:xfrm>
            <a:off x="786219" y="1019016"/>
            <a:ext cx="6216352" cy="1138773"/>
          </a:xfrm>
          <a:prstGeom prst="rect">
            <a:avLst/>
          </a:prstGeom>
          <a:noFill/>
        </p:spPr>
        <p:txBody>
          <a:bodyPr wrap="square" rtlCol="0">
            <a:spAutoFit/>
          </a:bodyPr>
          <a:lstStyle/>
          <a:p>
            <a:r>
              <a:rPr lang="en-US" sz="2000" b="1" dirty="0">
                <a:solidFill>
                  <a:schemeClr val="accent3"/>
                </a:solidFill>
              </a:rPr>
              <a:t>What’s Next?</a:t>
            </a:r>
          </a:p>
          <a:p>
            <a:r>
              <a:rPr lang="en-US" sz="1600" dirty="0"/>
              <a:t>Tell us what you're trying to move — margin, velocity, compliance, onboarding time, loss rate. A 30-minute working session is usually the fastest way to know if there's a fit.</a:t>
            </a:r>
          </a:p>
        </p:txBody>
      </p:sp>
      <p:sp>
        <p:nvSpPr>
          <p:cNvPr id="4" name="TextBox 3">
            <a:extLst>
              <a:ext uri="{FF2B5EF4-FFF2-40B4-BE49-F238E27FC236}">
                <a16:creationId xmlns:a16="http://schemas.microsoft.com/office/drawing/2014/main" id="{C14866DC-DB49-3732-CDA2-4A4D6085A5C0}"/>
              </a:ext>
            </a:extLst>
          </p:cNvPr>
          <p:cNvSpPr txBox="1"/>
          <p:nvPr/>
        </p:nvSpPr>
        <p:spPr>
          <a:xfrm>
            <a:off x="8540661" y="891812"/>
            <a:ext cx="2865120" cy="1200329"/>
          </a:xfrm>
          <a:prstGeom prst="rect">
            <a:avLst/>
          </a:prstGeom>
          <a:noFill/>
        </p:spPr>
        <p:txBody>
          <a:bodyPr wrap="square" rtlCol="0">
            <a:spAutoFit/>
          </a:bodyPr>
          <a:lstStyle/>
          <a:p>
            <a:r>
              <a:rPr lang="en-US" dirty="0"/>
              <a:t>CoorWorks</a:t>
            </a:r>
          </a:p>
          <a:p>
            <a:r>
              <a:rPr lang="en-US" dirty="0"/>
              <a:t>1069 W Broad Street #813</a:t>
            </a:r>
          </a:p>
          <a:p>
            <a:r>
              <a:rPr lang="en-US" dirty="0"/>
              <a:t>Falls Church, VA 22046</a:t>
            </a:r>
          </a:p>
          <a:p>
            <a:r>
              <a:rPr lang="en-US" dirty="0"/>
              <a:t>703-200-6225</a:t>
            </a:r>
          </a:p>
        </p:txBody>
      </p:sp>
      <p:sp>
        <p:nvSpPr>
          <p:cNvPr id="6" name="TextBox 5">
            <a:extLst>
              <a:ext uri="{FF2B5EF4-FFF2-40B4-BE49-F238E27FC236}">
                <a16:creationId xmlns:a16="http://schemas.microsoft.com/office/drawing/2014/main" id="{20F8D6F3-E098-EE40-4BF7-A0B8FD25A22C}"/>
              </a:ext>
            </a:extLst>
          </p:cNvPr>
          <p:cNvSpPr txBox="1"/>
          <p:nvPr/>
        </p:nvSpPr>
        <p:spPr>
          <a:xfrm>
            <a:off x="899987" y="2228353"/>
            <a:ext cx="790601" cy="369332"/>
          </a:xfrm>
          <a:prstGeom prst="rect">
            <a:avLst/>
          </a:prstGeom>
          <a:noFill/>
        </p:spPr>
        <p:txBody>
          <a:bodyPr wrap="none" rtlCol="0">
            <a:spAutoFit/>
          </a:bodyPr>
          <a:lstStyle/>
          <a:p>
            <a:r>
              <a:rPr lang="en-US" dirty="0"/>
              <a:t>Name</a:t>
            </a:r>
          </a:p>
        </p:txBody>
      </p:sp>
      <p:sp>
        <p:nvSpPr>
          <p:cNvPr id="8" name="Rectangle: Rounded Corners 7">
            <a:extLst>
              <a:ext uri="{FF2B5EF4-FFF2-40B4-BE49-F238E27FC236}">
                <a16:creationId xmlns:a16="http://schemas.microsoft.com/office/drawing/2014/main" id="{D2488EF9-F25A-3C89-B58A-C1CC8F0E0B45}"/>
              </a:ext>
            </a:extLst>
          </p:cNvPr>
          <p:cNvSpPr/>
          <p:nvPr/>
        </p:nvSpPr>
        <p:spPr>
          <a:xfrm>
            <a:off x="1006087" y="2597685"/>
            <a:ext cx="3362960" cy="4049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4A7E9AE-9E80-1A85-8B0C-400A4C6B09F2}"/>
              </a:ext>
            </a:extLst>
          </p:cNvPr>
          <p:cNvSpPr txBox="1"/>
          <p:nvPr/>
        </p:nvSpPr>
        <p:spPr>
          <a:xfrm>
            <a:off x="899987" y="3187859"/>
            <a:ext cx="747320" cy="369332"/>
          </a:xfrm>
          <a:prstGeom prst="rect">
            <a:avLst/>
          </a:prstGeom>
          <a:noFill/>
        </p:spPr>
        <p:txBody>
          <a:bodyPr wrap="none" rtlCol="0">
            <a:spAutoFit/>
          </a:bodyPr>
          <a:lstStyle/>
          <a:p>
            <a:r>
              <a:rPr lang="en-US" dirty="0"/>
              <a:t>Email</a:t>
            </a:r>
          </a:p>
        </p:txBody>
      </p:sp>
      <p:sp>
        <p:nvSpPr>
          <p:cNvPr id="10" name="Rectangle: Rounded Corners 9">
            <a:extLst>
              <a:ext uri="{FF2B5EF4-FFF2-40B4-BE49-F238E27FC236}">
                <a16:creationId xmlns:a16="http://schemas.microsoft.com/office/drawing/2014/main" id="{ED44A9E7-A35D-47CD-25B5-468F5DD4C78E}"/>
              </a:ext>
            </a:extLst>
          </p:cNvPr>
          <p:cNvSpPr/>
          <p:nvPr/>
        </p:nvSpPr>
        <p:spPr>
          <a:xfrm>
            <a:off x="1006087" y="3557191"/>
            <a:ext cx="3362960" cy="4049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4407121-49E5-DAE1-A502-5AFCCEF95775}"/>
              </a:ext>
            </a:extLst>
          </p:cNvPr>
          <p:cNvSpPr/>
          <p:nvPr/>
        </p:nvSpPr>
        <p:spPr>
          <a:xfrm>
            <a:off x="1006086" y="4516697"/>
            <a:ext cx="5167659" cy="1704536"/>
          </a:xfrm>
          <a:prstGeom prst="roundRect">
            <a:avLst>
              <a:gd name="adj" fmla="val 41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B7541DC-A297-79ED-ECC6-87FDC4883B76}"/>
              </a:ext>
            </a:extLst>
          </p:cNvPr>
          <p:cNvSpPr txBox="1"/>
          <p:nvPr/>
        </p:nvSpPr>
        <p:spPr>
          <a:xfrm>
            <a:off x="899986" y="4147365"/>
            <a:ext cx="1189749" cy="369332"/>
          </a:xfrm>
          <a:prstGeom prst="rect">
            <a:avLst/>
          </a:prstGeom>
          <a:noFill/>
        </p:spPr>
        <p:txBody>
          <a:bodyPr wrap="none" rtlCol="0">
            <a:spAutoFit/>
          </a:bodyPr>
          <a:lstStyle/>
          <a:p>
            <a:r>
              <a:rPr lang="en-US" dirty="0"/>
              <a:t>Comment</a:t>
            </a:r>
          </a:p>
        </p:txBody>
      </p:sp>
      <p:sp>
        <p:nvSpPr>
          <p:cNvPr id="13" name="Rectangle: Rounded Corners 12">
            <a:extLst>
              <a:ext uri="{FF2B5EF4-FFF2-40B4-BE49-F238E27FC236}">
                <a16:creationId xmlns:a16="http://schemas.microsoft.com/office/drawing/2014/main" id="{4EC3E391-D3E7-8037-62EE-CB90852DE0C5}"/>
              </a:ext>
            </a:extLst>
          </p:cNvPr>
          <p:cNvSpPr/>
          <p:nvPr/>
        </p:nvSpPr>
        <p:spPr>
          <a:xfrm>
            <a:off x="8418443" y="2693504"/>
            <a:ext cx="3250096" cy="8636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Support@Coorworks.com</a:t>
            </a:r>
          </a:p>
        </p:txBody>
      </p:sp>
    </p:spTree>
    <p:extLst>
      <p:ext uri="{BB962C8B-B14F-4D97-AF65-F5344CB8AC3E}">
        <p14:creationId xmlns:p14="http://schemas.microsoft.com/office/powerpoint/2010/main" val="3446400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682</TotalTime>
  <Words>1579</Words>
  <Application>Microsoft Office PowerPoint</Application>
  <PresentationFormat>Widescreen</PresentationFormat>
  <Paragraphs>294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-apple-system</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Borek</dc:creator>
  <cp:lastModifiedBy>Mike Borek</cp:lastModifiedBy>
  <cp:revision>21</cp:revision>
  <dcterms:created xsi:type="dcterms:W3CDTF">2026-04-23T16:19:50Z</dcterms:created>
  <dcterms:modified xsi:type="dcterms:W3CDTF">2026-04-24T03:42:00Z</dcterms:modified>
</cp:coreProperties>
</file>