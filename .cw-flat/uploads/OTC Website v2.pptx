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66" r:id="rId5"/>
    <p:sldId id="267" r:id="rId6"/>
    <p:sldId id="268" r:id="rId7"/>
    <p:sldId id="269" r:id="rId8"/>
    <p:sldId id="271" r:id="rId9"/>
    <p:sldId id="273" r:id="rId10"/>
    <p:sldId id="275" r:id="rId11"/>
    <p:sldId id="274" r:id="rId12"/>
    <p:sldId id="276" r:id="rId13"/>
    <p:sldId id="277" r:id="rId14"/>
    <p:sldId id="279" r:id="rId15"/>
    <p:sldId id="272" r:id="rId16"/>
    <p:sldId id="278" r:id="rId17"/>
    <p:sldId id="265" r:id="rId18"/>
    <p:sldId id="270" r:id="rId19"/>
    <p:sldId id="262" r:id="rId20"/>
    <p:sldId id="260" r:id="rId21"/>
    <p:sldId id="263" r:id="rId22"/>
    <p:sldId id="264" r:id="rId23"/>
    <p:sldId id="26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8"/>
    <a:srgbClr val="02092F"/>
    <a:srgbClr val="EF4423"/>
    <a:srgbClr val="FFFF99"/>
    <a:srgbClr val="00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79" autoAdjust="0"/>
    <p:restoredTop sz="95033" autoAdjust="0"/>
  </p:normalViewPr>
  <p:slideViewPr>
    <p:cSldViewPr snapToGrid="0">
      <p:cViewPr>
        <p:scale>
          <a:sx n="66" d="100"/>
          <a:sy n="66" d="100"/>
        </p:scale>
        <p:origin x="1483" y="6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17B2F7-730A-4140-BAFB-0438F4095DDC}" type="datetimeFigureOut">
              <a:rPr lang="en-US" smtClean="0"/>
              <a:t>4/26/2026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C570B8-4CC2-4B4A-9A88-C135BE1DA9CA}" type="slidenum">
              <a:rPr lang="en-US" smtClean="0"/>
              <a:t>‹#›</a:t>
            </a:fld>
            <a:endParaRPr lang="en-US"/>
          </a:p>
        </p:txBody>
      </p:sp>
    </p:spTree>
    <p:extLst>
      <p:ext uri="{BB962C8B-B14F-4D97-AF65-F5344CB8AC3E}">
        <p14:creationId xmlns:p14="http://schemas.microsoft.com/office/powerpoint/2010/main" val="4141778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C570B8-4CC2-4B4A-9A88-C135BE1DA9CA}" type="slidenum">
              <a:rPr lang="en-US" smtClean="0"/>
              <a:t>15</a:t>
            </a:fld>
            <a:endParaRPr lang="en-US"/>
          </a:p>
        </p:txBody>
      </p:sp>
    </p:spTree>
    <p:extLst>
      <p:ext uri="{BB962C8B-B14F-4D97-AF65-F5344CB8AC3E}">
        <p14:creationId xmlns:p14="http://schemas.microsoft.com/office/powerpoint/2010/main" val="1676411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7BDBC-64F1-3125-76CF-D6745B6328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C10F76-7E05-DCE7-0BF5-C1D3F5ED37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FB0CB6-08E6-2933-F4A5-0A2F5F3E07B8}"/>
              </a:ext>
            </a:extLst>
          </p:cNvPr>
          <p:cNvSpPr>
            <a:spLocks noGrp="1"/>
          </p:cNvSpPr>
          <p:nvPr>
            <p:ph type="dt" sz="half" idx="10"/>
          </p:nvPr>
        </p:nvSpPr>
        <p:spPr/>
        <p:txBody>
          <a:bodyPr/>
          <a:lstStyle/>
          <a:p>
            <a:fld id="{BE63F485-3496-40D1-BF0A-ACCA4391B902}" type="datetimeFigureOut">
              <a:rPr lang="en-US" smtClean="0"/>
              <a:t>4/26/2026</a:t>
            </a:fld>
            <a:endParaRPr lang="en-US"/>
          </a:p>
        </p:txBody>
      </p:sp>
      <p:sp>
        <p:nvSpPr>
          <p:cNvPr id="5" name="Footer Placeholder 4">
            <a:extLst>
              <a:ext uri="{FF2B5EF4-FFF2-40B4-BE49-F238E27FC236}">
                <a16:creationId xmlns:a16="http://schemas.microsoft.com/office/drawing/2014/main" id="{D67DBC00-6178-647A-ECF0-D19B682593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8FA8F0-B728-BE65-7776-B30538B90201}"/>
              </a:ext>
            </a:extLst>
          </p:cNvPr>
          <p:cNvSpPr>
            <a:spLocks noGrp="1"/>
          </p:cNvSpPr>
          <p:nvPr>
            <p:ph type="sldNum" sz="quarter" idx="12"/>
          </p:nvPr>
        </p:nvSpPr>
        <p:spPr/>
        <p:txBody>
          <a:bodyPr/>
          <a:lstStyle/>
          <a:p>
            <a:fld id="{1933D83E-4126-4B61-A08C-EDF77A423BDE}" type="slidenum">
              <a:rPr lang="en-US" smtClean="0"/>
              <a:t>‹#›</a:t>
            </a:fld>
            <a:endParaRPr lang="en-US"/>
          </a:p>
        </p:txBody>
      </p:sp>
    </p:spTree>
    <p:extLst>
      <p:ext uri="{BB962C8B-B14F-4D97-AF65-F5344CB8AC3E}">
        <p14:creationId xmlns:p14="http://schemas.microsoft.com/office/powerpoint/2010/main" val="1903709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AA9DE-67E7-84FB-08EA-4A34922D78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5E897A-939E-A04A-264C-8408BF9EA1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69B95A-B755-6898-1589-0767BB7D1FA1}"/>
              </a:ext>
            </a:extLst>
          </p:cNvPr>
          <p:cNvSpPr>
            <a:spLocks noGrp="1"/>
          </p:cNvSpPr>
          <p:nvPr>
            <p:ph type="dt" sz="half" idx="10"/>
          </p:nvPr>
        </p:nvSpPr>
        <p:spPr/>
        <p:txBody>
          <a:bodyPr/>
          <a:lstStyle/>
          <a:p>
            <a:fld id="{BE63F485-3496-40D1-BF0A-ACCA4391B902}" type="datetimeFigureOut">
              <a:rPr lang="en-US" smtClean="0"/>
              <a:t>4/26/2026</a:t>
            </a:fld>
            <a:endParaRPr lang="en-US"/>
          </a:p>
        </p:txBody>
      </p:sp>
      <p:sp>
        <p:nvSpPr>
          <p:cNvPr id="5" name="Footer Placeholder 4">
            <a:extLst>
              <a:ext uri="{FF2B5EF4-FFF2-40B4-BE49-F238E27FC236}">
                <a16:creationId xmlns:a16="http://schemas.microsoft.com/office/drawing/2014/main" id="{FC5EBAD6-ADC9-B735-9B50-253EBE1A29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A20786-4FCC-7541-FEB8-B58BC132F36F}"/>
              </a:ext>
            </a:extLst>
          </p:cNvPr>
          <p:cNvSpPr>
            <a:spLocks noGrp="1"/>
          </p:cNvSpPr>
          <p:nvPr>
            <p:ph type="sldNum" sz="quarter" idx="12"/>
          </p:nvPr>
        </p:nvSpPr>
        <p:spPr/>
        <p:txBody>
          <a:bodyPr/>
          <a:lstStyle/>
          <a:p>
            <a:fld id="{1933D83E-4126-4B61-A08C-EDF77A423BDE}" type="slidenum">
              <a:rPr lang="en-US" smtClean="0"/>
              <a:t>‹#›</a:t>
            </a:fld>
            <a:endParaRPr lang="en-US"/>
          </a:p>
        </p:txBody>
      </p:sp>
    </p:spTree>
    <p:extLst>
      <p:ext uri="{BB962C8B-B14F-4D97-AF65-F5344CB8AC3E}">
        <p14:creationId xmlns:p14="http://schemas.microsoft.com/office/powerpoint/2010/main" val="2392917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F1E1-9D80-05FE-3F21-48AF6971A0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2CB7C0-D312-1211-34E9-C05FE98FE2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D75246-7ECB-7885-E542-9865B573FCCB}"/>
              </a:ext>
            </a:extLst>
          </p:cNvPr>
          <p:cNvSpPr>
            <a:spLocks noGrp="1"/>
          </p:cNvSpPr>
          <p:nvPr>
            <p:ph type="dt" sz="half" idx="10"/>
          </p:nvPr>
        </p:nvSpPr>
        <p:spPr/>
        <p:txBody>
          <a:bodyPr/>
          <a:lstStyle/>
          <a:p>
            <a:fld id="{BE63F485-3496-40D1-BF0A-ACCA4391B902}" type="datetimeFigureOut">
              <a:rPr lang="en-US" smtClean="0"/>
              <a:t>4/26/2026</a:t>
            </a:fld>
            <a:endParaRPr lang="en-US"/>
          </a:p>
        </p:txBody>
      </p:sp>
      <p:sp>
        <p:nvSpPr>
          <p:cNvPr id="5" name="Footer Placeholder 4">
            <a:extLst>
              <a:ext uri="{FF2B5EF4-FFF2-40B4-BE49-F238E27FC236}">
                <a16:creationId xmlns:a16="http://schemas.microsoft.com/office/drawing/2014/main" id="{83975AED-8BE6-78D1-0C9F-F18B052797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197054-448B-AB71-B967-90CCF9847933}"/>
              </a:ext>
            </a:extLst>
          </p:cNvPr>
          <p:cNvSpPr>
            <a:spLocks noGrp="1"/>
          </p:cNvSpPr>
          <p:nvPr>
            <p:ph type="sldNum" sz="quarter" idx="12"/>
          </p:nvPr>
        </p:nvSpPr>
        <p:spPr/>
        <p:txBody>
          <a:bodyPr/>
          <a:lstStyle/>
          <a:p>
            <a:fld id="{1933D83E-4126-4B61-A08C-EDF77A423BDE}" type="slidenum">
              <a:rPr lang="en-US" smtClean="0"/>
              <a:t>‹#›</a:t>
            </a:fld>
            <a:endParaRPr lang="en-US"/>
          </a:p>
        </p:txBody>
      </p:sp>
    </p:spTree>
    <p:extLst>
      <p:ext uri="{BB962C8B-B14F-4D97-AF65-F5344CB8AC3E}">
        <p14:creationId xmlns:p14="http://schemas.microsoft.com/office/powerpoint/2010/main" val="621533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C749D-5467-2E44-E38F-D987A7150D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A2D573-0D88-3FF6-A626-C020664C14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10D1-1536-7B5D-6B74-35771B5CD9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4741D7-7E48-A424-47F3-777382FAE9CA}"/>
              </a:ext>
            </a:extLst>
          </p:cNvPr>
          <p:cNvSpPr>
            <a:spLocks noGrp="1"/>
          </p:cNvSpPr>
          <p:nvPr>
            <p:ph type="dt" sz="half" idx="10"/>
          </p:nvPr>
        </p:nvSpPr>
        <p:spPr/>
        <p:txBody>
          <a:bodyPr/>
          <a:lstStyle/>
          <a:p>
            <a:fld id="{BE63F485-3496-40D1-BF0A-ACCA4391B902}" type="datetimeFigureOut">
              <a:rPr lang="en-US" smtClean="0"/>
              <a:t>4/26/2026</a:t>
            </a:fld>
            <a:endParaRPr lang="en-US"/>
          </a:p>
        </p:txBody>
      </p:sp>
      <p:sp>
        <p:nvSpPr>
          <p:cNvPr id="6" name="Footer Placeholder 5">
            <a:extLst>
              <a:ext uri="{FF2B5EF4-FFF2-40B4-BE49-F238E27FC236}">
                <a16:creationId xmlns:a16="http://schemas.microsoft.com/office/drawing/2014/main" id="{020C3905-EEE8-42C3-6477-D90C92401F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8FDD8F-CEFA-BD2F-C3C2-C883B0E144D5}"/>
              </a:ext>
            </a:extLst>
          </p:cNvPr>
          <p:cNvSpPr>
            <a:spLocks noGrp="1"/>
          </p:cNvSpPr>
          <p:nvPr>
            <p:ph type="sldNum" sz="quarter" idx="12"/>
          </p:nvPr>
        </p:nvSpPr>
        <p:spPr/>
        <p:txBody>
          <a:bodyPr/>
          <a:lstStyle/>
          <a:p>
            <a:fld id="{1933D83E-4126-4B61-A08C-EDF77A423BDE}" type="slidenum">
              <a:rPr lang="en-US" smtClean="0"/>
              <a:t>‹#›</a:t>
            </a:fld>
            <a:endParaRPr lang="en-US"/>
          </a:p>
        </p:txBody>
      </p:sp>
    </p:spTree>
    <p:extLst>
      <p:ext uri="{BB962C8B-B14F-4D97-AF65-F5344CB8AC3E}">
        <p14:creationId xmlns:p14="http://schemas.microsoft.com/office/powerpoint/2010/main" val="2521320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818B8-760E-9D67-C24A-103D8E3E45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05B6F1-1B1C-93C9-675D-794CC5210C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99E446-F1BE-E562-0F24-33C68BC732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F59FB4-096D-A50E-F2D7-C3BF1A4B7C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F4BAD1-9F41-C14D-E602-1349A97AA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E0BC00-979E-4FAE-9C4F-FD425828CA7E}"/>
              </a:ext>
            </a:extLst>
          </p:cNvPr>
          <p:cNvSpPr>
            <a:spLocks noGrp="1"/>
          </p:cNvSpPr>
          <p:nvPr>
            <p:ph type="dt" sz="half" idx="10"/>
          </p:nvPr>
        </p:nvSpPr>
        <p:spPr/>
        <p:txBody>
          <a:bodyPr/>
          <a:lstStyle/>
          <a:p>
            <a:fld id="{BE63F485-3496-40D1-BF0A-ACCA4391B902}" type="datetimeFigureOut">
              <a:rPr lang="en-US" smtClean="0"/>
              <a:t>4/26/2026</a:t>
            </a:fld>
            <a:endParaRPr lang="en-US"/>
          </a:p>
        </p:txBody>
      </p:sp>
      <p:sp>
        <p:nvSpPr>
          <p:cNvPr id="8" name="Footer Placeholder 7">
            <a:extLst>
              <a:ext uri="{FF2B5EF4-FFF2-40B4-BE49-F238E27FC236}">
                <a16:creationId xmlns:a16="http://schemas.microsoft.com/office/drawing/2014/main" id="{0E61503B-0714-7428-974F-F5C8321173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3987C53-B21B-9AE0-0C62-8A318350E9BA}"/>
              </a:ext>
            </a:extLst>
          </p:cNvPr>
          <p:cNvSpPr>
            <a:spLocks noGrp="1"/>
          </p:cNvSpPr>
          <p:nvPr>
            <p:ph type="sldNum" sz="quarter" idx="12"/>
          </p:nvPr>
        </p:nvSpPr>
        <p:spPr/>
        <p:txBody>
          <a:bodyPr/>
          <a:lstStyle/>
          <a:p>
            <a:fld id="{1933D83E-4126-4B61-A08C-EDF77A423BDE}" type="slidenum">
              <a:rPr lang="en-US" smtClean="0"/>
              <a:t>‹#›</a:t>
            </a:fld>
            <a:endParaRPr lang="en-US"/>
          </a:p>
        </p:txBody>
      </p:sp>
    </p:spTree>
    <p:extLst>
      <p:ext uri="{BB962C8B-B14F-4D97-AF65-F5344CB8AC3E}">
        <p14:creationId xmlns:p14="http://schemas.microsoft.com/office/powerpoint/2010/main" val="357974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C3074-F939-A8DF-9FB2-ABBE1AFB9E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DF8B16-657D-9A6A-3192-06309853B5AC}"/>
              </a:ext>
            </a:extLst>
          </p:cNvPr>
          <p:cNvSpPr>
            <a:spLocks noGrp="1"/>
          </p:cNvSpPr>
          <p:nvPr>
            <p:ph type="dt" sz="half" idx="10"/>
          </p:nvPr>
        </p:nvSpPr>
        <p:spPr/>
        <p:txBody>
          <a:bodyPr/>
          <a:lstStyle/>
          <a:p>
            <a:fld id="{BE63F485-3496-40D1-BF0A-ACCA4391B902}" type="datetimeFigureOut">
              <a:rPr lang="en-US" smtClean="0"/>
              <a:t>4/26/2026</a:t>
            </a:fld>
            <a:endParaRPr lang="en-US"/>
          </a:p>
        </p:txBody>
      </p:sp>
      <p:sp>
        <p:nvSpPr>
          <p:cNvPr id="4" name="Footer Placeholder 3">
            <a:extLst>
              <a:ext uri="{FF2B5EF4-FFF2-40B4-BE49-F238E27FC236}">
                <a16:creationId xmlns:a16="http://schemas.microsoft.com/office/drawing/2014/main" id="{4E88D1C7-31E1-67BD-B2A9-EE29B06C17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211106-4D10-B967-6092-FB4971BE0674}"/>
              </a:ext>
            </a:extLst>
          </p:cNvPr>
          <p:cNvSpPr>
            <a:spLocks noGrp="1"/>
          </p:cNvSpPr>
          <p:nvPr>
            <p:ph type="sldNum" sz="quarter" idx="12"/>
          </p:nvPr>
        </p:nvSpPr>
        <p:spPr/>
        <p:txBody>
          <a:bodyPr/>
          <a:lstStyle/>
          <a:p>
            <a:fld id="{1933D83E-4126-4B61-A08C-EDF77A423BDE}" type="slidenum">
              <a:rPr lang="en-US" smtClean="0"/>
              <a:t>‹#›</a:t>
            </a:fld>
            <a:endParaRPr lang="en-US"/>
          </a:p>
        </p:txBody>
      </p:sp>
    </p:spTree>
    <p:extLst>
      <p:ext uri="{BB962C8B-B14F-4D97-AF65-F5344CB8AC3E}">
        <p14:creationId xmlns:p14="http://schemas.microsoft.com/office/powerpoint/2010/main" val="1037989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122EAB-C303-421F-DE9F-7C171DC91ED9}"/>
              </a:ext>
            </a:extLst>
          </p:cNvPr>
          <p:cNvSpPr>
            <a:spLocks noGrp="1"/>
          </p:cNvSpPr>
          <p:nvPr>
            <p:ph type="dt" sz="half" idx="10"/>
          </p:nvPr>
        </p:nvSpPr>
        <p:spPr/>
        <p:txBody>
          <a:bodyPr/>
          <a:lstStyle/>
          <a:p>
            <a:fld id="{BE63F485-3496-40D1-BF0A-ACCA4391B902}" type="datetimeFigureOut">
              <a:rPr lang="en-US" smtClean="0"/>
              <a:t>4/26/2026</a:t>
            </a:fld>
            <a:endParaRPr lang="en-US"/>
          </a:p>
        </p:txBody>
      </p:sp>
      <p:sp>
        <p:nvSpPr>
          <p:cNvPr id="3" name="Footer Placeholder 2">
            <a:extLst>
              <a:ext uri="{FF2B5EF4-FFF2-40B4-BE49-F238E27FC236}">
                <a16:creationId xmlns:a16="http://schemas.microsoft.com/office/drawing/2014/main" id="{2D87429F-A066-78AB-1B3C-D5117BCD16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440672-622D-A53D-4877-AE8C07C9C173}"/>
              </a:ext>
            </a:extLst>
          </p:cNvPr>
          <p:cNvSpPr>
            <a:spLocks noGrp="1"/>
          </p:cNvSpPr>
          <p:nvPr>
            <p:ph type="sldNum" sz="quarter" idx="12"/>
          </p:nvPr>
        </p:nvSpPr>
        <p:spPr/>
        <p:txBody>
          <a:bodyPr/>
          <a:lstStyle/>
          <a:p>
            <a:fld id="{1933D83E-4126-4B61-A08C-EDF77A423BDE}" type="slidenum">
              <a:rPr lang="en-US" smtClean="0"/>
              <a:t>‹#›</a:t>
            </a:fld>
            <a:endParaRPr lang="en-US"/>
          </a:p>
        </p:txBody>
      </p:sp>
    </p:spTree>
    <p:extLst>
      <p:ext uri="{BB962C8B-B14F-4D97-AF65-F5344CB8AC3E}">
        <p14:creationId xmlns:p14="http://schemas.microsoft.com/office/powerpoint/2010/main" val="2293671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2AF08-720F-ECA4-3545-BA3B93D8C7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143BD9-6042-E16A-3415-116712411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91465D-715E-D9CD-AD6F-C2C7E1F93D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163FBA-0539-6FA4-89CD-7EF1D221D397}"/>
              </a:ext>
            </a:extLst>
          </p:cNvPr>
          <p:cNvSpPr>
            <a:spLocks noGrp="1"/>
          </p:cNvSpPr>
          <p:nvPr>
            <p:ph type="dt" sz="half" idx="10"/>
          </p:nvPr>
        </p:nvSpPr>
        <p:spPr/>
        <p:txBody>
          <a:bodyPr/>
          <a:lstStyle/>
          <a:p>
            <a:fld id="{BE63F485-3496-40D1-BF0A-ACCA4391B902}" type="datetimeFigureOut">
              <a:rPr lang="en-US" smtClean="0"/>
              <a:t>4/26/2026</a:t>
            </a:fld>
            <a:endParaRPr lang="en-US"/>
          </a:p>
        </p:txBody>
      </p:sp>
      <p:sp>
        <p:nvSpPr>
          <p:cNvPr id="6" name="Footer Placeholder 5">
            <a:extLst>
              <a:ext uri="{FF2B5EF4-FFF2-40B4-BE49-F238E27FC236}">
                <a16:creationId xmlns:a16="http://schemas.microsoft.com/office/drawing/2014/main" id="{34DCA9DC-B4BC-F0B9-F5E7-C094B8BEFD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52F9FF-2838-86FA-0E31-ECED117E5DDD}"/>
              </a:ext>
            </a:extLst>
          </p:cNvPr>
          <p:cNvSpPr>
            <a:spLocks noGrp="1"/>
          </p:cNvSpPr>
          <p:nvPr>
            <p:ph type="sldNum" sz="quarter" idx="12"/>
          </p:nvPr>
        </p:nvSpPr>
        <p:spPr/>
        <p:txBody>
          <a:bodyPr/>
          <a:lstStyle/>
          <a:p>
            <a:fld id="{1933D83E-4126-4B61-A08C-EDF77A423BDE}" type="slidenum">
              <a:rPr lang="en-US" smtClean="0"/>
              <a:t>‹#›</a:t>
            </a:fld>
            <a:endParaRPr lang="en-US"/>
          </a:p>
        </p:txBody>
      </p:sp>
    </p:spTree>
    <p:extLst>
      <p:ext uri="{BB962C8B-B14F-4D97-AF65-F5344CB8AC3E}">
        <p14:creationId xmlns:p14="http://schemas.microsoft.com/office/powerpoint/2010/main" val="2860992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A63E0-69D2-98B5-952C-E5C699367E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9EE747-7DBB-D06E-6CEE-B2B24FF710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1491DF-21E6-9746-386E-9CA585810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E52B91-C7E1-A055-4A56-3868E6920CC9}"/>
              </a:ext>
            </a:extLst>
          </p:cNvPr>
          <p:cNvSpPr>
            <a:spLocks noGrp="1"/>
          </p:cNvSpPr>
          <p:nvPr>
            <p:ph type="dt" sz="half" idx="10"/>
          </p:nvPr>
        </p:nvSpPr>
        <p:spPr/>
        <p:txBody>
          <a:bodyPr/>
          <a:lstStyle/>
          <a:p>
            <a:fld id="{BE63F485-3496-40D1-BF0A-ACCA4391B902}" type="datetimeFigureOut">
              <a:rPr lang="en-US" smtClean="0"/>
              <a:t>4/26/2026</a:t>
            </a:fld>
            <a:endParaRPr lang="en-US"/>
          </a:p>
        </p:txBody>
      </p:sp>
      <p:sp>
        <p:nvSpPr>
          <p:cNvPr id="6" name="Footer Placeholder 5">
            <a:extLst>
              <a:ext uri="{FF2B5EF4-FFF2-40B4-BE49-F238E27FC236}">
                <a16:creationId xmlns:a16="http://schemas.microsoft.com/office/drawing/2014/main" id="{CAAC5DE9-9F18-E470-B44C-E8B595BE8E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533E1F-BC42-43B4-A2DC-F7C352597E32}"/>
              </a:ext>
            </a:extLst>
          </p:cNvPr>
          <p:cNvSpPr>
            <a:spLocks noGrp="1"/>
          </p:cNvSpPr>
          <p:nvPr>
            <p:ph type="sldNum" sz="quarter" idx="12"/>
          </p:nvPr>
        </p:nvSpPr>
        <p:spPr/>
        <p:txBody>
          <a:bodyPr/>
          <a:lstStyle/>
          <a:p>
            <a:fld id="{1933D83E-4126-4B61-A08C-EDF77A423BDE}" type="slidenum">
              <a:rPr lang="en-US" smtClean="0"/>
              <a:t>‹#›</a:t>
            </a:fld>
            <a:endParaRPr lang="en-US"/>
          </a:p>
        </p:txBody>
      </p:sp>
    </p:spTree>
    <p:extLst>
      <p:ext uri="{BB962C8B-B14F-4D97-AF65-F5344CB8AC3E}">
        <p14:creationId xmlns:p14="http://schemas.microsoft.com/office/powerpoint/2010/main" val="1893743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CB5B-8313-D0C9-6801-0D1E8F38CD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73C3EC-BC43-9DDD-8536-3A984C5CB9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B1208F-0360-E2C3-DDF3-DF977A047EE2}"/>
              </a:ext>
            </a:extLst>
          </p:cNvPr>
          <p:cNvSpPr>
            <a:spLocks noGrp="1"/>
          </p:cNvSpPr>
          <p:nvPr>
            <p:ph type="dt" sz="half" idx="10"/>
          </p:nvPr>
        </p:nvSpPr>
        <p:spPr/>
        <p:txBody>
          <a:bodyPr/>
          <a:lstStyle/>
          <a:p>
            <a:fld id="{BE63F485-3496-40D1-BF0A-ACCA4391B902}" type="datetimeFigureOut">
              <a:rPr lang="en-US" smtClean="0"/>
              <a:t>4/26/2026</a:t>
            </a:fld>
            <a:endParaRPr lang="en-US"/>
          </a:p>
        </p:txBody>
      </p:sp>
      <p:sp>
        <p:nvSpPr>
          <p:cNvPr id="5" name="Footer Placeholder 4">
            <a:extLst>
              <a:ext uri="{FF2B5EF4-FFF2-40B4-BE49-F238E27FC236}">
                <a16:creationId xmlns:a16="http://schemas.microsoft.com/office/drawing/2014/main" id="{F4551F7A-683E-C99C-AC98-E4B7E8D1FB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6C378A-42F2-BE62-ECD7-AB13E26304FD}"/>
              </a:ext>
            </a:extLst>
          </p:cNvPr>
          <p:cNvSpPr>
            <a:spLocks noGrp="1"/>
          </p:cNvSpPr>
          <p:nvPr>
            <p:ph type="sldNum" sz="quarter" idx="12"/>
          </p:nvPr>
        </p:nvSpPr>
        <p:spPr/>
        <p:txBody>
          <a:bodyPr/>
          <a:lstStyle/>
          <a:p>
            <a:fld id="{1933D83E-4126-4B61-A08C-EDF77A423BDE}" type="slidenum">
              <a:rPr lang="en-US" smtClean="0"/>
              <a:t>‹#›</a:t>
            </a:fld>
            <a:endParaRPr lang="en-US"/>
          </a:p>
        </p:txBody>
      </p:sp>
    </p:spTree>
    <p:extLst>
      <p:ext uri="{BB962C8B-B14F-4D97-AF65-F5344CB8AC3E}">
        <p14:creationId xmlns:p14="http://schemas.microsoft.com/office/powerpoint/2010/main" val="1710283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EB770D-0D90-C9E6-18D3-ED3448D134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4A2B9C-BEEF-B7E6-8989-92B877CBCF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BBFEFA-BF76-2DF4-9A49-10F5E459B7D5}"/>
              </a:ext>
            </a:extLst>
          </p:cNvPr>
          <p:cNvSpPr>
            <a:spLocks noGrp="1"/>
          </p:cNvSpPr>
          <p:nvPr>
            <p:ph type="dt" sz="half" idx="10"/>
          </p:nvPr>
        </p:nvSpPr>
        <p:spPr/>
        <p:txBody>
          <a:bodyPr/>
          <a:lstStyle/>
          <a:p>
            <a:fld id="{BE63F485-3496-40D1-BF0A-ACCA4391B902}" type="datetimeFigureOut">
              <a:rPr lang="en-US" smtClean="0"/>
              <a:t>4/26/2026</a:t>
            </a:fld>
            <a:endParaRPr lang="en-US"/>
          </a:p>
        </p:txBody>
      </p:sp>
      <p:sp>
        <p:nvSpPr>
          <p:cNvPr id="5" name="Footer Placeholder 4">
            <a:extLst>
              <a:ext uri="{FF2B5EF4-FFF2-40B4-BE49-F238E27FC236}">
                <a16:creationId xmlns:a16="http://schemas.microsoft.com/office/drawing/2014/main" id="{FA1A01AE-A34E-D23D-2FD9-D133E37AC5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69C363-1E2E-B36C-B394-01B07E2F1F8E}"/>
              </a:ext>
            </a:extLst>
          </p:cNvPr>
          <p:cNvSpPr>
            <a:spLocks noGrp="1"/>
          </p:cNvSpPr>
          <p:nvPr>
            <p:ph type="sldNum" sz="quarter" idx="12"/>
          </p:nvPr>
        </p:nvSpPr>
        <p:spPr/>
        <p:txBody>
          <a:bodyPr/>
          <a:lstStyle/>
          <a:p>
            <a:fld id="{1933D83E-4126-4B61-A08C-EDF77A423BDE}" type="slidenum">
              <a:rPr lang="en-US" smtClean="0"/>
              <a:t>‹#›</a:t>
            </a:fld>
            <a:endParaRPr lang="en-US"/>
          </a:p>
        </p:txBody>
      </p:sp>
    </p:spTree>
    <p:extLst>
      <p:ext uri="{BB962C8B-B14F-4D97-AF65-F5344CB8AC3E}">
        <p14:creationId xmlns:p14="http://schemas.microsoft.com/office/powerpoint/2010/main" val="3900664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870E0A-DBA2-1407-C016-02EC7DFFD8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D5BA39-CFC4-608F-B887-ED103BE5B0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606EBD-D7D7-4203-8EB3-47B5BE49FB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63F485-3496-40D1-BF0A-ACCA4391B902}" type="datetimeFigureOut">
              <a:rPr lang="en-US" smtClean="0"/>
              <a:t>4/26/2026</a:t>
            </a:fld>
            <a:endParaRPr lang="en-US"/>
          </a:p>
        </p:txBody>
      </p:sp>
      <p:sp>
        <p:nvSpPr>
          <p:cNvPr id="5" name="Footer Placeholder 4">
            <a:extLst>
              <a:ext uri="{FF2B5EF4-FFF2-40B4-BE49-F238E27FC236}">
                <a16:creationId xmlns:a16="http://schemas.microsoft.com/office/drawing/2014/main" id="{D9649BC4-5308-0575-1D09-BA3B8A0231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2FD9AA7-5DE1-DDA9-B3C2-DC655B920F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33D83E-4126-4B61-A08C-EDF77A423BDE}" type="slidenum">
              <a:rPr lang="en-US" smtClean="0"/>
              <a:t>‹#›</a:t>
            </a:fld>
            <a:endParaRPr lang="en-US"/>
          </a:p>
        </p:txBody>
      </p:sp>
    </p:spTree>
    <p:extLst>
      <p:ext uri="{BB962C8B-B14F-4D97-AF65-F5344CB8AC3E}">
        <p14:creationId xmlns:p14="http://schemas.microsoft.com/office/powerpoint/2010/main" val="3314820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3817E9B4-93AA-A01B-9AAC-71B74EF98021}"/>
              </a:ext>
            </a:extLst>
          </p:cNvPr>
          <p:cNvSpPr/>
          <p:nvPr/>
        </p:nvSpPr>
        <p:spPr>
          <a:xfrm>
            <a:off x="7091680" y="1762760"/>
            <a:ext cx="4163060" cy="3106420"/>
          </a:xfrm>
          <a:prstGeom prst="roundRect">
            <a:avLst>
              <a:gd name="adj" fmla="val 264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Web</a:t>
            </a:r>
          </a:p>
        </p:txBody>
      </p:sp>
      <p:pic>
        <p:nvPicPr>
          <p:cNvPr id="5" name="Picture 4">
            <a:extLst>
              <a:ext uri="{FF2B5EF4-FFF2-40B4-BE49-F238E27FC236}">
                <a16:creationId xmlns:a16="http://schemas.microsoft.com/office/drawing/2014/main" id="{290F35D9-9564-9DD8-9A71-CE92B1B9CB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362" y="274591"/>
            <a:ext cx="4032356" cy="660129"/>
          </a:xfrm>
          <a:prstGeom prst="rect">
            <a:avLst/>
          </a:prstGeom>
        </p:spPr>
      </p:pic>
      <p:sp>
        <p:nvSpPr>
          <p:cNvPr id="6" name="TextBox 5">
            <a:extLst>
              <a:ext uri="{FF2B5EF4-FFF2-40B4-BE49-F238E27FC236}">
                <a16:creationId xmlns:a16="http://schemas.microsoft.com/office/drawing/2014/main" id="{C10B8881-8FEB-B4E9-172E-7DE791947012}"/>
              </a:ext>
            </a:extLst>
          </p:cNvPr>
          <p:cNvSpPr txBox="1"/>
          <p:nvPr/>
        </p:nvSpPr>
        <p:spPr>
          <a:xfrm>
            <a:off x="7265355" y="370091"/>
            <a:ext cx="4726487" cy="307777"/>
          </a:xfrm>
          <a:prstGeom prst="rect">
            <a:avLst/>
          </a:prstGeom>
          <a:noFill/>
        </p:spPr>
        <p:txBody>
          <a:bodyPr wrap="none" rtlCol="0">
            <a:spAutoFit/>
          </a:bodyPr>
          <a:lstStyle/>
          <a:p>
            <a:r>
              <a:rPr lang="en-US" sz="1400" dirty="0"/>
              <a:t>Platform | Lock Hosting | Deployments | Benefits | On Ramp</a:t>
            </a:r>
          </a:p>
        </p:txBody>
      </p:sp>
      <p:sp>
        <p:nvSpPr>
          <p:cNvPr id="9" name="TextBox 8">
            <a:extLst>
              <a:ext uri="{FF2B5EF4-FFF2-40B4-BE49-F238E27FC236}">
                <a16:creationId xmlns:a16="http://schemas.microsoft.com/office/drawing/2014/main" id="{629EAA8A-5F84-5577-D649-C5CC821E0908}"/>
              </a:ext>
            </a:extLst>
          </p:cNvPr>
          <p:cNvSpPr txBox="1"/>
          <p:nvPr/>
        </p:nvSpPr>
        <p:spPr>
          <a:xfrm>
            <a:off x="690298" y="1893373"/>
            <a:ext cx="4605684" cy="769441"/>
          </a:xfrm>
          <a:prstGeom prst="rect">
            <a:avLst/>
          </a:prstGeom>
          <a:noFill/>
        </p:spPr>
        <p:txBody>
          <a:bodyPr wrap="none" rtlCol="0">
            <a:spAutoFit/>
          </a:bodyPr>
          <a:lstStyle/>
          <a:p>
            <a:pPr algn="ctr"/>
            <a:r>
              <a:rPr lang="en-US" sz="2800" b="1" dirty="0">
                <a:solidFill>
                  <a:schemeClr val="accent4">
                    <a:lumMod val="75000"/>
                  </a:schemeClr>
                </a:solidFill>
              </a:rPr>
              <a:t>Automated</a:t>
            </a:r>
            <a:r>
              <a:rPr lang="en-US" sz="2000" b="1" dirty="0"/>
              <a:t> ATM Lock Dispatching</a:t>
            </a:r>
          </a:p>
          <a:p>
            <a:pPr algn="ctr"/>
            <a:r>
              <a:rPr lang="en-US" sz="1600" b="1" dirty="0"/>
              <a:t>Secured | On-Demand | Enterprise Managed</a:t>
            </a:r>
          </a:p>
        </p:txBody>
      </p:sp>
      <p:sp>
        <p:nvSpPr>
          <p:cNvPr id="10" name="TextBox 9">
            <a:extLst>
              <a:ext uri="{FF2B5EF4-FFF2-40B4-BE49-F238E27FC236}">
                <a16:creationId xmlns:a16="http://schemas.microsoft.com/office/drawing/2014/main" id="{6BDC20A8-1A43-A2E5-A122-A6B728707B16}"/>
              </a:ext>
            </a:extLst>
          </p:cNvPr>
          <p:cNvSpPr txBox="1"/>
          <p:nvPr/>
        </p:nvSpPr>
        <p:spPr>
          <a:xfrm>
            <a:off x="808817" y="3041726"/>
            <a:ext cx="3004220" cy="477054"/>
          </a:xfrm>
          <a:prstGeom prst="rect">
            <a:avLst/>
          </a:prstGeom>
          <a:noFill/>
        </p:spPr>
        <p:txBody>
          <a:bodyPr wrap="none" rtlCol="0">
            <a:spAutoFit/>
          </a:bodyPr>
          <a:lstStyle/>
          <a:p>
            <a:r>
              <a:rPr lang="en-US" sz="1100" dirty="0"/>
              <a:t>Lock Management Systems:</a:t>
            </a:r>
          </a:p>
          <a:p>
            <a:r>
              <a:rPr lang="en-US" sz="1400" dirty="0"/>
              <a:t>DormaKaba | Stanley S&amp;G | Intergard</a:t>
            </a:r>
          </a:p>
        </p:txBody>
      </p:sp>
      <p:grpSp>
        <p:nvGrpSpPr>
          <p:cNvPr id="43" name="Group 42">
            <a:extLst>
              <a:ext uri="{FF2B5EF4-FFF2-40B4-BE49-F238E27FC236}">
                <a16:creationId xmlns:a16="http://schemas.microsoft.com/office/drawing/2014/main" id="{ADB47AFF-C906-3F10-F9A3-B9B128C8EC9F}"/>
              </a:ext>
            </a:extLst>
          </p:cNvPr>
          <p:cNvGrpSpPr/>
          <p:nvPr/>
        </p:nvGrpSpPr>
        <p:grpSpPr>
          <a:xfrm>
            <a:off x="7833359" y="758543"/>
            <a:ext cx="3931979" cy="241865"/>
            <a:chOff x="7833359" y="758543"/>
            <a:chExt cx="3931979" cy="241865"/>
          </a:xfrm>
        </p:grpSpPr>
        <p:sp>
          <p:nvSpPr>
            <p:cNvPr id="18" name="Rectangle: Rounded Corners 17">
              <a:extLst>
                <a:ext uri="{FF2B5EF4-FFF2-40B4-BE49-F238E27FC236}">
                  <a16:creationId xmlns:a16="http://schemas.microsoft.com/office/drawing/2014/main" id="{08CB9AD5-8567-0BC5-DB84-6BB59A74A16B}"/>
                </a:ext>
              </a:extLst>
            </p:cNvPr>
            <p:cNvSpPr/>
            <p:nvPr/>
          </p:nvSpPr>
          <p:spPr>
            <a:xfrm>
              <a:off x="7833359" y="758543"/>
              <a:ext cx="912793" cy="2416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Sales</a:t>
              </a:r>
            </a:p>
          </p:txBody>
        </p:sp>
        <p:sp>
          <p:nvSpPr>
            <p:cNvPr id="19" name="Rectangle: Rounded Corners 18">
              <a:extLst>
                <a:ext uri="{FF2B5EF4-FFF2-40B4-BE49-F238E27FC236}">
                  <a16:creationId xmlns:a16="http://schemas.microsoft.com/office/drawing/2014/main" id="{CE7C1CB0-A1CF-53AD-C95E-5B8B8A779911}"/>
                </a:ext>
              </a:extLst>
            </p:cNvPr>
            <p:cNvSpPr/>
            <p:nvPr/>
          </p:nvSpPr>
          <p:spPr>
            <a:xfrm>
              <a:off x="8839754" y="758774"/>
              <a:ext cx="912793" cy="2416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Support</a:t>
              </a:r>
            </a:p>
          </p:txBody>
        </p:sp>
        <p:sp>
          <p:nvSpPr>
            <p:cNvPr id="20" name="Rectangle: Rounded Corners 19">
              <a:extLst>
                <a:ext uri="{FF2B5EF4-FFF2-40B4-BE49-F238E27FC236}">
                  <a16:creationId xmlns:a16="http://schemas.microsoft.com/office/drawing/2014/main" id="{6CD2D131-D37A-CD79-818D-1EE0A64695D6}"/>
                </a:ext>
              </a:extLst>
            </p:cNvPr>
            <p:cNvSpPr/>
            <p:nvPr/>
          </p:nvSpPr>
          <p:spPr>
            <a:xfrm>
              <a:off x="9846149" y="758543"/>
              <a:ext cx="912793" cy="2416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Admin</a:t>
              </a:r>
            </a:p>
          </p:txBody>
        </p:sp>
        <p:sp>
          <p:nvSpPr>
            <p:cNvPr id="21" name="Rectangle: Rounded Corners 20">
              <a:extLst>
                <a:ext uri="{FF2B5EF4-FFF2-40B4-BE49-F238E27FC236}">
                  <a16:creationId xmlns:a16="http://schemas.microsoft.com/office/drawing/2014/main" id="{1784FFEB-944A-DB53-C0BB-DB5AD21A2E9F}"/>
                </a:ext>
              </a:extLst>
            </p:cNvPr>
            <p:cNvSpPr/>
            <p:nvPr/>
          </p:nvSpPr>
          <p:spPr>
            <a:xfrm>
              <a:off x="10852545" y="758658"/>
              <a:ext cx="912793" cy="2416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Dashboard</a:t>
              </a:r>
            </a:p>
          </p:txBody>
        </p:sp>
      </p:grpSp>
      <p:sp>
        <p:nvSpPr>
          <p:cNvPr id="23" name="TextBox 22">
            <a:extLst>
              <a:ext uri="{FF2B5EF4-FFF2-40B4-BE49-F238E27FC236}">
                <a16:creationId xmlns:a16="http://schemas.microsoft.com/office/drawing/2014/main" id="{C63B21D8-B9DA-EE17-5538-7C29A26B42A3}"/>
              </a:ext>
            </a:extLst>
          </p:cNvPr>
          <p:cNvSpPr txBox="1"/>
          <p:nvPr/>
        </p:nvSpPr>
        <p:spPr>
          <a:xfrm>
            <a:off x="1022551" y="796220"/>
            <a:ext cx="3258521" cy="276999"/>
          </a:xfrm>
          <a:prstGeom prst="rect">
            <a:avLst/>
          </a:prstGeom>
          <a:noFill/>
        </p:spPr>
        <p:txBody>
          <a:bodyPr wrap="none" rtlCol="0">
            <a:spAutoFit/>
          </a:bodyPr>
          <a:lstStyle/>
          <a:p>
            <a:r>
              <a:rPr lang="en-US" sz="1200" dirty="0">
                <a:solidFill>
                  <a:srgbClr val="EF4423"/>
                </a:solidFill>
              </a:rPr>
              <a:t>Always Available | Automated Lock Operations</a:t>
            </a:r>
          </a:p>
        </p:txBody>
      </p:sp>
      <p:grpSp>
        <p:nvGrpSpPr>
          <p:cNvPr id="42" name="Group 41">
            <a:extLst>
              <a:ext uri="{FF2B5EF4-FFF2-40B4-BE49-F238E27FC236}">
                <a16:creationId xmlns:a16="http://schemas.microsoft.com/office/drawing/2014/main" id="{CDC0A836-F914-69DD-5C1E-7C96A259D270}"/>
              </a:ext>
            </a:extLst>
          </p:cNvPr>
          <p:cNvGrpSpPr/>
          <p:nvPr/>
        </p:nvGrpSpPr>
        <p:grpSpPr>
          <a:xfrm>
            <a:off x="1363880" y="3636366"/>
            <a:ext cx="4088885" cy="2054248"/>
            <a:chOff x="1123194" y="3848712"/>
            <a:chExt cx="4088885" cy="2054248"/>
          </a:xfrm>
        </p:grpSpPr>
        <p:grpSp>
          <p:nvGrpSpPr>
            <p:cNvPr id="40" name="Group 39">
              <a:extLst>
                <a:ext uri="{FF2B5EF4-FFF2-40B4-BE49-F238E27FC236}">
                  <a16:creationId xmlns:a16="http://schemas.microsoft.com/office/drawing/2014/main" id="{2DE57F34-854D-2692-8749-06F222613396}"/>
                </a:ext>
              </a:extLst>
            </p:cNvPr>
            <p:cNvGrpSpPr/>
            <p:nvPr/>
          </p:nvGrpSpPr>
          <p:grpSpPr>
            <a:xfrm>
              <a:off x="1123195" y="3848712"/>
              <a:ext cx="3499205" cy="461664"/>
              <a:chOff x="1123195" y="3848712"/>
              <a:chExt cx="4093036" cy="540011"/>
            </a:xfrm>
          </p:grpSpPr>
          <p:sp>
            <p:nvSpPr>
              <p:cNvPr id="17" name="TextBox 16">
                <a:extLst>
                  <a:ext uri="{FF2B5EF4-FFF2-40B4-BE49-F238E27FC236}">
                    <a16:creationId xmlns:a16="http://schemas.microsoft.com/office/drawing/2014/main" id="{2F227CF1-3547-EA32-D397-A870D226C22A}"/>
                  </a:ext>
                </a:extLst>
              </p:cNvPr>
              <p:cNvSpPr txBox="1"/>
              <p:nvPr/>
            </p:nvSpPr>
            <p:spPr>
              <a:xfrm>
                <a:off x="1486828" y="3848712"/>
                <a:ext cx="3729403" cy="540011"/>
              </a:xfrm>
              <a:prstGeom prst="rect">
                <a:avLst/>
              </a:prstGeom>
              <a:noFill/>
            </p:spPr>
            <p:txBody>
              <a:bodyPr wrap="square" rtlCol="0">
                <a:spAutoFit/>
              </a:bodyPr>
              <a:lstStyle/>
              <a:p>
                <a:r>
                  <a:rPr lang="en-US" sz="1200" dirty="0">
                    <a:solidFill>
                      <a:schemeClr val="tx2"/>
                    </a:solidFill>
                  </a:rPr>
                  <a:t>95%+ Automation of Routine ATM/VAULT Lock Open/Close/Reassign Functions</a:t>
                </a:r>
              </a:p>
            </p:txBody>
          </p:sp>
          <p:pic>
            <p:nvPicPr>
              <p:cNvPr id="26" name="Picture 25">
                <a:extLst>
                  <a:ext uri="{FF2B5EF4-FFF2-40B4-BE49-F238E27FC236}">
                    <a16:creationId xmlns:a16="http://schemas.microsoft.com/office/drawing/2014/main" id="{C66DB7B5-99AC-206D-FFEC-97A8A5E012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95" y="3944778"/>
                <a:ext cx="347879" cy="347880"/>
              </a:xfrm>
              <a:prstGeom prst="rect">
                <a:avLst/>
              </a:prstGeom>
            </p:spPr>
          </p:pic>
        </p:grpSp>
        <p:grpSp>
          <p:nvGrpSpPr>
            <p:cNvPr id="39" name="Group 38">
              <a:extLst>
                <a:ext uri="{FF2B5EF4-FFF2-40B4-BE49-F238E27FC236}">
                  <a16:creationId xmlns:a16="http://schemas.microsoft.com/office/drawing/2014/main" id="{020BC0EF-0464-BC59-1A77-910BA0FAD088}"/>
                </a:ext>
              </a:extLst>
            </p:cNvPr>
            <p:cNvGrpSpPr/>
            <p:nvPr/>
          </p:nvGrpSpPr>
          <p:grpSpPr>
            <a:xfrm>
              <a:off x="1123195" y="4370050"/>
              <a:ext cx="3181913" cy="461664"/>
              <a:chOff x="1123195" y="4494687"/>
              <a:chExt cx="3721898" cy="540011"/>
            </a:xfrm>
          </p:grpSpPr>
          <p:sp>
            <p:nvSpPr>
              <p:cNvPr id="27" name="TextBox 26">
                <a:extLst>
                  <a:ext uri="{FF2B5EF4-FFF2-40B4-BE49-F238E27FC236}">
                    <a16:creationId xmlns:a16="http://schemas.microsoft.com/office/drawing/2014/main" id="{2B3A5339-A3BC-3023-D09E-82DEE5900B4E}"/>
                  </a:ext>
                </a:extLst>
              </p:cNvPr>
              <p:cNvSpPr txBox="1"/>
              <p:nvPr/>
            </p:nvSpPr>
            <p:spPr>
              <a:xfrm>
                <a:off x="1486828" y="4494687"/>
                <a:ext cx="3358265" cy="540011"/>
              </a:xfrm>
              <a:prstGeom prst="rect">
                <a:avLst/>
              </a:prstGeom>
              <a:noFill/>
            </p:spPr>
            <p:txBody>
              <a:bodyPr wrap="square" rtlCol="0">
                <a:spAutoFit/>
              </a:bodyPr>
              <a:lstStyle/>
              <a:p>
                <a:r>
                  <a:rPr lang="en-US" sz="1200" dirty="0">
                    <a:solidFill>
                      <a:schemeClr val="tx2"/>
                    </a:solidFill>
                  </a:rPr>
                  <a:t>24x7x365 Fully Protected/Fully Supported Lock System Operations</a:t>
                </a:r>
              </a:p>
            </p:txBody>
          </p:sp>
          <p:pic>
            <p:nvPicPr>
              <p:cNvPr id="28" name="Picture 27">
                <a:extLst>
                  <a:ext uri="{FF2B5EF4-FFF2-40B4-BE49-F238E27FC236}">
                    <a16:creationId xmlns:a16="http://schemas.microsoft.com/office/drawing/2014/main" id="{E59C7731-415C-37A7-F75B-55043AA3C4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95" y="4590753"/>
                <a:ext cx="347879" cy="347880"/>
              </a:xfrm>
              <a:prstGeom prst="rect">
                <a:avLst/>
              </a:prstGeom>
            </p:spPr>
          </p:pic>
        </p:grpSp>
        <p:grpSp>
          <p:nvGrpSpPr>
            <p:cNvPr id="38" name="Group 37">
              <a:extLst>
                <a:ext uri="{FF2B5EF4-FFF2-40B4-BE49-F238E27FC236}">
                  <a16:creationId xmlns:a16="http://schemas.microsoft.com/office/drawing/2014/main" id="{C4E10981-B161-024A-A593-761BE4D78814}"/>
                </a:ext>
              </a:extLst>
            </p:cNvPr>
            <p:cNvGrpSpPr/>
            <p:nvPr/>
          </p:nvGrpSpPr>
          <p:grpSpPr>
            <a:xfrm>
              <a:off x="1123194" y="4891388"/>
              <a:ext cx="4088885" cy="297408"/>
              <a:chOff x="1123194" y="5199885"/>
              <a:chExt cx="4782787" cy="347880"/>
            </a:xfrm>
          </p:grpSpPr>
          <p:pic>
            <p:nvPicPr>
              <p:cNvPr id="29" name="Picture 28">
                <a:extLst>
                  <a:ext uri="{FF2B5EF4-FFF2-40B4-BE49-F238E27FC236}">
                    <a16:creationId xmlns:a16="http://schemas.microsoft.com/office/drawing/2014/main" id="{32E2BC59-2101-7F11-9076-734EF3FFD7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94" y="5199885"/>
                <a:ext cx="347879" cy="347880"/>
              </a:xfrm>
              <a:prstGeom prst="rect">
                <a:avLst/>
              </a:prstGeom>
            </p:spPr>
          </p:pic>
          <p:sp>
            <p:nvSpPr>
              <p:cNvPr id="32" name="TextBox 31">
                <a:extLst>
                  <a:ext uri="{FF2B5EF4-FFF2-40B4-BE49-F238E27FC236}">
                    <a16:creationId xmlns:a16="http://schemas.microsoft.com/office/drawing/2014/main" id="{69686B64-83AF-1BFB-B721-181F274313F2}"/>
                  </a:ext>
                </a:extLst>
              </p:cNvPr>
              <p:cNvSpPr txBox="1"/>
              <p:nvPr/>
            </p:nvSpPr>
            <p:spPr>
              <a:xfrm>
                <a:off x="1486827" y="5211822"/>
                <a:ext cx="4419154" cy="324007"/>
              </a:xfrm>
              <a:prstGeom prst="rect">
                <a:avLst/>
              </a:prstGeom>
              <a:noFill/>
            </p:spPr>
            <p:txBody>
              <a:bodyPr wrap="square" rtlCol="0">
                <a:spAutoFit/>
              </a:bodyPr>
              <a:lstStyle/>
              <a:p>
                <a:r>
                  <a:rPr lang="en-US" sz="1200" dirty="0">
                    <a:solidFill>
                      <a:schemeClr val="tx2"/>
                    </a:solidFill>
                  </a:rPr>
                  <a:t>No Change to Current Lock Management Procedures</a:t>
                </a:r>
              </a:p>
            </p:txBody>
          </p:sp>
        </p:grpSp>
        <p:grpSp>
          <p:nvGrpSpPr>
            <p:cNvPr id="37" name="Group 36">
              <a:extLst>
                <a:ext uri="{FF2B5EF4-FFF2-40B4-BE49-F238E27FC236}">
                  <a16:creationId xmlns:a16="http://schemas.microsoft.com/office/drawing/2014/main" id="{16D9FDC6-02B8-8B85-6BDC-B71FA723F489}"/>
                </a:ext>
              </a:extLst>
            </p:cNvPr>
            <p:cNvGrpSpPr/>
            <p:nvPr/>
          </p:nvGrpSpPr>
          <p:grpSpPr>
            <a:xfrm>
              <a:off x="1123194" y="5248470"/>
              <a:ext cx="2377784" cy="297408"/>
              <a:chOff x="1123194" y="5763963"/>
              <a:chExt cx="2781304" cy="347880"/>
            </a:xfrm>
          </p:grpSpPr>
          <p:sp>
            <p:nvSpPr>
              <p:cNvPr id="24" name="TextBox 23">
                <a:extLst>
                  <a:ext uri="{FF2B5EF4-FFF2-40B4-BE49-F238E27FC236}">
                    <a16:creationId xmlns:a16="http://schemas.microsoft.com/office/drawing/2014/main" id="{FD11C6A9-D9F5-58AE-B132-7F81F0912E94}"/>
                  </a:ext>
                </a:extLst>
              </p:cNvPr>
              <p:cNvSpPr txBox="1"/>
              <p:nvPr/>
            </p:nvSpPr>
            <p:spPr>
              <a:xfrm>
                <a:off x="1486828" y="5775900"/>
                <a:ext cx="2417670" cy="324007"/>
              </a:xfrm>
              <a:prstGeom prst="rect">
                <a:avLst/>
              </a:prstGeom>
              <a:noFill/>
            </p:spPr>
            <p:txBody>
              <a:bodyPr wrap="square" rtlCol="0">
                <a:spAutoFit/>
              </a:bodyPr>
              <a:lstStyle/>
              <a:p>
                <a:r>
                  <a:rPr lang="en-US" sz="1200" dirty="0">
                    <a:solidFill>
                      <a:schemeClr val="tx2"/>
                    </a:solidFill>
                  </a:rPr>
                  <a:t>Under 30 Day ROI Target</a:t>
                </a:r>
              </a:p>
            </p:txBody>
          </p:sp>
          <p:pic>
            <p:nvPicPr>
              <p:cNvPr id="33" name="Picture 32">
                <a:extLst>
                  <a:ext uri="{FF2B5EF4-FFF2-40B4-BE49-F238E27FC236}">
                    <a16:creationId xmlns:a16="http://schemas.microsoft.com/office/drawing/2014/main" id="{89AC07DE-DFDF-8A0C-F303-446DCF279D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94" y="5763963"/>
                <a:ext cx="347881" cy="347880"/>
              </a:xfrm>
              <a:prstGeom prst="rect">
                <a:avLst/>
              </a:prstGeom>
            </p:spPr>
          </p:pic>
        </p:grpSp>
        <p:grpSp>
          <p:nvGrpSpPr>
            <p:cNvPr id="36" name="Group 35">
              <a:extLst>
                <a:ext uri="{FF2B5EF4-FFF2-40B4-BE49-F238E27FC236}">
                  <a16:creationId xmlns:a16="http://schemas.microsoft.com/office/drawing/2014/main" id="{F55CD7B4-D106-C031-3BC0-AE3D46B9654E}"/>
                </a:ext>
              </a:extLst>
            </p:cNvPr>
            <p:cNvGrpSpPr/>
            <p:nvPr/>
          </p:nvGrpSpPr>
          <p:grpSpPr>
            <a:xfrm>
              <a:off x="1125087" y="5605552"/>
              <a:ext cx="2375890" cy="297408"/>
              <a:chOff x="1125409" y="6200800"/>
              <a:chExt cx="2779089" cy="347880"/>
            </a:xfrm>
          </p:grpSpPr>
          <p:sp>
            <p:nvSpPr>
              <p:cNvPr id="34" name="TextBox 33">
                <a:extLst>
                  <a:ext uri="{FF2B5EF4-FFF2-40B4-BE49-F238E27FC236}">
                    <a16:creationId xmlns:a16="http://schemas.microsoft.com/office/drawing/2014/main" id="{7C06A170-DEBB-8F64-9679-81FB76D5AF68}"/>
                  </a:ext>
                </a:extLst>
              </p:cNvPr>
              <p:cNvSpPr txBox="1"/>
              <p:nvPr/>
            </p:nvSpPr>
            <p:spPr>
              <a:xfrm>
                <a:off x="1486827" y="6212737"/>
                <a:ext cx="2417671" cy="324007"/>
              </a:xfrm>
              <a:prstGeom prst="rect">
                <a:avLst/>
              </a:prstGeom>
              <a:noFill/>
            </p:spPr>
            <p:txBody>
              <a:bodyPr wrap="square" rtlCol="0">
                <a:spAutoFit/>
              </a:bodyPr>
              <a:lstStyle/>
              <a:p>
                <a:r>
                  <a:rPr lang="en-US" sz="1200" dirty="0">
                    <a:solidFill>
                      <a:schemeClr val="tx2"/>
                    </a:solidFill>
                  </a:rPr>
                  <a:t>Deployment &lt; 1 Day</a:t>
                </a:r>
              </a:p>
            </p:txBody>
          </p:sp>
          <p:pic>
            <p:nvPicPr>
              <p:cNvPr id="35" name="Picture 34">
                <a:extLst>
                  <a:ext uri="{FF2B5EF4-FFF2-40B4-BE49-F238E27FC236}">
                    <a16:creationId xmlns:a16="http://schemas.microsoft.com/office/drawing/2014/main" id="{53D3AAF9-FEEC-840D-09B0-87502B43F8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409" y="6200800"/>
                <a:ext cx="347879" cy="347880"/>
              </a:xfrm>
              <a:prstGeom prst="rect">
                <a:avLst/>
              </a:prstGeom>
            </p:spPr>
          </p:pic>
        </p:grpSp>
      </p:grpSp>
      <p:sp>
        <p:nvSpPr>
          <p:cNvPr id="45" name="TextBox 44">
            <a:extLst>
              <a:ext uri="{FF2B5EF4-FFF2-40B4-BE49-F238E27FC236}">
                <a16:creationId xmlns:a16="http://schemas.microsoft.com/office/drawing/2014/main" id="{6CA321D5-E524-7302-C9A9-A2C4B5B4F486}"/>
              </a:ext>
            </a:extLst>
          </p:cNvPr>
          <p:cNvSpPr txBox="1"/>
          <p:nvPr/>
        </p:nvSpPr>
        <p:spPr>
          <a:xfrm>
            <a:off x="10938362" y="1015507"/>
            <a:ext cx="3128512" cy="276999"/>
          </a:xfrm>
          <a:prstGeom prst="rect">
            <a:avLst/>
          </a:prstGeom>
          <a:noFill/>
        </p:spPr>
        <p:txBody>
          <a:bodyPr wrap="square">
            <a:spAutoFit/>
          </a:bodyPr>
          <a:lstStyle/>
          <a:p>
            <a:r>
              <a:rPr lang="en-US" sz="1200" dirty="0">
                <a:solidFill>
                  <a:srgbClr val="FF0000"/>
                </a:solidFill>
              </a:rPr>
              <a:t>{https://dashboard.otcanywhere.com/login}</a:t>
            </a:r>
          </a:p>
        </p:txBody>
      </p:sp>
      <p:sp>
        <p:nvSpPr>
          <p:cNvPr id="47" name="TextBox 46">
            <a:extLst>
              <a:ext uri="{FF2B5EF4-FFF2-40B4-BE49-F238E27FC236}">
                <a16:creationId xmlns:a16="http://schemas.microsoft.com/office/drawing/2014/main" id="{FA0D3164-F1CE-4FE3-172E-B5C6A2DB693E}"/>
              </a:ext>
            </a:extLst>
          </p:cNvPr>
          <p:cNvSpPr txBox="1"/>
          <p:nvPr/>
        </p:nvSpPr>
        <p:spPr>
          <a:xfrm>
            <a:off x="10087640" y="1307721"/>
            <a:ext cx="3489464" cy="276999"/>
          </a:xfrm>
          <a:prstGeom prst="rect">
            <a:avLst/>
          </a:prstGeom>
          <a:noFill/>
        </p:spPr>
        <p:txBody>
          <a:bodyPr wrap="square">
            <a:spAutoFit/>
          </a:bodyPr>
          <a:lstStyle/>
          <a:p>
            <a:r>
              <a:rPr lang="en-US" sz="1200" dirty="0">
                <a:solidFill>
                  <a:srgbClr val="FF0000"/>
                </a:solidFill>
              </a:rPr>
              <a:t>{https://restnova.coorworks.com/cgi-bin/atm.cgi}</a:t>
            </a:r>
          </a:p>
        </p:txBody>
      </p:sp>
      <p:sp>
        <p:nvSpPr>
          <p:cNvPr id="11" name="Rectangle: Rounded Corners 10">
            <a:extLst>
              <a:ext uri="{FF2B5EF4-FFF2-40B4-BE49-F238E27FC236}">
                <a16:creationId xmlns:a16="http://schemas.microsoft.com/office/drawing/2014/main" id="{90C34D2C-1669-2625-8A84-E28446C61087}"/>
              </a:ext>
            </a:extLst>
          </p:cNvPr>
          <p:cNvSpPr/>
          <p:nvPr/>
        </p:nvSpPr>
        <p:spPr>
          <a:xfrm>
            <a:off x="8260548" y="5207085"/>
            <a:ext cx="2994192" cy="505974"/>
          </a:xfrm>
          <a:prstGeom prst="roundRect">
            <a:avLst/>
          </a:prstGeom>
          <a:solidFill>
            <a:srgbClr val="008000"/>
          </a:solidFill>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400" dirty="0"/>
              <a:t>500k Monthly Automated Opens</a:t>
            </a:r>
          </a:p>
        </p:txBody>
      </p:sp>
      <p:pic>
        <p:nvPicPr>
          <p:cNvPr id="53" name="Picture 52">
            <a:extLst>
              <a:ext uri="{FF2B5EF4-FFF2-40B4-BE49-F238E27FC236}">
                <a16:creationId xmlns:a16="http://schemas.microsoft.com/office/drawing/2014/main" id="{65794375-F8F6-7E73-7AE0-D58774679B2C}"/>
              </a:ext>
            </a:extLst>
          </p:cNvPr>
          <p:cNvPicPr>
            <a:picLocks noChangeAspect="1"/>
          </p:cNvPicPr>
          <p:nvPr/>
        </p:nvPicPr>
        <p:blipFill>
          <a:blip r:embed="rId4"/>
          <a:srcRect t="14366"/>
          <a:stretch>
            <a:fillRect/>
          </a:stretch>
        </p:blipFill>
        <p:spPr>
          <a:xfrm>
            <a:off x="7189311" y="1992464"/>
            <a:ext cx="3987430" cy="2794142"/>
          </a:xfrm>
          <a:prstGeom prst="rect">
            <a:avLst/>
          </a:prstGeom>
        </p:spPr>
      </p:pic>
      <p:pic>
        <p:nvPicPr>
          <p:cNvPr id="55" name="Picture 54">
            <a:extLst>
              <a:ext uri="{FF2B5EF4-FFF2-40B4-BE49-F238E27FC236}">
                <a16:creationId xmlns:a16="http://schemas.microsoft.com/office/drawing/2014/main" id="{5C027688-2BDE-E818-D0E2-D7987FFA3A16}"/>
              </a:ext>
            </a:extLst>
          </p:cNvPr>
          <p:cNvPicPr>
            <a:picLocks noChangeAspect="1"/>
          </p:cNvPicPr>
          <p:nvPr/>
        </p:nvPicPr>
        <p:blipFill>
          <a:blip r:embed="rId4"/>
          <a:srcRect t="-210" b="90393"/>
          <a:stretch>
            <a:fillRect/>
          </a:stretch>
        </p:blipFill>
        <p:spPr>
          <a:xfrm>
            <a:off x="7189311" y="1857696"/>
            <a:ext cx="3987430" cy="335880"/>
          </a:xfrm>
          <a:prstGeom prst="rect">
            <a:avLst/>
          </a:prstGeom>
        </p:spPr>
      </p:pic>
      <p:sp>
        <p:nvSpPr>
          <p:cNvPr id="54" name="Rectangle 53">
            <a:extLst>
              <a:ext uri="{FF2B5EF4-FFF2-40B4-BE49-F238E27FC236}">
                <a16:creationId xmlns:a16="http://schemas.microsoft.com/office/drawing/2014/main" id="{29AEB5F3-BDF2-7188-3A95-54B2F084F171}"/>
              </a:ext>
            </a:extLst>
          </p:cNvPr>
          <p:cNvSpPr/>
          <p:nvPr/>
        </p:nvSpPr>
        <p:spPr>
          <a:xfrm>
            <a:off x="9266542" y="1879443"/>
            <a:ext cx="479811" cy="1130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25B9F725-96B7-BE94-0643-51F278166BDE}"/>
              </a:ext>
            </a:extLst>
          </p:cNvPr>
          <p:cNvCxnSpPr/>
          <p:nvPr/>
        </p:nvCxnSpPr>
        <p:spPr>
          <a:xfrm flipH="1" flipV="1">
            <a:off x="10428790" y="1015507"/>
            <a:ext cx="196769" cy="29221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0F88C90D-B0A3-1CD0-FFD1-8D05CE82AFE1}"/>
              </a:ext>
            </a:extLst>
          </p:cNvPr>
          <p:cNvCxnSpPr>
            <a:cxnSpLocks/>
          </p:cNvCxnSpPr>
          <p:nvPr/>
        </p:nvCxnSpPr>
        <p:spPr>
          <a:xfrm flipH="1" flipV="1">
            <a:off x="11803466" y="877008"/>
            <a:ext cx="153182" cy="13849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63" name="Picture 62">
            <a:extLst>
              <a:ext uri="{FF2B5EF4-FFF2-40B4-BE49-F238E27FC236}">
                <a16:creationId xmlns:a16="http://schemas.microsoft.com/office/drawing/2014/main" id="{DC296A1E-9C0A-909A-EF65-54DFDB33E1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49595" y="18268"/>
            <a:ext cx="1885274" cy="1215470"/>
          </a:xfrm>
          <a:prstGeom prst="rect">
            <a:avLst/>
          </a:prstGeom>
        </p:spPr>
      </p:pic>
      <p:grpSp>
        <p:nvGrpSpPr>
          <p:cNvPr id="65" name="Group 64">
            <a:extLst>
              <a:ext uri="{FF2B5EF4-FFF2-40B4-BE49-F238E27FC236}">
                <a16:creationId xmlns:a16="http://schemas.microsoft.com/office/drawing/2014/main" id="{A423B873-7E96-4042-CBFC-44AC2E4B7A09}"/>
              </a:ext>
            </a:extLst>
          </p:cNvPr>
          <p:cNvGrpSpPr/>
          <p:nvPr/>
        </p:nvGrpSpPr>
        <p:grpSpPr>
          <a:xfrm>
            <a:off x="6353264" y="2385000"/>
            <a:ext cx="1574463" cy="3305614"/>
            <a:chOff x="6353264" y="2385000"/>
            <a:chExt cx="1574463" cy="3305614"/>
          </a:xfrm>
        </p:grpSpPr>
        <p:sp>
          <p:nvSpPr>
            <p:cNvPr id="49" name="Rectangle: Rounded Corners 48">
              <a:extLst>
                <a:ext uri="{FF2B5EF4-FFF2-40B4-BE49-F238E27FC236}">
                  <a16:creationId xmlns:a16="http://schemas.microsoft.com/office/drawing/2014/main" id="{FADF7936-6A57-3562-1EA2-71AE111D6AC7}"/>
                </a:ext>
              </a:extLst>
            </p:cNvPr>
            <p:cNvSpPr/>
            <p:nvPr/>
          </p:nvSpPr>
          <p:spPr>
            <a:xfrm>
              <a:off x="6353264" y="2385000"/>
              <a:ext cx="1574463" cy="3305614"/>
            </a:xfrm>
            <a:prstGeom prst="roundRect">
              <a:avLst>
                <a:gd name="adj" fmla="val 64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t>App</a:t>
              </a:r>
            </a:p>
          </p:txBody>
        </p:sp>
        <p:pic>
          <p:nvPicPr>
            <p:cNvPr id="50" name="Picture 49">
              <a:extLst>
                <a:ext uri="{FF2B5EF4-FFF2-40B4-BE49-F238E27FC236}">
                  <a16:creationId xmlns:a16="http://schemas.microsoft.com/office/drawing/2014/main" id="{C6EA4192-F15C-235A-965B-55075ECFB0D4}"/>
                </a:ext>
              </a:extLst>
            </p:cNvPr>
            <p:cNvPicPr>
              <a:picLocks noChangeAspect="1"/>
            </p:cNvPicPr>
            <p:nvPr/>
          </p:nvPicPr>
          <p:blipFill>
            <a:blip r:embed="rId6">
              <a:extLst>
                <a:ext uri="{28A0092B-C50C-407E-A947-70E740481C1C}">
                  <a14:useLocalDpi xmlns:a14="http://schemas.microsoft.com/office/drawing/2010/main" val="0"/>
                </a:ext>
              </a:extLst>
            </a:blip>
            <a:srcRect b="6605"/>
            <a:stretch>
              <a:fillRect/>
            </a:stretch>
          </p:blipFill>
          <p:spPr>
            <a:xfrm>
              <a:off x="6397967" y="2448587"/>
              <a:ext cx="1485056" cy="3178439"/>
            </a:xfrm>
            <a:prstGeom prst="rect">
              <a:avLst/>
            </a:prstGeom>
          </p:spPr>
        </p:pic>
        <p:sp>
          <p:nvSpPr>
            <p:cNvPr id="51" name="Rectangle 50">
              <a:extLst>
                <a:ext uri="{FF2B5EF4-FFF2-40B4-BE49-F238E27FC236}">
                  <a16:creationId xmlns:a16="http://schemas.microsoft.com/office/drawing/2014/main" id="{1CC3A991-5BF7-7616-E4F9-E1D3C3FE0E21}"/>
                </a:ext>
              </a:extLst>
            </p:cNvPr>
            <p:cNvSpPr/>
            <p:nvPr/>
          </p:nvSpPr>
          <p:spPr>
            <a:xfrm>
              <a:off x="7662137" y="5360707"/>
              <a:ext cx="216982" cy="198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Picture 63">
              <a:extLst>
                <a:ext uri="{FF2B5EF4-FFF2-40B4-BE49-F238E27FC236}">
                  <a16:creationId xmlns:a16="http://schemas.microsoft.com/office/drawing/2014/main" id="{91837D13-C6E6-2951-1444-4037ABBA51EA}"/>
                </a:ext>
              </a:extLst>
            </p:cNvPr>
            <p:cNvPicPr>
              <a:picLocks noChangeAspect="1"/>
            </p:cNvPicPr>
            <p:nvPr/>
          </p:nvPicPr>
          <p:blipFill>
            <a:blip r:embed="rId6">
              <a:extLst>
                <a:ext uri="{28A0092B-C50C-407E-A947-70E740481C1C}">
                  <a14:useLocalDpi xmlns:a14="http://schemas.microsoft.com/office/drawing/2010/main" val="0"/>
                </a:ext>
              </a:extLst>
            </a:blip>
            <a:srcRect t="93395" b="-477"/>
            <a:stretch>
              <a:fillRect/>
            </a:stretch>
          </p:blipFill>
          <p:spPr>
            <a:xfrm>
              <a:off x="6397967" y="5403411"/>
              <a:ext cx="1485056" cy="241016"/>
            </a:xfrm>
            <a:prstGeom prst="rect">
              <a:avLst/>
            </a:prstGeom>
          </p:spPr>
        </p:pic>
      </p:grpSp>
    </p:spTree>
    <p:extLst>
      <p:ext uri="{BB962C8B-B14F-4D97-AF65-F5344CB8AC3E}">
        <p14:creationId xmlns:p14="http://schemas.microsoft.com/office/powerpoint/2010/main" val="4208172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614B0E-C318-CBA0-ADCD-AB78D892DC48}"/>
              </a:ext>
            </a:extLst>
          </p:cNvPr>
          <p:cNvSpPr txBox="1"/>
          <p:nvPr/>
        </p:nvSpPr>
        <p:spPr>
          <a:xfrm>
            <a:off x="400143" y="325120"/>
            <a:ext cx="8093617" cy="369332"/>
          </a:xfrm>
          <a:prstGeom prst="rect">
            <a:avLst/>
          </a:prstGeom>
          <a:noFill/>
        </p:spPr>
        <p:txBody>
          <a:bodyPr wrap="square" rtlCol="0">
            <a:spAutoFit/>
          </a:bodyPr>
          <a:lstStyle/>
          <a:p>
            <a:r>
              <a:rPr lang="en-US" dirty="0">
                <a:solidFill>
                  <a:schemeClr val="accent2"/>
                </a:solidFill>
              </a:rPr>
              <a:t>Platform</a:t>
            </a:r>
            <a:r>
              <a:rPr lang="en-US" dirty="0"/>
              <a:t> | Multiple Lock Systems, Multiple Methods, Multiple Enforcements</a:t>
            </a:r>
          </a:p>
        </p:txBody>
      </p:sp>
      <p:grpSp>
        <p:nvGrpSpPr>
          <p:cNvPr id="44" name="Group 43">
            <a:extLst>
              <a:ext uri="{FF2B5EF4-FFF2-40B4-BE49-F238E27FC236}">
                <a16:creationId xmlns:a16="http://schemas.microsoft.com/office/drawing/2014/main" id="{6975182C-1E80-AA6C-6F02-1F92D762D42D}"/>
              </a:ext>
            </a:extLst>
          </p:cNvPr>
          <p:cNvGrpSpPr/>
          <p:nvPr/>
        </p:nvGrpSpPr>
        <p:grpSpPr>
          <a:xfrm>
            <a:off x="530401" y="844550"/>
            <a:ext cx="11581993" cy="5660271"/>
            <a:chOff x="530401" y="844550"/>
            <a:chExt cx="11581993" cy="5660271"/>
          </a:xfrm>
        </p:grpSpPr>
        <p:sp>
          <p:nvSpPr>
            <p:cNvPr id="23" name="Rectangle: Rounded Corners 22">
              <a:extLst>
                <a:ext uri="{FF2B5EF4-FFF2-40B4-BE49-F238E27FC236}">
                  <a16:creationId xmlns:a16="http://schemas.microsoft.com/office/drawing/2014/main" id="{17850C23-BB9D-3EF2-3C7B-071882B81AFE}"/>
                </a:ext>
              </a:extLst>
            </p:cNvPr>
            <p:cNvSpPr/>
            <p:nvPr/>
          </p:nvSpPr>
          <p:spPr>
            <a:xfrm>
              <a:off x="5052283" y="1216660"/>
              <a:ext cx="2068067" cy="2037080"/>
            </a:xfrm>
            <a:prstGeom prst="roundRect">
              <a:avLst>
                <a:gd name="adj" fmla="val 3165"/>
              </a:avLst>
            </a:prstGeom>
            <a:solidFill>
              <a:srgbClr val="00990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200" b="1" dirty="0">
                  <a:solidFill>
                    <a:schemeClr val="tx1"/>
                  </a:solidFill>
                </a:rPr>
                <a:t>Primary OTC Service</a:t>
              </a:r>
            </a:p>
          </p:txBody>
        </p:sp>
        <p:sp>
          <p:nvSpPr>
            <p:cNvPr id="24" name="Rectangle: Rounded Corners 23">
              <a:extLst>
                <a:ext uri="{FF2B5EF4-FFF2-40B4-BE49-F238E27FC236}">
                  <a16:creationId xmlns:a16="http://schemas.microsoft.com/office/drawing/2014/main" id="{DDAD12F3-5AF6-CE54-540A-EAD032BA073E}"/>
                </a:ext>
              </a:extLst>
            </p:cNvPr>
            <p:cNvSpPr/>
            <p:nvPr/>
          </p:nvSpPr>
          <p:spPr>
            <a:xfrm>
              <a:off x="5052283" y="3342640"/>
              <a:ext cx="2068067" cy="1943120"/>
            </a:xfrm>
            <a:prstGeom prst="roundRect">
              <a:avLst>
                <a:gd name="adj" fmla="val 3165"/>
              </a:avLst>
            </a:prstGeom>
            <a:solidFill>
              <a:srgbClr val="00990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200" b="1" dirty="0">
                  <a:solidFill>
                    <a:schemeClr val="tx1"/>
                  </a:solidFill>
                </a:rPr>
                <a:t>Secondary OTC Service</a:t>
              </a:r>
            </a:p>
          </p:txBody>
        </p:sp>
        <p:sp>
          <p:nvSpPr>
            <p:cNvPr id="16" name="Rectangle: Rounded Corners 15">
              <a:extLst>
                <a:ext uri="{FF2B5EF4-FFF2-40B4-BE49-F238E27FC236}">
                  <a16:creationId xmlns:a16="http://schemas.microsoft.com/office/drawing/2014/main" id="{336B94E0-0D6F-0553-E31F-73353C723958}"/>
                </a:ext>
              </a:extLst>
            </p:cNvPr>
            <p:cNvSpPr/>
            <p:nvPr/>
          </p:nvSpPr>
          <p:spPr>
            <a:xfrm>
              <a:off x="7326223" y="1219200"/>
              <a:ext cx="1635760" cy="1717040"/>
            </a:xfrm>
            <a:prstGeom prst="roundRect">
              <a:avLst>
                <a:gd name="adj" fmla="val 3165"/>
              </a:avLst>
            </a:prstGeom>
            <a:solidFill>
              <a:srgbClr val="00990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200" b="1" dirty="0">
                  <a:solidFill>
                    <a:schemeClr val="tx1"/>
                  </a:solidFill>
                </a:rPr>
                <a:t>Enterprise Hosted</a:t>
              </a:r>
            </a:p>
          </p:txBody>
        </p:sp>
        <p:sp>
          <p:nvSpPr>
            <p:cNvPr id="4" name="TextBox 3">
              <a:extLst>
                <a:ext uri="{FF2B5EF4-FFF2-40B4-BE49-F238E27FC236}">
                  <a16:creationId xmlns:a16="http://schemas.microsoft.com/office/drawing/2014/main" id="{6EBB139A-7BD2-2974-1F23-46C42DBA6152}"/>
                </a:ext>
              </a:extLst>
            </p:cNvPr>
            <p:cNvSpPr txBox="1"/>
            <p:nvPr/>
          </p:nvSpPr>
          <p:spPr>
            <a:xfrm>
              <a:off x="530401" y="3067705"/>
              <a:ext cx="2628220" cy="2492990"/>
            </a:xfrm>
            <a:prstGeom prst="rect">
              <a:avLst/>
            </a:prstGeom>
            <a:noFill/>
          </p:spPr>
          <p:txBody>
            <a:bodyPr wrap="none" rtlCol="0">
              <a:spAutoFit/>
            </a:bodyPr>
            <a:lstStyle/>
            <a:p>
              <a:r>
                <a:rPr lang="en-US" sz="1200" b="1" dirty="0"/>
                <a:t>User Permission Controls</a:t>
              </a:r>
            </a:p>
            <a:p>
              <a:pPr marL="285750" indent="-285750">
                <a:buFont typeface="Arial" panose="020B0604020202020204" pitchFamily="34" charset="0"/>
                <a:buChar char="•"/>
              </a:pPr>
              <a:r>
                <a:rPr lang="en-US" sz="1200" dirty="0"/>
                <a:t>Lock System (Kaba/S&amp;G/IG)</a:t>
              </a:r>
            </a:p>
            <a:p>
              <a:pPr marL="285750" indent="-285750">
                <a:buFont typeface="Arial" panose="020B0604020202020204" pitchFamily="34" charset="0"/>
                <a:buChar char="•"/>
              </a:pPr>
              <a:r>
                <a:rPr lang="en-US" sz="1200" dirty="0"/>
                <a:t>Lock Operating Mode (RTE/FLM)</a:t>
              </a:r>
            </a:p>
            <a:p>
              <a:pPr marL="285750" indent="-285750">
                <a:buFont typeface="Arial" panose="020B0604020202020204" pitchFamily="34" charset="0"/>
                <a:buChar char="•"/>
              </a:pPr>
              <a:r>
                <a:rPr lang="en-US" sz="1200" dirty="0"/>
                <a:t>Lock Region Access Control</a:t>
              </a:r>
            </a:p>
            <a:p>
              <a:pPr marL="285750" indent="-285750">
                <a:buFont typeface="Arial" panose="020B0604020202020204" pitchFamily="34" charset="0"/>
                <a:buChar char="•"/>
              </a:pPr>
              <a:r>
                <a:rPr lang="en-US" sz="1200" dirty="0"/>
                <a:t>Individual Lock Access Control</a:t>
              </a:r>
            </a:p>
            <a:p>
              <a:pPr marL="285750" indent="-285750">
                <a:buFont typeface="Arial" panose="020B0604020202020204" pitchFamily="34" charset="0"/>
                <a:buChar char="•"/>
              </a:pPr>
              <a:r>
                <a:rPr lang="en-US" sz="1200" dirty="0"/>
                <a:t>Time-of-Day Access Controls</a:t>
              </a:r>
            </a:p>
            <a:p>
              <a:pPr marL="285750" indent="-285750">
                <a:buFont typeface="Arial" panose="020B0604020202020204" pitchFamily="34" charset="0"/>
                <a:buChar char="•"/>
              </a:pPr>
              <a:r>
                <a:rPr lang="en-US" sz="1200" dirty="0"/>
                <a:t>Permitted Lock Functions</a:t>
              </a:r>
            </a:p>
            <a:p>
              <a:pPr marL="285750" indent="-285750">
                <a:buFont typeface="Arial" panose="020B0604020202020204" pitchFamily="34" charset="0"/>
                <a:buChar char="•"/>
              </a:pPr>
              <a:r>
                <a:rPr lang="en-US" sz="1200" dirty="0"/>
                <a:t>Geofence Open Enforcement</a:t>
              </a:r>
            </a:p>
            <a:p>
              <a:pPr marL="285750" indent="-285750">
                <a:buFont typeface="Arial" panose="020B0604020202020204" pitchFamily="34" charset="0"/>
                <a:buChar char="•"/>
              </a:pPr>
              <a:r>
                <a:rPr lang="en-US" sz="1200" dirty="0"/>
                <a:t>Geofence Close Enforcement</a:t>
              </a:r>
            </a:p>
            <a:p>
              <a:pPr marL="285750" indent="-285750">
                <a:buFont typeface="Arial" panose="020B0604020202020204" pitchFamily="34" charset="0"/>
                <a:buChar char="•"/>
              </a:pPr>
              <a:r>
                <a:rPr lang="en-US" sz="1200" dirty="0"/>
                <a:t>Open Thresholds/Auto-Lockouts</a:t>
              </a:r>
            </a:p>
            <a:p>
              <a:pPr marL="285750" indent="-285750">
                <a:buFont typeface="Arial" panose="020B0604020202020204" pitchFamily="34" charset="0"/>
                <a:buChar char="•"/>
              </a:pPr>
              <a:r>
                <a:rPr lang="en-US" sz="1200" dirty="0"/>
                <a:t>Login Methods (Phone, ID, Key)</a:t>
              </a:r>
            </a:p>
            <a:p>
              <a:pPr marL="285750" indent="-285750">
                <a:buFont typeface="Arial" panose="020B0604020202020204" pitchFamily="34" charset="0"/>
                <a:buChar char="•"/>
              </a:pPr>
              <a:r>
                <a:rPr lang="en-US" sz="1200" dirty="0"/>
                <a:t>Service Ticket Authorizations</a:t>
              </a:r>
            </a:p>
            <a:p>
              <a:pPr marL="285750" indent="-285750">
                <a:buFont typeface="Arial" panose="020B0604020202020204" pitchFamily="34" charset="0"/>
                <a:buChar char="•"/>
              </a:pPr>
              <a:r>
                <a:rPr lang="en-US" sz="1200" dirty="0"/>
                <a:t>App/Device Authorization</a:t>
              </a:r>
            </a:p>
          </p:txBody>
        </p:sp>
        <p:sp>
          <p:nvSpPr>
            <p:cNvPr id="6" name="Rectangle: Rounded Corners 5">
              <a:extLst>
                <a:ext uri="{FF2B5EF4-FFF2-40B4-BE49-F238E27FC236}">
                  <a16:creationId xmlns:a16="http://schemas.microsoft.com/office/drawing/2014/main" id="{92035B8A-59E6-2525-F20A-8CC3CA4006E0}"/>
                </a:ext>
              </a:extLst>
            </p:cNvPr>
            <p:cNvSpPr/>
            <p:nvPr/>
          </p:nvSpPr>
          <p:spPr>
            <a:xfrm>
              <a:off x="7454401" y="1351280"/>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400" dirty="0"/>
                <a:t>Lock System DB</a:t>
              </a:r>
            </a:p>
          </p:txBody>
        </p:sp>
        <p:sp>
          <p:nvSpPr>
            <p:cNvPr id="8" name="Rectangle: Rounded Corners 7">
              <a:extLst>
                <a:ext uri="{FF2B5EF4-FFF2-40B4-BE49-F238E27FC236}">
                  <a16:creationId xmlns:a16="http://schemas.microsoft.com/office/drawing/2014/main" id="{61928F0D-88DD-7598-4B3C-4C94032F3167}"/>
                </a:ext>
              </a:extLst>
            </p:cNvPr>
            <p:cNvSpPr/>
            <p:nvPr/>
          </p:nvSpPr>
          <p:spPr>
            <a:xfrm>
              <a:off x="8190226" y="4356531"/>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Lock System</a:t>
              </a:r>
            </a:p>
          </p:txBody>
        </p:sp>
        <p:sp>
          <p:nvSpPr>
            <p:cNvPr id="9" name="Rectangle: Rounded Corners 8">
              <a:extLst>
                <a:ext uri="{FF2B5EF4-FFF2-40B4-BE49-F238E27FC236}">
                  <a16:creationId xmlns:a16="http://schemas.microsoft.com/office/drawing/2014/main" id="{B9226EE1-76AA-0704-C6D0-98032BA9DB1E}"/>
                </a:ext>
              </a:extLst>
            </p:cNvPr>
            <p:cNvSpPr/>
            <p:nvPr/>
          </p:nvSpPr>
          <p:spPr>
            <a:xfrm>
              <a:off x="3704760" y="3636030"/>
              <a:ext cx="1097280" cy="474940"/>
            </a:xfrm>
            <a:prstGeom prst="roundRect">
              <a:avLst>
                <a:gd name="adj" fmla="val 59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Web</a:t>
              </a:r>
            </a:p>
          </p:txBody>
        </p:sp>
        <p:sp>
          <p:nvSpPr>
            <p:cNvPr id="10" name="Rectangle: Rounded Corners 9">
              <a:extLst>
                <a:ext uri="{FF2B5EF4-FFF2-40B4-BE49-F238E27FC236}">
                  <a16:creationId xmlns:a16="http://schemas.microsoft.com/office/drawing/2014/main" id="{B8DEB0D7-32F1-19CA-F4CF-6013144AAC02}"/>
                </a:ext>
              </a:extLst>
            </p:cNvPr>
            <p:cNvSpPr/>
            <p:nvPr/>
          </p:nvSpPr>
          <p:spPr>
            <a:xfrm>
              <a:off x="3704760" y="4226580"/>
              <a:ext cx="1097280" cy="474940"/>
            </a:xfrm>
            <a:prstGeom prst="roundRect">
              <a:avLst>
                <a:gd name="adj" fmla="val 59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IVR</a:t>
              </a:r>
            </a:p>
          </p:txBody>
        </p:sp>
        <p:sp>
          <p:nvSpPr>
            <p:cNvPr id="12" name="Rectangle: Rounded Corners 11">
              <a:extLst>
                <a:ext uri="{FF2B5EF4-FFF2-40B4-BE49-F238E27FC236}">
                  <a16:creationId xmlns:a16="http://schemas.microsoft.com/office/drawing/2014/main" id="{DCAC30E0-89C2-2EC0-B918-396D58ED7F88}"/>
                </a:ext>
              </a:extLst>
            </p:cNvPr>
            <p:cNvSpPr/>
            <p:nvPr/>
          </p:nvSpPr>
          <p:spPr>
            <a:xfrm>
              <a:off x="7326223" y="4260840"/>
              <a:ext cx="2328996" cy="1028720"/>
            </a:xfrm>
            <a:prstGeom prst="roundRect">
              <a:avLst>
                <a:gd name="adj" fmla="val 3165"/>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200" b="1" dirty="0">
                  <a:solidFill>
                    <a:srgbClr val="02092F"/>
                  </a:solidFill>
                </a:rPr>
                <a:t>On-Premise</a:t>
              </a:r>
            </a:p>
          </p:txBody>
        </p:sp>
        <p:sp>
          <p:nvSpPr>
            <p:cNvPr id="17" name="Rectangle: Rounded Corners 16">
              <a:extLst>
                <a:ext uri="{FF2B5EF4-FFF2-40B4-BE49-F238E27FC236}">
                  <a16:creationId xmlns:a16="http://schemas.microsoft.com/office/drawing/2014/main" id="{562304E4-844B-A9FC-BA3E-C394DAEDE32D}"/>
                </a:ext>
              </a:extLst>
            </p:cNvPr>
            <p:cNvSpPr/>
            <p:nvPr/>
          </p:nvSpPr>
          <p:spPr>
            <a:xfrm>
              <a:off x="7454401" y="2028190"/>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Keybox</a:t>
              </a:r>
            </a:p>
          </p:txBody>
        </p:sp>
        <p:sp>
          <p:nvSpPr>
            <p:cNvPr id="18" name="Rectangle: Rounded Corners 17">
              <a:extLst>
                <a:ext uri="{FF2B5EF4-FFF2-40B4-BE49-F238E27FC236}">
                  <a16:creationId xmlns:a16="http://schemas.microsoft.com/office/drawing/2014/main" id="{8AC87B6A-1AE2-7C49-21DD-24FF71E3F597}"/>
                </a:ext>
              </a:extLst>
            </p:cNvPr>
            <p:cNvSpPr/>
            <p:nvPr/>
          </p:nvSpPr>
          <p:spPr>
            <a:xfrm>
              <a:off x="7458303" y="3179115"/>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Lock System</a:t>
              </a:r>
            </a:p>
          </p:txBody>
        </p:sp>
        <p:sp>
          <p:nvSpPr>
            <p:cNvPr id="19" name="Rectangle: Rounded Corners 18">
              <a:extLst>
                <a:ext uri="{FF2B5EF4-FFF2-40B4-BE49-F238E27FC236}">
                  <a16:creationId xmlns:a16="http://schemas.microsoft.com/office/drawing/2014/main" id="{F68437AE-14B2-9E29-9B2F-2F66153C71A4}"/>
                </a:ext>
              </a:extLst>
            </p:cNvPr>
            <p:cNvSpPr/>
            <p:nvPr/>
          </p:nvSpPr>
          <p:spPr>
            <a:xfrm>
              <a:off x="7326223" y="3082595"/>
              <a:ext cx="1635760" cy="1028720"/>
            </a:xfrm>
            <a:prstGeom prst="roundRect">
              <a:avLst>
                <a:gd name="adj" fmla="val 3165"/>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200" b="1" dirty="0">
                  <a:solidFill>
                    <a:schemeClr val="tx1"/>
                  </a:solidFill>
                </a:rPr>
                <a:t>3</a:t>
              </a:r>
              <a:r>
                <a:rPr lang="en-US" sz="1200" b="1" baseline="30000" dirty="0">
                  <a:solidFill>
                    <a:schemeClr val="tx1"/>
                  </a:solidFill>
                </a:rPr>
                <a:t>rd</a:t>
              </a:r>
              <a:r>
                <a:rPr lang="en-US" sz="1200" b="1" dirty="0">
                  <a:solidFill>
                    <a:schemeClr val="tx1"/>
                  </a:solidFill>
                </a:rPr>
                <a:t> Party</a:t>
              </a:r>
            </a:p>
          </p:txBody>
        </p:sp>
        <p:sp>
          <p:nvSpPr>
            <p:cNvPr id="20" name="TextBox 19">
              <a:extLst>
                <a:ext uri="{FF2B5EF4-FFF2-40B4-BE49-F238E27FC236}">
                  <a16:creationId xmlns:a16="http://schemas.microsoft.com/office/drawing/2014/main" id="{8AFA2DBF-5675-5EDA-2206-2A796F16C19A}"/>
                </a:ext>
              </a:extLst>
            </p:cNvPr>
            <p:cNvSpPr txBox="1"/>
            <p:nvPr/>
          </p:nvSpPr>
          <p:spPr>
            <a:xfrm>
              <a:off x="9090161" y="1315064"/>
              <a:ext cx="2847446" cy="1015663"/>
            </a:xfrm>
            <a:prstGeom prst="rect">
              <a:avLst/>
            </a:prstGeom>
            <a:noFill/>
          </p:spPr>
          <p:txBody>
            <a:bodyPr wrap="none" rtlCol="0">
              <a:spAutoFit/>
            </a:bodyPr>
            <a:lstStyle/>
            <a:p>
              <a:pPr marL="111125" indent="-111125">
                <a:buFont typeface="Arial" panose="020B0604020202020204" pitchFamily="34" charset="0"/>
                <a:buChar char="•"/>
              </a:pPr>
              <a:r>
                <a:rPr lang="en-US" sz="1200" dirty="0"/>
                <a:t>Dedicated / Fully Isolated AWS Host(s)</a:t>
              </a:r>
            </a:p>
            <a:p>
              <a:pPr marL="111125" indent="-111125">
                <a:buFont typeface="Arial" panose="020B0604020202020204" pitchFamily="34" charset="0"/>
                <a:buChar char="•"/>
              </a:pPr>
              <a:r>
                <a:rPr lang="en-US" sz="1200" dirty="0"/>
                <a:t>Redundant Accessibility</a:t>
              </a:r>
            </a:p>
            <a:p>
              <a:pPr marL="111125" indent="-111125">
                <a:buFont typeface="Arial" panose="020B0604020202020204" pitchFamily="34" charset="0"/>
                <a:buChar char="•"/>
              </a:pPr>
              <a:r>
                <a:rPr lang="en-US" sz="1200" dirty="0"/>
                <a:t>5-Min Differential Backup</a:t>
              </a:r>
            </a:p>
            <a:p>
              <a:pPr marL="111125" indent="-111125">
                <a:buFont typeface="Arial" panose="020B0604020202020204" pitchFamily="34" charset="0"/>
                <a:buChar char="•"/>
              </a:pPr>
              <a:r>
                <a:rPr lang="en-US" sz="1200" dirty="0"/>
                <a:t>Nightly Full Backups</a:t>
              </a:r>
            </a:p>
            <a:p>
              <a:pPr marL="111125" indent="-111125">
                <a:buFont typeface="Arial" panose="020B0604020202020204" pitchFamily="34" charset="0"/>
                <a:buChar char="•"/>
              </a:pPr>
              <a:r>
                <a:rPr lang="en-US" sz="1200" dirty="0"/>
                <a:t>Offsite DR Backups</a:t>
              </a:r>
            </a:p>
          </p:txBody>
        </p:sp>
        <p:sp>
          <p:nvSpPr>
            <p:cNvPr id="21" name="TextBox 20">
              <a:extLst>
                <a:ext uri="{FF2B5EF4-FFF2-40B4-BE49-F238E27FC236}">
                  <a16:creationId xmlns:a16="http://schemas.microsoft.com/office/drawing/2014/main" id="{A595FBBB-4236-F2AD-372D-4EE5B4EF1787}"/>
                </a:ext>
              </a:extLst>
            </p:cNvPr>
            <p:cNvSpPr txBox="1"/>
            <p:nvPr/>
          </p:nvSpPr>
          <p:spPr>
            <a:xfrm>
              <a:off x="3870645" y="844550"/>
              <a:ext cx="800219" cy="261610"/>
            </a:xfrm>
            <a:prstGeom prst="rect">
              <a:avLst/>
            </a:prstGeom>
            <a:noFill/>
          </p:spPr>
          <p:txBody>
            <a:bodyPr wrap="none" rtlCol="0">
              <a:spAutoFit/>
            </a:bodyPr>
            <a:lstStyle/>
            <a:p>
              <a:r>
                <a:rPr lang="en-US" sz="1100" b="1" dirty="0"/>
                <a:t>Channels</a:t>
              </a:r>
            </a:p>
          </p:txBody>
        </p:sp>
        <p:sp>
          <p:nvSpPr>
            <p:cNvPr id="22" name="TextBox 21">
              <a:extLst>
                <a:ext uri="{FF2B5EF4-FFF2-40B4-BE49-F238E27FC236}">
                  <a16:creationId xmlns:a16="http://schemas.microsoft.com/office/drawing/2014/main" id="{E4D382B8-74D2-AB38-1FB2-53BEE93E2303}"/>
                </a:ext>
              </a:extLst>
            </p:cNvPr>
            <p:cNvSpPr txBox="1"/>
            <p:nvPr/>
          </p:nvSpPr>
          <p:spPr>
            <a:xfrm>
              <a:off x="7627079" y="875030"/>
              <a:ext cx="1069524" cy="261610"/>
            </a:xfrm>
            <a:prstGeom prst="rect">
              <a:avLst/>
            </a:prstGeom>
            <a:noFill/>
          </p:spPr>
          <p:txBody>
            <a:bodyPr wrap="none" rtlCol="0">
              <a:spAutoFit/>
            </a:bodyPr>
            <a:lstStyle/>
            <a:p>
              <a:r>
                <a:rPr lang="en-US" sz="1100" b="1" dirty="0"/>
                <a:t>Lock Systems</a:t>
              </a:r>
            </a:p>
          </p:txBody>
        </p:sp>
        <p:sp>
          <p:nvSpPr>
            <p:cNvPr id="26" name="Rectangle: Rounded Corners 25">
              <a:extLst>
                <a:ext uri="{FF2B5EF4-FFF2-40B4-BE49-F238E27FC236}">
                  <a16:creationId xmlns:a16="http://schemas.microsoft.com/office/drawing/2014/main" id="{3BC590EB-758C-FD3F-DD36-103D5B03D57C}"/>
                </a:ext>
              </a:extLst>
            </p:cNvPr>
            <p:cNvSpPr/>
            <p:nvPr/>
          </p:nvSpPr>
          <p:spPr>
            <a:xfrm>
              <a:off x="7454401" y="4356530"/>
              <a:ext cx="617475" cy="562611"/>
            </a:xfrm>
            <a:prstGeom prst="roundRect">
              <a:avLst>
                <a:gd name="adj" fmla="val 333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Link</a:t>
              </a:r>
            </a:p>
          </p:txBody>
        </p:sp>
        <p:sp>
          <p:nvSpPr>
            <p:cNvPr id="28" name="Left Brace 27">
              <a:extLst>
                <a:ext uri="{FF2B5EF4-FFF2-40B4-BE49-F238E27FC236}">
                  <a16:creationId xmlns:a16="http://schemas.microsoft.com/office/drawing/2014/main" id="{CE0BD40F-9786-8282-8ADF-3E2C28FD1859}"/>
                </a:ext>
              </a:extLst>
            </p:cNvPr>
            <p:cNvSpPr/>
            <p:nvPr/>
          </p:nvSpPr>
          <p:spPr>
            <a:xfrm>
              <a:off x="3370862" y="1351280"/>
              <a:ext cx="168037" cy="3934480"/>
            </a:xfrm>
            <a:prstGeom prst="leftBrace">
              <a:avLst>
                <a:gd name="adj1" fmla="val 8333"/>
                <a:gd name="adj2" fmla="val 17205"/>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1B634BFA-EB7C-7468-07D3-4AE2344B7AF9}"/>
                </a:ext>
              </a:extLst>
            </p:cNvPr>
            <p:cNvSpPr/>
            <p:nvPr/>
          </p:nvSpPr>
          <p:spPr>
            <a:xfrm>
              <a:off x="5059013" y="5426988"/>
              <a:ext cx="2054606" cy="4749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API Access</a:t>
              </a:r>
            </a:p>
          </p:txBody>
        </p:sp>
        <p:sp>
          <p:nvSpPr>
            <p:cNvPr id="30" name="Rectangle: Rounded Corners 29">
              <a:extLst>
                <a:ext uri="{FF2B5EF4-FFF2-40B4-BE49-F238E27FC236}">
                  <a16:creationId xmlns:a16="http://schemas.microsoft.com/office/drawing/2014/main" id="{5FBD780F-5A66-983E-AD4D-5352403C08FE}"/>
                </a:ext>
              </a:extLst>
            </p:cNvPr>
            <p:cNvSpPr/>
            <p:nvPr/>
          </p:nvSpPr>
          <p:spPr>
            <a:xfrm>
              <a:off x="3704760" y="4810820"/>
              <a:ext cx="1097280" cy="474940"/>
            </a:xfrm>
            <a:prstGeom prst="roundRect">
              <a:avLst>
                <a:gd name="adj" fmla="val 59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SMS</a:t>
              </a:r>
            </a:p>
          </p:txBody>
        </p:sp>
        <p:sp>
          <p:nvSpPr>
            <p:cNvPr id="31" name="TextBox 30">
              <a:extLst>
                <a:ext uri="{FF2B5EF4-FFF2-40B4-BE49-F238E27FC236}">
                  <a16:creationId xmlns:a16="http://schemas.microsoft.com/office/drawing/2014/main" id="{D4240B19-7AB8-4E0C-59A7-EDA3251DB8D2}"/>
                </a:ext>
              </a:extLst>
            </p:cNvPr>
            <p:cNvSpPr txBox="1"/>
            <p:nvPr/>
          </p:nvSpPr>
          <p:spPr>
            <a:xfrm>
              <a:off x="9026072" y="3290500"/>
              <a:ext cx="2975624" cy="276999"/>
            </a:xfrm>
            <a:prstGeom prst="rect">
              <a:avLst/>
            </a:prstGeom>
            <a:noFill/>
          </p:spPr>
          <p:txBody>
            <a:bodyPr wrap="square" rtlCol="0">
              <a:spAutoFit/>
            </a:bodyPr>
            <a:lstStyle/>
            <a:p>
              <a:pPr marL="111125" indent="-111125">
                <a:buFont typeface="Arial" panose="020B0604020202020204" pitchFamily="34" charset="0"/>
                <a:buChar char="•"/>
              </a:pPr>
              <a:r>
                <a:rPr lang="en-US" sz="1200" dirty="0"/>
                <a:t>Accessible Anywhere OTC is Deployed</a:t>
              </a:r>
            </a:p>
          </p:txBody>
        </p:sp>
        <p:sp>
          <p:nvSpPr>
            <p:cNvPr id="33" name="TextBox 32">
              <a:extLst>
                <a:ext uri="{FF2B5EF4-FFF2-40B4-BE49-F238E27FC236}">
                  <a16:creationId xmlns:a16="http://schemas.microsoft.com/office/drawing/2014/main" id="{64F23788-AD91-376B-616C-A83D3C3D3287}"/>
                </a:ext>
              </a:extLst>
            </p:cNvPr>
            <p:cNvSpPr txBox="1"/>
            <p:nvPr/>
          </p:nvSpPr>
          <p:spPr>
            <a:xfrm>
              <a:off x="5021247" y="6043156"/>
              <a:ext cx="3050629" cy="461665"/>
            </a:xfrm>
            <a:prstGeom prst="rect">
              <a:avLst/>
            </a:prstGeom>
            <a:noFill/>
          </p:spPr>
          <p:txBody>
            <a:bodyPr wrap="square" rtlCol="0">
              <a:spAutoFit/>
            </a:bodyPr>
            <a:lstStyle/>
            <a:p>
              <a:pPr marL="111125" indent="-111125">
                <a:buFont typeface="Arial" panose="020B0604020202020204" pitchFamily="34" charset="0"/>
                <a:buChar char="•"/>
              </a:pPr>
              <a:r>
                <a:rPr lang="en-US" sz="1200" dirty="0"/>
                <a:t>Calls from Logistics/Service Platforms</a:t>
              </a:r>
            </a:p>
            <a:p>
              <a:pPr marL="111125" indent="-111125">
                <a:buFont typeface="Arial" panose="020B0604020202020204" pitchFamily="34" charset="0"/>
                <a:buChar char="•"/>
              </a:pPr>
              <a:r>
                <a:rPr lang="en-US" sz="1200" dirty="0"/>
                <a:t>Metered Usage</a:t>
              </a:r>
            </a:p>
          </p:txBody>
        </p:sp>
        <p:sp>
          <p:nvSpPr>
            <p:cNvPr id="34" name="TextBox 33">
              <a:extLst>
                <a:ext uri="{FF2B5EF4-FFF2-40B4-BE49-F238E27FC236}">
                  <a16:creationId xmlns:a16="http://schemas.microsoft.com/office/drawing/2014/main" id="{D49F694C-9992-2531-E699-E7F75775B012}"/>
                </a:ext>
              </a:extLst>
            </p:cNvPr>
            <p:cNvSpPr txBox="1"/>
            <p:nvPr/>
          </p:nvSpPr>
          <p:spPr>
            <a:xfrm>
              <a:off x="9783398" y="4260840"/>
              <a:ext cx="2328996" cy="830997"/>
            </a:xfrm>
            <a:prstGeom prst="rect">
              <a:avLst/>
            </a:prstGeom>
            <a:noFill/>
          </p:spPr>
          <p:txBody>
            <a:bodyPr wrap="square" rtlCol="0">
              <a:spAutoFit/>
            </a:bodyPr>
            <a:lstStyle/>
            <a:p>
              <a:pPr marL="111125" indent="-111125">
                <a:buFont typeface="Arial" panose="020B0604020202020204" pitchFamily="34" charset="0"/>
                <a:buChar char="•"/>
              </a:pPr>
              <a:r>
                <a:rPr lang="en-US" sz="1200" dirty="0"/>
                <a:t>In-Network Appliance </a:t>
              </a:r>
            </a:p>
            <a:p>
              <a:pPr marL="111125" indent="-111125">
                <a:buFont typeface="Arial" panose="020B0604020202020204" pitchFamily="34" charset="0"/>
                <a:buChar char="•"/>
              </a:pPr>
              <a:r>
                <a:rPr lang="en-US" sz="1200" dirty="0"/>
                <a:t>Outbound Connectivity Only</a:t>
              </a:r>
            </a:p>
            <a:p>
              <a:pPr marL="111125" indent="-111125">
                <a:buFont typeface="Arial" panose="020B0604020202020204" pitchFamily="34" charset="0"/>
                <a:buChar char="•"/>
              </a:pPr>
              <a:r>
                <a:rPr lang="en-US" sz="1200" dirty="0"/>
                <a:t>Additional One-Time Purchase/Configuration</a:t>
              </a:r>
            </a:p>
          </p:txBody>
        </p:sp>
        <p:grpSp>
          <p:nvGrpSpPr>
            <p:cNvPr id="41" name="Group 40">
              <a:extLst>
                <a:ext uri="{FF2B5EF4-FFF2-40B4-BE49-F238E27FC236}">
                  <a16:creationId xmlns:a16="http://schemas.microsoft.com/office/drawing/2014/main" id="{200F8F19-225B-385E-6C99-7127A9D73D0E}"/>
                </a:ext>
              </a:extLst>
            </p:cNvPr>
            <p:cNvGrpSpPr/>
            <p:nvPr/>
          </p:nvGrpSpPr>
          <p:grpSpPr>
            <a:xfrm>
              <a:off x="788356" y="977721"/>
              <a:ext cx="1772921" cy="1890738"/>
              <a:chOff x="471443" y="973014"/>
              <a:chExt cx="1772921" cy="1890738"/>
            </a:xfrm>
          </p:grpSpPr>
          <p:pic>
            <p:nvPicPr>
              <p:cNvPr id="27" name="Picture 26">
                <a:extLst>
                  <a:ext uri="{FF2B5EF4-FFF2-40B4-BE49-F238E27FC236}">
                    <a16:creationId xmlns:a16="http://schemas.microsoft.com/office/drawing/2014/main" id="{94F57BC0-D83C-BBCC-1621-D97FAAEF29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515" y="973014"/>
                <a:ext cx="1268777" cy="1773939"/>
              </a:xfrm>
              <a:prstGeom prst="rect">
                <a:avLst/>
              </a:prstGeom>
            </p:spPr>
          </p:pic>
          <p:sp>
            <p:nvSpPr>
              <p:cNvPr id="35" name="TextBox 34">
                <a:extLst>
                  <a:ext uri="{FF2B5EF4-FFF2-40B4-BE49-F238E27FC236}">
                    <a16:creationId xmlns:a16="http://schemas.microsoft.com/office/drawing/2014/main" id="{5EE7A049-710B-F407-D9D4-16C6D4D64A70}"/>
                  </a:ext>
                </a:extLst>
              </p:cNvPr>
              <p:cNvSpPr txBox="1"/>
              <p:nvPr/>
            </p:nvSpPr>
            <p:spPr>
              <a:xfrm>
                <a:off x="471443" y="2555975"/>
                <a:ext cx="1772921" cy="307777"/>
              </a:xfrm>
              <a:prstGeom prst="rect">
                <a:avLst/>
              </a:prstGeom>
              <a:noFill/>
            </p:spPr>
            <p:txBody>
              <a:bodyPr wrap="none" rtlCol="0">
                <a:spAutoFit/>
              </a:bodyPr>
              <a:lstStyle/>
              <a:p>
                <a:r>
                  <a:rPr lang="en-US" sz="1400" b="1" dirty="0"/>
                  <a:t>Loader / Technician</a:t>
                </a:r>
              </a:p>
            </p:txBody>
          </p:sp>
        </p:grpSp>
        <p:grpSp>
          <p:nvGrpSpPr>
            <p:cNvPr id="40" name="Group 39">
              <a:extLst>
                <a:ext uri="{FF2B5EF4-FFF2-40B4-BE49-F238E27FC236}">
                  <a16:creationId xmlns:a16="http://schemas.microsoft.com/office/drawing/2014/main" id="{E44FABA7-509E-2DB9-8B7E-1BF265611399}"/>
                </a:ext>
              </a:extLst>
            </p:cNvPr>
            <p:cNvGrpSpPr/>
            <p:nvPr/>
          </p:nvGrpSpPr>
          <p:grpSpPr>
            <a:xfrm>
              <a:off x="3704760" y="1216660"/>
              <a:ext cx="1097280" cy="2303760"/>
              <a:chOff x="3345941" y="1216660"/>
              <a:chExt cx="1097280" cy="2303760"/>
            </a:xfrm>
          </p:grpSpPr>
          <p:sp>
            <p:nvSpPr>
              <p:cNvPr id="5" name="Rectangle: Rounded Corners 4">
                <a:extLst>
                  <a:ext uri="{FF2B5EF4-FFF2-40B4-BE49-F238E27FC236}">
                    <a16:creationId xmlns:a16="http://schemas.microsoft.com/office/drawing/2014/main" id="{C42E3849-B9CD-3AB0-9BFF-DD07B0DC8212}"/>
                  </a:ext>
                </a:extLst>
              </p:cNvPr>
              <p:cNvSpPr/>
              <p:nvPr/>
            </p:nvSpPr>
            <p:spPr>
              <a:xfrm>
                <a:off x="3345941" y="1216660"/>
                <a:ext cx="1097280" cy="2303760"/>
              </a:xfrm>
              <a:prstGeom prst="roundRect">
                <a:avLst>
                  <a:gd name="adj" fmla="val 64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t>App</a:t>
                </a:r>
              </a:p>
            </p:txBody>
          </p:sp>
          <p:pic>
            <p:nvPicPr>
              <p:cNvPr id="38" name="Picture 37">
                <a:extLst>
                  <a:ext uri="{FF2B5EF4-FFF2-40B4-BE49-F238E27FC236}">
                    <a16:creationId xmlns:a16="http://schemas.microsoft.com/office/drawing/2014/main" id="{D79CC8EF-C541-A320-055D-A20CE478C490}"/>
                  </a:ext>
                </a:extLst>
              </p:cNvPr>
              <p:cNvPicPr>
                <a:picLocks noChangeAspect="1"/>
              </p:cNvPicPr>
              <p:nvPr/>
            </p:nvPicPr>
            <p:blipFill>
              <a:blip r:embed="rId3">
                <a:extLst>
                  <a:ext uri="{28A0092B-C50C-407E-A947-70E740481C1C}">
                    <a14:useLocalDpi xmlns:a14="http://schemas.microsoft.com/office/drawing/2010/main" val="0"/>
                  </a:ext>
                </a:extLst>
              </a:blip>
              <a:srcRect b="6605"/>
              <a:stretch>
                <a:fillRect/>
              </a:stretch>
            </p:blipFill>
            <p:spPr>
              <a:xfrm>
                <a:off x="3377096" y="1260975"/>
                <a:ext cx="1034970" cy="2215129"/>
              </a:xfrm>
              <a:prstGeom prst="rect">
                <a:avLst/>
              </a:prstGeom>
            </p:spPr>
          </p:pic>
          <p:sp>
            <p:nvSpPr>
              <p:cNvPr id="39" name="Rectangle 38">
                <a:extLst>
                  <a:ext uri="{FF2B5EF4-FFF2-40B4-BE49-F238E27FC236}">
                    <a16:creationId xmlns:a16="http://schemas.microsoft.com/office/drawing/2014/main" id="{94AD2C68-359F-9682-E586-375562CE37F7}"/>
                  </a:ext>
                </a:extLst>
              </p:cNvPr>
              <p:cNvSpPr/>
              <p:nvPr/>
            </p:nvSpPr>
            <p:spPr>
              <a:xfrm>
                <a:off x="4258125" y="3290500"/>
                <a:ext cx="151220" cy="138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2" name="Picture 41">
              <a:extLst>
                <a:ext uri="{FF2B5EF4-FFF2-40B4-BE49-F238E27FC236}">
                  <a16:creationId xmlns:a16="http://schemas.microsoft.com/office/drawing/2014/main" id="{98A7B527-12EF-2EE0-4F30-001AEB66D6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7971" y="1616212"/>
              <a:ext cx="2042379" cy="1135448"/>
            </a:xfrm>
            <a:prstGeom prst="rect">
              <a:avLst/>
            </a:prstGeom>
          </p:spPr>
        </p:pic>
        <p:pic>
          <p:nvPicPr>
            <p:cNvPr id="43" name="Picture 42">
              <a:extLst>
                <a:ext uri="{FF2B5EF4-FFF2-40B4-BE49-F238E27FC236}">
                  <a16:creationId xmlns:a16="http://schemas.microsoft.com/office/drawing/2014/main" id="{994D49A2-AEE8-CC04-D2ED-C6AA92DA84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7971" y="3693116"/>
              <a:ext cx="2042379" cy="1135448"/>
            </a:xfrm>
            <a:prstGeom prst="rect">
              <a:avLst/>
            </a:prstGeom>
          </p:spPr>
        </p:pic>
      </p:grpSp>
    </p:spTree>
    <p:extLst>
      <p:ext uri="{BB962C8B-B14F-4D97-AF65-F5344CB8AC3E}">
        <p14:creationId xmlns:p14="http://schemas.microsoft.com/office/powerpoint/2010/main" val="63414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5E154-6F07-BA67-B432-F1CF6276C7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571E17-5E01-D2DB-EE18-506F2F767F19}"/>
              </a:ext>
            </a:extLst>
          </p:cNvPr>
          <p:cNvSpPr txBox="1"/>
          <p:nvPr/>
        </p:nvSpPr>
        <p:spPr>
          <a:xfrm>
            <a:off x="400143" y="325120"/>
            <a:ext cx="10897777" cy="369332"/>
          </a:xfrm>
          <a:prstGeom prst="rect">
            <a:avLst/>
          </a:prstGeom>
          <a:noFill/>
        </p:spPr>
        <p:txBody>
          <a:bodyPr wrap="square" rtlCol="0">
            <a:spAutoFit/>
          </a:bodyPr>
          <a:lstStyle/>
          <a:p>
            <a:r>
              <a:rPr lang="en-US" dirty="0">
                <a:solidFill>
                  <a:schemeClr val="accent2"/>
                </a:solidFill>
              </a:rPr>
              <a:t>Enterprise Lock System Hosting </a:t>
            </a:r>
            <a:r>
              <a:rPr lang="en-US" dirty="0"/>
              <a:t>| Always Available, Always Safe, Always Supported </a:t>
            </a:r>
            <a:r>
              <a:rPr lang="en-US" dirty="0">
                <a:solidFill>
                  <a:schemeClr val="accent1"/>
                </a:solidFill>
              </a:rPr>
              <a:t>Core Lock System Assets</a:t>
            </a:r>
          </a:p>
        </p:txBody>
      </p:sp>
      <p:grpSp>
        <p:nvGrpSpPr>
          <p:cNvPr id="64" name="Group 63">
            <a:extLst>
              <a:ext uri="{FF2B5EF4-FFF2-40B4-BE49-F238E27FC236}">
                <a16:creationId xmlns:a16="http://schemas.microsoft.com/office/drawing/2014/main" id="{B75640D9-5D62-CF1C-EA0D-06BD78F6A6B2}"/>
              </a:ext>
            </a:extLst>
          </p:cNvPr>
          <p:cNvGrpSpPr/>
          <p:nvPr/>
        </p:nvGrpSpPr>
        <p:grpSpPr>
          <a:xfrm>
            <a:off x="970551" y="886549"/>
            <a:ext cx="9423515" cy="5837586"/>
            <a:chOff x="970551" y="886549"/>
            <a:chExt cx="9423515" cy="5837586"/>
          </a:xfrm>
        </p:grpSpPr>
        <p:grpSp>
          <p:nvGrpSpPr>
            <p:cNvPr id="59" name="Group 58">
              <a:extLst>
                <a:ext uri="{FF2B5EF4-FFF2-40B4-BE49-F238E27FC236}">
                  <a16:creationId xmlns:a16="http://schemas.microsoft.com/office/drawing/2014/main" id="{9595CBCD-4CEB-B8FE-324A-42131698DF70}"/>
                </a:ext>
              </a:extLst>
            </p:cNvPr>
            <p:cNvGrpSpPr/>
            <p:nvPr/>
          </p:nvGrpSpPr>
          <p:grpSpPr>
            <a:xfrm>
              <a:off x="970551" y="886549"/>
              <a:ext cx="9423515" cy="5837586"/>
              <a:chOff x="775827" y="805526"/>
              <a:chExt cx="9423515" cy="5837586"/>
            </a:xfrm>
          </p:grpSpPr>
          <p:pic>
            <p:nvPicPr>
              <p:cNvPr id="35" name="Picture 34">
                <a:extLst>
                  <a:ext uri="{FF2B5EF4-FFF2-40B4-BE49-F238E27FC236}">
                    <a16:creationId xmlns:a16="http://schemas.microsoft.com/office/drawing/2014/main" id="{6671BBCC-F35E-FB46-A628-5283B6B9E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5463" y="943357"/>
                <a:ext cx="798238" cy="992271"/>
              </a:xfrm>
              <a:prstGeom prst="rect">
                <a:avLst/>
              </a:prstGeom>
            </p:spPr>
          </p:pic>
          <p:grpSp>
            <p:nvGrpSpPr>
              <p:cNvPr id="12" name="Group 11">
                <a:extLst>
                  <a:ext uri="{FF2B5EF4-FFF2-40B4-BE49-F238E27FC236}">
                    <a16:creationId xmlns:a16="http://schemas.microsoft.com/office/drawing/2014/main" id="{73FFA062-6AF6-C896-C45D-D31AACE3EE0B}"/>
                  </a:ext>
                </a:extLst>
              </p:cNvPr>
              <p:cNvGrpSpPr/>
              <p:nvPr/>
            </p:nvGrpSpPr>
            <p:grpSpPr>
              <a:xfrm>
                <a:off x="6574543" y="2144600"/>
                <a:ext cx="1635760" cy="1717040"/>
                <a:chOff x="6300781" y="3201671"/>
                <a:chExt cx="1635760" cy="1717040"/>
              </a:xfrm>
            </p:grpSpPr>
            <p:sp>
              <p:nvSpPr>
                <p:cNvPr id="9" name="Rectangle: Rounded Corners 8">
                  <a:extLst>
                    <a:ext uri="{FF2B5EF4-FFF2-40B4-BE49-F238E27FC236}">
                      <a16:creationId xmlns:a16="http://schemas.microsoft.com/office/drawing/2014/main" id="{79DC5780-ADF0-CD2A-D569-751E915EE075}"/>
                    </a:ext>
                  </a:extLst>
                </p:cNvPr>
                <p:cNvSpPr/>
                <p:nvPr/>
              </p:nvSpPr>
              <p:spPr>
                <a:xfrm>
                  <a:off x="6300781" y="3201671"/>
                  <a:ext cx="1635760" cy="1717040"/>
                </a:xfrm>
                <a:prstGeom prst="roundRect">
                  <a:avLst>
                    <a:gd name="adj" fmla="val 3165"/>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100" b="1" dirty="0">
                      <a:solidFill>
                        <a:schemeClr val="tx1">
                          <a:lumMod val="50000"/>
                          <a:lumOff val="50000"/>
                        </a:schemeClr>
                      </a:solidFill>
                    </a:rPr>
                    <a:t>Enterprise Hosted</a:t>
                  </a:r>
                </a:p>
              </p:txBody>
            </p:sp>
            <p:sp>
              <p:nvSpPr>
                <p:cNvPr id="10" name="Rectangle: Rounded Corners 9">
                  <a:extLst>
                    <a:ext uri="{FF2B5EF4-FFF2-40B4-BE49-F238E27FC236}">
                      <a16:creationId xmlns:a16="http://schemas.microsoft.com/office/drawing/2014/main" id="{31881B1A-7B00-3CEA-87ED-B2DCC21ECCCD}"/>
                    </a:ext>
                  </a:extLst>
                </p:cNvPr>
                <p:cNvSpPr/>
                <p:nvPr/>
              </p:nvSpPr>
              <p:spPr>
                <a:xfrm>
                  <a:off x="6428959" y="3333751"/>
                  <a:ext cx="1371600" cy="562610"/>
                </a:xfrm>
                <a:prstGeom prst="roundRect">
                  <a:avLst>
                    <a:gd name="adj" fmla="val 5377"/>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lumMod val="50000"/>
                          <a:lumOff val="50000"/>
                        </a:schemeClr>
                      </a:solidFill>
                    </a:rPr>
                    <a:t>Lock System</a:t>
                  </a:r>
                </a:p>
              </p:txBody>
            </p:sp>
            <p:sp>
              <p:nvSpPr>
                <p:cNvPr id="11" name="Rectangle: Rounded Corners 10">
                  <a:extLst>
                    <a:ext uri="{FF2B5EF4-FFF2-40B4-BE49-F238E27FC236}">
                      <a16:creationId xmlns:a16="http://schemas.microsoft.com/office/drawing/2014/main" id="{E25C3C8D-5EFF-D3D2-9062-6B64DA07E902}"/>
                    </a:ext>
                  </a:extLst>
                </p:cNvPr>
                <p:cNvSpPr/>
                <p:nvPr/>
              </p:nvSpPr>
              <p:spPr>
                <a:xfrm>
                  <a:off x="6428959" y="4010661"/>
                  <a:ext cx="1371600" cy="562610"/>
                </a:xfrm>
                <a:prstGeom prst="roundRect">
                  <a:avLst>
                    <a:gd name="adj" fmla="val 5377"/>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lumMod val="50000"/>
                          <a:lumOff val="50000"/>
                        </a:schemeClr>
                      </a:solidFill>
                    </a:rPr>
                    <a:t>Keybox</a:t>
                  </a:r>
                </a:p>
              </p:txBody>
            </p:sp>
          </p:grpSp>
          <p:sp>
            <p:nvSpPr>
              <p:cNvPr id="6" name="Rectangle: Rounded Corners 5">
                <a:extLst>
                  <a:ext uri="{FF2B5EF4-FFF2-40B4-BE49-F238E27FC236}">
                    <a16:creationId xmlns:a16="http://schemas.microsoft.com/office/drawing/2014/main" id="{33BDC104-7998-FF3D-7E59-3BF927335E64}"/>
                  </a:ext>
                </a:extLst>
              </p:cNvPr>
              <p:cNvSpPr/>
              <p:nvPr/>
            </p:nvSpPr>
            <p:spPr>
              <a:xfrm>
                <a:off x="4810605" y="2144600"/>
                <a:ext cx="1635760" cy="1717040"/>
              </a:xfrm>
              <a:prstGeom prst="roundRect">
                <a:avLst>
                  <a:gd name="adj" fmla="val 3165"/>
                </a:avLst>
              </a:prstGeom>
              <a:solidFill>
                <a:srgbClr val="00990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100" b="1" dirty="0">
                    <a:solidFill>
                      <a:schemeClr val="tx1"/>
                    </a:solidFill>
                  </a:rPr>
                  <a:t>Enterprise Hosted</a:t>
                </a:r>
              </a:p>
            </p:txBody>
          </p:sp>
          <p:sp>
            <p:nvSpPr>
              <p:cNvPr id="7" name="Rectangle: Rounded Corners 6">
                <a:extLst>
                  <a:ext uri="{FF2B5EF4-FFF2-40B4-BE49-F238E27FC236}">
                    <a16:creationId xmlns:a16="http://schemas.microsoft.com/office/drawing/2014/main" id="{5FC71E21-A939-1497-5662-7DDF8072ADA4}"/>
                  </a:ext>
                </a:extLst>
              </p:cNvPr>
              <p:cNvSpPr/>
              <p:nvPr/>
            </p:nvSpPr>
            <p:spPr>
              <a:xfrm>
                <a:off x="4938783" y="2276680"/>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400" dirty="0"/>
                  <a:t>Lock System DB</a:t>
                </a:r>
              </a:p>
            </p:txBody>
          </p:sp>
          <p:sp>
            <p:nvSpPr>
              <p:cNvPr id="8" name="Rectangle: Rounded Corners 7">
                <a:extLst>
                  <a:ext uri="{FF2B5EF4-FFF2-40B4-BE49-F238E27FC236}">
                    <a16:creationId xmlns:a16="http://schemas.microsoft.com/office/drawing/2014/main" id="{AEA24992-5DD6-9270-880A-E7DB595A3BEE}"/>
                  </a:ext>
                </a:extLst>
              </p:cNvPr>
              <p:cNvSpPr/>
              <p:nvPr/>
            </p:nvSpPr>
            <p:spPr>
              <a:xfrm>
                <a:off x="4938783" y="2953590"/>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Keybox</a:t>
                </a:r>
              </a:p>
            </p:txBody>
          </p:sp>
          <p:sp>
            <p:nvSpPr>
              <p:cNvPr id="13" name="Rectangle: Rounded Corners 12">
                <a:extLst>
                  <a:ext uri="{FF2B5EF4-FFF2-40B4-BE49-F238E27FC236}">
                    <a16:creationId xmlns:a16="http://schemas.microsoft.com/office/drawing/2014/main" id="{13A60372-337E-673A-BD4A-8DABD5E0B474}"/>
                  </a:ext>
                </a:extLst>
              </p:cNvPr>
              <p:cNvSpPr/>
              <p:nvPr/>
            </p:nvSpPr>
            <p:spPr>
              <a:xfrm>
                <a:off x="2240178" y="2276680"/>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Lock System</a:t>
                </a:r>
              </a:p>
            </p:txBody>
          </p:sp>
          <p:sp>
            <p:nvSpPr>
              <p:cNvPr id="15" name="Rectangle: Rounded Corners 14">
                <a:extLst>
                  <a:ext uri="{FF2B5EF4-FFF2-40B4-BE49-F238E27FC236}">
                    <a16:creationId xmlns:a16="http://schemas.microsoft.com/office/drawing/2014/main" id="{DE74BEA2-BCC5-66BF-23DD-B1412DED1556}"/>
                  </a:ext>
                </a:extLst>
              </p:cNvPr>
              <p:cNvSpPr/>
              <p:nvPr/>
            </p:nvSpPr>
            <p:spPr>
              <a:xfrm>
                <a:off x="2240178" y="2953590"/>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Keybox</a:t>
                </a:r>
              </a:p>
            </p:txBody>
          </p:sp>
          <p:sp>
            <p:nvSpPr>
              <p:cNvPr id="18" name="Rectangle: Rounded Corners 17">
                <a:extLst>
                  <a:ext uri="{FF2B5EF4-FFF2-40B4-BE49-F238E27FC236}">
                    <a16:creationId xmlns:a16="http://schemas.microsoft.com/office/drawing/2014/main" id="{0BE8F680-C9F1-B2E3-181D-21749DD7151E}"/>
                  </a:ext>
                </a:extLst>
              </p:cNvPr>
              <p:cNvSpPr/>
              <p:nvPr/>
            </p:nvSpPr>
            <p:spPr>
              <a:xfrm>
                <a:off x="4138463" y="805526"/>
                <a:ext cx="6060879" cy="3475860"/>
              </a:xfrm>
              <a:prstGeom prst="roundRect">
                <a:avLst>
                  <a:gd name="adj" fmla="val 2067"/>
                </a:avLst>
              </a:prstGeom>
              <a:no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1200" b="1" dirty="0">
                    <a:solidFill>
                      <a:schemeClr val="tx2"/>
                    </a:solidFill>
                  </a:rPr>
                  <a:t>CoorWorks Enterprise (AWS)</a:t>
                </a:r>
              </a:p>
            </p:txBody>
          </p:sp>
          <p:sp>
            <p:nvSpPr>
              <p:cNvPr id="19" name="Rectangle: Rounded Corners 18">
                <a:extLst>
                  <a:ext uri="{FF2B5EF4-FFF2-40B4-BE49-F238E27FC236}">
                    <a16:creationId xmlns:a16="http://schemas.microsoft.com/office/drawing/2014/main" id="{BE672117-ECC9-A969-BCC7-A6298670DB44}"/>
                  </a:ext>
                </a:extLst>
              </p:cNvPr>
              <p:cNvSpPr/>
              <p:nvPr/>
            </p:nvSpPr>
            <p:spPr>
              <a:xfrm>
                <a:off x="5315845" y="4095680"/>
                <a:ext cx="617475" cy="562611"/>
              </a:xfrm>
              <a:prstGeom prst="roundRect">
                <a:avLst>
                  <a:gd name="adj" fmla="val 3334"/>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t>FW</a:t>
                </a:r>
              </a:p>
            </p:txBody>
          </p:sp>
          <p:sp>
            <p:nvSpPr>
              <p:cNvPr id="25" name="TextBox 24">
                <a:extLst>
                  <a:ext uri="{FF2B5EF4-FFF2-40B4-BE49-F238E27FC236}">
                    <a16:creationId xmlns:a16="http://schemas.microsoft.com/office/drawing/2014/main" id="{AF27B424-DC5C-9787-6BE6-305DA0A96B6A}"/>
                  </a:ext>
                </a:extLst>
              </p:cNvPr>
              <p:cNvSpPr txBox="1"/>
              <p:nvPr/>
            </p:nvSpPr>
            <p:spPr>
              <a:xfrm>
                <a:off x="940401" y="3867202"/>
                <a:ext cx="2211848" cy="830997"/>
              </a:xfrm>
              <a:prstGeom prst="rect">
                <a:avLst/>
              </a:prstGeom>
              <a:noFill/>
            </p:spPr>
            <p:txBody>
              <a:bodyPr wrap="square" rtlCol="0">
                <a:spAutoFit/>
              </a:bodyPr>
              <a:lstStyle/>
              <a:p>
                <a:r>
                  <a:rPr lang="en-US" sz="1200" b="1" dirty="0"/>
                  <a:t>No Changes in Operations</a:t>
                </a:r>
              </a:p>
              <a:p>
                <a:pPr marL="111125" indent="-111125">
                  <a:buFont typeface="Arial" panose="020B0604020202020204" pitchFamily="34" charset="0"/>
                  <a:buChar char="•"/>
                </a:pPr>
                <a:r>
                  <a:rPr lang="en-US" sz="1200" dirty="0"/>
                  <a:t>Lock System Administration</a:t>
                </a:r>
              </a:p>
              <a:p>
                <a:pPr marL="111125" indent="-111125">
                  <a:buFont typeface="Arial" panose="020B0604020202020204" pitchFamily="34" charset="0"/>
                  <a:buChar char="•"/>
                </a:pPr>
                <a:r>
                  <a:rPr lang="en-US" sz="1200" dirty="0"/>
                  <a:t>Manual Dispatching</a:t>
                </a:r>
              </a:p>
              <a:p>
                <a:pPr marL="111125" indent="-111125">
                  <a:buFont typeface="Arial" panose="020B0604020202020204" pitchFamily="34" charset="0"/>
                  <a:buChar char="•"/>
                </a:pPr>
                <a:r>
                  <a:rPr lang="en-US" sz="1200" dirty="0"/>
                  <a:t>Key Management</a:t>
                </a:r>
              </a:p>
            </p:txBody>
          </p:sp>
          <p:sp>
            <p:nvSpPr>
              <p:cNvPr id="28" name="TextBox 27">
                <a:extLst>
                  <a:ext uri="{FF2B5EF4-FFF2-40B4-BE49-F238E27FC236}">
                    <a16:creationId xmlns:a16="http://schemas.microsoft.com/office/drawing/2014/main" id="{0908DEBD-EB88-28E6-FA7E-6877AE353617}"/>
                  </a:ext>
                </a:extLst>
              </p:cNvPr>
              <p:cNvSpPr txBox="1"/>
              <p:nvPr/>
            </p:nvSpPr>
            <p:spPr>
              <a:xfrm>
                <a:off x="8248628" y="2526858"/>
                <a:ext cx="1847241" cy="1015663"/>
              </a:xfrm>
              <a:prstGeom prst="rect">
                <a:avLst/>
              </a:prstGeom>
              <a:noFill/>
            </p:spPr>
            <p:txBody>
              <a:bodyPr wrap="square" rtlCol="0">
                <a:spAutoFit/>
              </a:bodyPr>
              <a:lstStyle/>
              <a:p>
                <a:pPr marL="111125" indent="-111125">
                  <a:buFont typeface="Arial" panose="020B0604020202020204" pitchFamily="34" charset="0"/>
                  <a:buChar char="•"/>
                </a:pPr>
                <a:r>
                  <a:rPr lang="en-US" sz="1200" dirty="0"/>
                  <a:t>Redundant Secondary Architecture</a:t>
                </a:r>
              </a:p>
              <a:p>
                <a:pPr marL="111125" indent="-111125">
                  <a:buFont typeface="Arial" panose="020B0604020202020204" pitchFamily="34" charset="0"/>
                  <a:buChar char="•"/>
                </a:pPr>
                <a:r>
                  <a:rPr lang="en-US" sz="1200" dirty="0"/>
                  <a:t>Redundant Keybox Authentication</a:t>
                </a:r>
              </a:p>
              <a:p>
                <a:pPr marL="111125" indent="-111125">
                  <a:buFont typeface="Arial" panose="020B0604020202020204" pitchFamily="34" charset="0"/>
                  <a:buChar char="•"/>
                </a:pPr>
                <a:endParaRPr lang="en-US" sz="1200" dirty="0"/>
              </a:p>
            </p:txBody>
          </p:sp>
          <p:sp>
            <p:nvSpPr>
              <p:cNvPr id="31" name="Rectangle: Rounded Corners 30">
                <a:extLst>
                  <a:ext uri="{FF2B5EF4-FFF2-40B4-BE49-F238E27FC236}">
                    <a16:creationId xmlns:a16="http://schemas.microsoft.com/office/drawing/2014/main" id="{4CDE8471-F935-37AA-3F02-1620EBB54AC5}"/>
                  </a:ext>
                </a:extLst>
              </p:cNvPr>
              <p:cNvSpPr/>
              <p:nvPr/>
            </p:nvSpPr>
            <p:spPr>
              <a:xfrm>
                <a:off x="775827" y="1876451"/>
                <a:ext cx="3188329" cy="3187030"/>
              </a:xfrm>
              <a:prstGeom prst="roundRect">
                <a:avLst>
                  <a:gd name="adj" fmla="val 2067"/>
                </a:avLst>
              </a:prstGeom>
              <a:noFill/>
              <a:ln>
                <a:solidFill>
                  <a:schemeClr val="tx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1200" b="1" dirty="0">
                    <a:solidFill>
                      <a:schemeClr val="tx2"/>
                    </a:solidFill>
                  </a:rPr>
                  <a:t>Internal Ops</a:t>
                </a:r>
              </a:p>
            </p:txBody>
          </p:sp>
          <p:pic>
            <p:nvPicPr>
              <p:cNvPr id="33" name="Picture 32">
                <a:extLst>
                  <a:ext uri="{FF2B5EF4-FFF2-40B4-BE49-F238E27FC236}">
                    <a16:creationId xmlns:a16="http://schemas.microsoft.com/office/drawing/2014/main" id="{22B74D43-4925-A184-A8F1-2001E39294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079" y="2339221"/>
                <a:ext cx="964589" cy="1228738"/>
              </a:xfrm>
              <a:prstGeom prst="rect">
                <a:avLst/>
              </a:prstGeom>
            </p:spPr>
          </p:pic>
          <p:sp>
            <p:nvSpPr>
              <p:cNvPr id="36" name="TextBox 35">
                <a:extLst>
                  <a:ext uri="{FF2B5EF4-FFF2-40B4-BE49-F238E27FC236}">
                    <a16:creationId xmlns:a16="http://schemas.microsoft.com/office/drawing/2014/main" id="{AB3869DD-9C33-9E81-9C3D-11CA47FD0948}"/>
                  </a:ext>
                </a:extLst>
              </p:cNvPr>
              <p:cNvSpPr txBox="1"/>
              <p:nvPr/>
            </p:nvSpPr>
            <p:spPr>
              <a:xfrm>
                <a:off x="6023701" y="931660"/>
                <a:ext cx="2514278" cy="1015663"/>
              </a:xfrm>
              <a:prstGeom prst="rect">
                <a:avLst/>
              </a:prstGeom>
              <a:noFill/>
            </p:spPr>
            <p:txBody>
              <a:bodyPr wrap="none" rtlCol="0">
                <a:spAutoFit/>
              </a:bodyPr>
              <a:lstStyle/>
              <a:p>
                <a:r>
                  <a:rPr lang="en-US" sz="1200" b="1" dirty="0"/>
                  <a:t>CoorWorks Support</a:t>
                </a:r>
              </a:p>
              <a:p>
                <a:pPr marL="285750" indent="-285750">
                  <a:buFont typeface="Arial" panose="020B0604020202020204" pitchFamily="34" charset="0"/>
                  <a:buChar char="•"/>
                </a:pPr>
                <a:r>
                  <a:rPr lang="en-US" sz="1200" dirty="0"/>
                  <a:t>Automated Monitoring/Alerting</a:t>
                </a:r>
              </a:p>
              <a:p>
                <a:pPr marL="285750" indent="-285750">
                  <a:buFont typeface="Arial" panose="020B0604020202020204" pitchFamily="34" charset="0"/>
                  <a:buChar char="•"/>
                </a:pPr>
                <a:r>
                  <a:rPr lang="en-US" sz="1200" dirty="0"/>
                  <a:t>Solution Configuration</a:t>
                </a:r>
              </a:p>
              <a:p>
                <a:pPr marL="285750" indent="-285750">
                  <a:buFont typeface="Arial" panose="020B0604020202020204" pitchFamily="34" charset="0"/>
                  <a:buChar char="•"/>
                </a:pPr>
                <a:r>
                  <a:rPr lang="en-US" sz="1200" dirty="0"/>
                  <a:t>Lock System Expertise</a:t>
                </a:r>
              </a:p>
              <a:p>
                <a:pPr marL="285750" indent="-285750">
                  <a:buFont typeface="Arial" panose="020B0604020202020204" pitchFamily="34" charset="0"/>
                  <a:buChar char="•"/>
                </a:pPr>
                <a:r>
                  <a:rPr lang="en-US" sz="1200" dirty="0"/>
                  <a:t>Last Tier Functional Support</a:t>
                </a:r>
              </a:p>
            </p:txBody>
          </p:sp>
          <p:grpSp>
            <p:nvGrpSpPr>
              <p:cNvPr id="48" name="Group 47">
                <a:extLst>
                  <a:ext uri="{FF2B5EF4-FFF2-40B4-BE49-F238E27FC236}">
                    <a16:creationId xmlns:a16="http://schemas.microsoft.com/office/drawing/2014/main" id="{F0348E93-8500-AAB2-A30B-ED99C2116E12}"/>
                  </a:ext>
                </a:extLst>
              </p:cNvPr>
              <p:cNvGrpSpPr/>
              <p:nvPr/>
            </p:nvGrpSpPr>
            <p:grpSpPr>
              <a:xfrm>
                <a:off x="4517607" y="1220010"/>
                <a:ext cx="798238" cy="727313"/>
                <a:chOff x="4477816" y="1092998"/>
                <a:chExt cx="798238" cy="727313"/>
              </a:xfrm>
            </p:grpSpPr>
            <p:sp>
              <p:nvSpPr>
                <p:cNvPr id="37" name="Rectangle: Rounded Corners 36">
                  <a:extLst>
                    <a:ext uri="{FF2B5EF4-FFF2-40B4-BE49-F238E27FC236}">
                      <a16:creationId xmlns:a16="http://schemas.microsoft.com/office/drawing/2014/main" id="{F390A07D-8554-7CA0-E9DD-AE06A2871FEE}"/>
                    </a:ext>
                  </a:extLst>
                </p:cNvPr>
                <p:cNvSpPr/>
                <p:nvPr/>
              </p:nvSpPr>
              <p:spPr>
                <a:xfrm>
                  <a:off x="4477816" y="1092998"/>
                  <a:ext cx="798238" cy="727313"/>
                </a:xfrm>
                <a:prstGeom prst="roundRect">
                  <a:avLst>
                    <a:gd name="adj" fmla="val 3334"/>
                  </a:avLst>
                </a:prstGeom>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400" b="1" dirty="0">
                    <a:solidFill>
                      <a:schemeClr val="bg1"/>
                    </a:solidFill>
                  </a:endParaRPr>
                </a:p>
                <a:p>
                  <a:pPr algn="ctr"/>
                  <a:endParaRPr lang="en-US" sz="1400" b="1" dirty="0">
                    <a:solidFill>
                      <a:schemeClr val="bg1"/>
                    </a:solidFill>
                  </a:endParaRPr>
                </a:p>
                <a:p>
                  <a:pPr algn="ctr"/>
                  <a:r>
                    <a:rPr lang="en-US" sz="1400" b="1" dirty="0">
                      <a:solidFill>
                        <a:schemeClr val="bg1"/>
                      </a:solidFill>
                    </a:rPr>
                    <a:t>Monitors</a:t>
                  </a:r>
                  <a:endParaRPr lang="en-US" sz="1200" b="1" dirty="0">
                    <a:solidFill>
                      <a:schemeClr val="bg1"/>
                    </a:solidFill>
                  </a:endParaRPr>
                </a:p>
              </p:txBody>
            </p:sp>
            <p:pic>
              <p:nvPicPr>
                <p:cNvPr id="45" name="Picture 44">
                  <a:extLst>
                    <a:ext uri="{FF2B5EF4-FFF2-40B4-BE49-F238E27FC236}">
                      <a16:creationId xmlns:a16="http://schemas.microsoft.com/office/drawing/2014/main" id="{E7D90A34-82FF-CE53-BFC8-4C05322C04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0945" y="1157395"/>
                  <a:ext cx="431981" cy="431981"/>
                </a:xfrm>
                <a:prstGeom prst="rect">
                  <a:avLst/>
                </a:prstGeom>
              </p:spPr>
            </p:pic>
          </p:grpSp>
          <p:sp>
            <p:nvSpPr>
              <p:cNvPr id="49" name="Rectangle: Rounded Corners 48">
                <a:extLst>
                  <a:ext uri="{FF2B5EF4-FFF2-40B4-BE49-F238E27FC236}">
                    <a16:creationId xmlns:a16="http://schemas.microsoft.com/office/drawing/2014/main" id="{21CCB49D-F2F7-7413-E6A3-30F35A405333}"/>
                  </a:ext>
                </a:extLst>
              </p:cNvPr>
              <p:cNvSpPr/>
              <p:nvPr/>
            </p:nvSpPr>
            <p:spPr>
              <a:xfrm>
                <a:off x="4138462" y="4419217"/>
                <a:ext cx="6060879" cy="2223895"/>
              </a:xfrm>
              <a:prstGeom prst="roundRect">
                <a:avLst>
                  <a:gd name="adj" fmla="val 2067"/>
                </a:avLst>
              </a:prstGeom>
              <a:no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1200" b="1" dirty="0">
                    <a:solidFill>
                      <a:schemeClr val="tx2"/>
                    </a:solidFill>
                  </a:rPr>
                  <a:t>Redundant OTC Anywhere Services</a:t>
                </a:r>
              </a:p>
            </p:txBody>
          </p:sp>
          <p:grpSp>
            <p:nvGrpSpPr>
              <p:cNvPr id="58" name="Group 57">
                <a:extLst>
                  <a:ext uri="{FF2B5EF4-FFF2-40B4-BE49-F238E27FC236}">
                    <a16:creationId xmlns:a16="http://schemas.microsoft.com/office/drawing/2014/main" id="{26018A4D-D138-D95A-31AC-49678F490AD7}"/>
                  </a:ext>
                </a:extLst>
              </p:cNvPr>
              <p:cNvGrpSpPr/>
              <p:nvPr/>
            </p:nvGrpSpPr>
            <p:grpSpPr>
              <a:xfrm>
                <a:off x="4493229" y="4769651"/>
                <a:ext cx="3556714" cy="1523026"/>
                <a:chOff x="4517607" y="4840800"/>
                <a:chExt cx="4020372" cy="1721570"/>
              </a:xfrm>
            </p:grpSpPr>
            <p:sp>
              <p:nvSpPr>
                <p:cNvPr id="51" name="Rectangle: Rounded Corners 50">
                  <a:extLst>
                    <a:ext uri="{FF2B5EF4-FFF2-40B4-BE49-F238E27FC236}">
                      <a16:creationId xmlns:a16="http://schemas.microsoft.com/office/drawing/2014/main" id="{CDFD466D-ED82-7988-A0CC-2D173E24D375}"/>
                    </a:ext>
                  </a:extLst>
                </p:cNvPr>
                <p:cNvSpPr/>
                <p:nvPr/>
              </p:nvSpPr>
              <p:spPr>
                <a:xfrm>
                  <a:off x="6705708" y="4840800"/>
                  <a:ext cx="1832271" cy="1721570"/>
                </a:xfrm>
                <a:prstGeom prst="roundRect">
                  <a:avLst>
                    <a:gd name="adj" fmla="val 3165"/>
                  </a:avLst>
                </a:prstGeom>
                <a:solidFill>
                  <a:srgbClr val="00990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wrap="none" rtlCol="0" anchor="b"/>
                <a:lstStyle/>
                <a:p>
                  <a:pPr algn="ctr"/>
                  <a:r>
                    <a:rPr lang="en-US" sz="1100" b="1" dirty="0">
                      <a:solidFill>
                        <a:schemeClr val="tx1"/>
                      </a:solidFill>
                    </a:rPr>
                    <a:t>Secondary OTC Service</a:t>
                  </a:r>
                </a:p>
              </p:txBody>
            </p:sp>
            <p:sp>
              <p:nvSpPr>
                <p:cNvPr id="50" name="Rectangle: Rounded Corners 49">
                  <a:extLst>
                    <a:ext uri="{FF2B5EF4-FFF2-40B4-BE49-F238E27FC236}">
                      <a16:creationId xmlns:a16="http://schemas.microsoft.com/office/drawing/2014/main" id="{C0DF26CC-BE69-2544-41E0-C6CFFA294B74}"/>
                    </a:ext>
                  </a:extLst>
                </p:cNvPr>
                <p:cNvSpPr/>
                <p:nvPr/>
              </p:nvSpPr>
              <p:spPr>
                <a:xfrm>
                  <a:off x="4517607" y="4841332"/>
                  <a:ext cx="1832271" cy="1721036"/>
                </a:xfrm>
                <a:prstGeom prst="roundRect">
                  <a:avLst>
                    <a:gd name="adj" fmla="val 3165"/>
                  </a:avLst>
                </a:prstGeom>
                <a:solidFill>
                  <a:srgbClr val="00990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100" b="1" dirty="0">
                      <a:solidFill>
                        <a:schemeClr val="tx1"/>
                      </a:solidFill>
                    </a:rPr>
                    <a:t>Primary OTC Service</a:t>
                  </a:r>
                </a:p>
              </p:txBody>
            </p:sp>
          </p:grpSp>
          <p:sp>
            <p:nvSpPr>
              <p:cNvPr id="14" name="Rectangle: Rounded Corners 13">
                <a:extLst>
                  <a:ext uri="{FF2B5EF4-FFF2-40B4-BE49-F238E27FC236}">
                    <a16:creationId xmlns:a16="http://schemas.microsoft.com/office/drawing/2014/main" id="{BC2905D5-ABFF-4E6C-7BAB-CDED0796419F}"/>
                  </a:ext>
                </a:extLst>
              </p:cNvPr>
              <p:cNvSpPr/>
              <p:nvPr/>
            </p:nvSpPr>
            <p:spPr>
              <a:xfrm>
                <a:off x="3811357" y="2276678"/>
                <a:ext cx="617475" cy="562611"/>
              </a:xfrm>
              <a:prstGeom prst="roundRect">
                <a:avLst>
                  <a:gd name="adj" fmla="val 3334"/>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t>FW</a:t>
                </a:r>
              </a:p>
            </p:txBody>
          </p:sp>
        </p:grpSp>
        <p:pic>
          <p:nvPicPr>
            <p:cNvPr id="60" name="Picture 59">
              <a:extLst>
                <a:ext uri="{FF2B5EF4-FFF2-40B4-BE49-F238E27FC236}">
                  <a16:creationId xmlns:a16="http://schemas.microsoft.com/office/drawing/2014/main" id="{9DC00A4B-0C1D-D96B-E8D9-E48AA6E620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47347" y="5077064"/>
              <a:ext cx="1726444" cy="959806"/>
            </a:xfrm>
            <a:prstGeom prst="rect">
              <a:avLst/>
            </a:prstGeom>
          </p:spPr>
        </p:pic>
        <p:pic>
          <p:nvPicPr>
            <p:cNvPr id="62" name="Picture 61">
              <a:extLst>
                <a:ext uri="{FF2B5EF4-FFF2-40B4-BE49-F238E27FC236}">
                  <a16:creationId xmlns:a16="http://schemas.microsoft.com/office/drawing/2014/main" id="{0AC97DA4-377B-2F49-9A28-6DAC629FB2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0965" y="5077064"/>
              <a:ext cx="1726444" cy="959806"/>
            </a:xfrm>
            <a:prstGeom prst="rect">
              <a:avLst/>
            </a:prstGeom>
          </p:spPr>
        </p:pic>
        <p:sp>
          <p:nvSpPr>
            <p:cNvPr id="63" name="TextBox 62">
              <a:extLst>
                <a:ext uri="{FF2B5EF4-FFF2-40B4-BE49-F238E27FC236}">
                  <a16:creationId xmlns:a16="http://schemas.microsoft.com/office/drawing/2014/main" id="{104810F5-2E7E-2340-552C-AF6B81609C54}"/>
                </a:ext>
              </a:extLst>
            </p:cNvPr>
            <p:cNvSpPr txBox="1"/>
            <p:nvPr/>
          </p:nvSpPr>
          <p:spPr>
            <a:xfrm>
              <a:off x="8350151" y="4850674"/>
              <a:ext cx="1847241" cy="646331"/>
            </a:xfrm>
            <a:prstGeom prst="rect">
              <a:avLst/>
            </a:prstGeom>
            <a:noFill/>
          </p:spPr>
          <p:txBody>
            <a:bodyPr wrap="square" rtlCol="0">
              <a:spAutoFit/>
            </a:bodyPr>
            <a:lstStyle/>
            <a:p>
              <a:pPr marL="111125" indent="-111125">
                <a:buFont typeface="Arial" panose="020B0604020202020204" pitchFamily="34" charset="0"/>
                <a:buChar char="•"/>
              </a:pPr>
              <a:r>
                <a:rPr lang="en-US" sz="1200" dirty="0"/>
                <a:t>Service Failover</a:t>
              </a:r>
            </a:p>
            <a:p>
              <a:pPr marL="111125" indent="-111125">
                <a:buFont typeface="Arial" panose="020B0604020202020204" pitchFamily="34" charset="0"/>
                <a:buChar char="•"/>
              </a:pPr>
              <a:r>
                <a:rPr lang="en-US" sz="1200" dirty="0"/>
                <a:t>Geographically Flexible</a:t>
              </a:r>
            </a:p>
            <a:p>
              <a:pPr marL="111125" indent="-111125">
                <a:buFont typeface="Arial" panose="020B0604020202020204" pitchFamily="34" charset="0"/>
                <a:buChar char="•"/>
              </a:pPr>
              <a:endParaRPr lang="en-US" sz="1200" dirty="0"/>
            </a:p>
          </p:txBody>
        </p:sp>
      </p:grpSp>
    </p:spTree>
    <p:extLst>
      <p:ext uri="{BB962C8B-B14F-4D97-AF65-F5344CB8AC3E}">
        <p14:creationId xmlns:p14="http://schemas.microsoft.com/office/powerpoint/2010/main" val="915328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92C2EBEC-E3B1-D2E8-AA0B-270BBF32E3DD}"/>
              </a:ext>
            </a:extLst>
          </p:cNvPr>
          <p:cNvGrpSpPr/>
          <p:nvPr/>
        </p:nvGrpSpPr>
        <p:grpSpPr>
          <a:xfrm>
            <a:off x="4122423" y="1878576"/>
            <a:ext cx="1647252" cy="3382042"/>
            <a:chOff x="4122423" y="1878576"/>
            <a:chExt cx="1647252" cy="3382042"/>
          </a:xfrm>
        </p:grpSpPr>
        <p:sp>
          <p:nvSpPr>
            <p:cNvPr id="14" name="Rectangle: Rounded Corners 13">
              <a:extLst>
                <a:ext uri="{FF2B5EF4-FFF2-40B4-BE49-F238E27FC236}">
                  <a16:creationId xmlns:a16="http://schemas.microsoft.com/office/drawing/2014/main" id="{0C621663-17E3-B2F8-1F74-1333B2BB0F10}"/>
                </a:ext>
              </a:extLst>
            </p:cNvPr>
            <p:cNvSpPr/>
            <p:nvPr/>
          </p:nvSpPr>
          <p:spPr>
            <a:xfrm>
              <a:off x="4122423" y="1878576"/>
              <a:ext cx="1647252" cy="3382042"/>
            </a:xfrm>
            <a:prstGeom prst="roundRect">
              <a:avLst>
                <a:gd name="adj" fmla="val 64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t>App</a:t>
              </a:r>
            </a:p>
          </p:txBody>
        </p:sp>
        <p:pic>
          <p:nvPicPr>
            <p:cNvPr id="15" name="Picture 14">
              <a:extLst>
                <a:ext uri="{FF2B5EF4-FFF2-40B4-BE49-F238E27FC236}">
                  <a16:creationId xmlns:a16="http://schemas.microsoft.com/office/drawing/2014/main" id="{BC31E9B5-87E4-F394-169A-4D4679357D6C}"/>
                </a:ext>
              </a:extLst>
            </p:cNvPr>
            <p:cNvPicPr>
              <a:picLocks noChangeAspect="1"/>
            </p:cNvPicPr>
            <p:nvPr/>
          </p:nvPicPr>
          <p:blipFill>
            <a:blip r:embed="rId2">
              <a:extLst>
                <a:ext uri="{28A0092B-C50C-407E-A947-70E740481C1C}">
                  <a14:useLocalDpi xmlns:a14="http://schemas.microsoft.com/office/drawing/2010/main" val="0"/>
                </a:ext>
              </a:extLst>
            </a:blip>
            <a:srcRect b="6605"/>
            <a:stretch>
              <a:fillRect/>
            </a:stretch>
          </p:blipFill>
          <p:spPr>
            <a:xfrm>
              <a:off x="4203521" y="2018590"/>
              <a:ext cx="1485056" cy="3178439"/>
            </a:xfrm>
            <a:prstGeom prst="rect">
              <a:avLst/>
            </a:prstGeom>
          </p:spPr>
        </p:pic>
      </p:grpSp>
      <p:sp>
        <p:nvSpPr>
          <p:cNvPr id="16" name="Rectangle 15">
            <a:extLst>
              <a:ext uri="{FF2B5EF4-FFF2-40B4-BE49-F238E27FC236}">
                <a16:creationId xmlns:a16="http://schemas.microsoft.com/office/drawing/2014/main" id="{C0042434-1973-A598-80E4-DDD952219328}"/>
              </a:ext>
            </a:extLst>
          </p:cNvPr>
          <p:cNvSpPr/>
          <p:nvPr/>
        </p:nvSpPr>
        <p:spPr>
          <a:xfrm>
            <a:off x="5473604" y="4930710"/>
            <a:ext cx="216982" cy="198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BEDD275B-F2F1-5B37-06DA-FD13305A18D7}"/>
              </a:ext>
            </a:extLst>
          </p:cNvPr>
          <p:cNvPicPr>
            <a:picLocks noChangeAspect="1"/>
          </p:cNvPicPr>
          <p:nvPr/>
        </p:nvPicPr>
        <p:blipFill>
          <a:blip r:embed="rId2">
            <a:extLst>
              <a:ext uri="{28A0092B-C50C-407E-A947-70E740481C1C}">
                <a14:useLocalDpi xmlns:a14="http://schemas.microsoft.com/office/drawing/2010/main" val="0"/>
              </a:ext>
            </a:extLst>
          </a:blip>
          <a:srcRect t="93395" b="-477"/>
          <a:stretch>
            <a:fillRect/>
          </a:stretch>
        </p:blipFill>
        <p:spPr>
          <a:xfrm>
            <a:off x="4209434" y="4973414"/>
            <a:ext cx="1485056" cy="241016"/>
          </a:xfrm>
          <a:prstGeom prst="rect">
            <a:avLst/>
          </a:prstGeom>
        </p:spPr>
      </p:pic>
      <p:sp>
        <p:nvSpPr>
          <p:cNvPr id="6" name="TextBox 5">
            <a:extLst>
              <a:ext uri="{FF2B5EF4-FFF2-40B4-BE49-F238E27FC236}">
                <a16:creationId xmlns:a16="http://schemas.microsoft.com/office/drawing/2014/main" id="{5CD43A89-D901-31B2-E7CE-83543D420902}"/>
              </a:ext>
            </a:extLst>
          </p:cNvPr>
          <p:cNvSpPr txBox="1"/>
          <p:nvPr/>
        </p:nvSpPr>
        <p:spPr>
          <a:xfrm>
            <a:off x="231494" y="208344"/>
            <a:ext cx="4929555" cy="369332"/>
          </a:xfrm>
          <a:prstGeom prst="rect">
            <a:avLst/>
          </a:prstGeom>
          <a:noFill/>
        </p:spPr>
        <p:txBody>
          <a:bodyPr wrap="none" rtlCol="0">
            <a:spAutoFit/>
          </a:bodyPr>
          <a:lstStyle/>
          <a:p>
            <a:r>
              <a:rPr lang="en-US" dirty="0">
                <a:solidFill>
                  <a:schemeClr val="accent2"/>
                </a:solidFill>
              </a:rPr>
              <a:t>Deployment Case </a:t>
            </a:r>
            <a:r>
              <a:rPr lang="en-US" dirty="0"/>
              <a:t>| Companion ATM Access App</a:t>
            </a:r>
          </a:p>
        </p:txBody>
      </p:sp>
      <p:grpSp>
        <p:nvGrpSpPr>
          <p:cNvPr id="25" name="Group 24">
            <a:extLst>
              <a:ext uri="{FF2B5EF4-FFF2-40B4-BE49-F238E27FC236}">
                <a16:creationId xmlns:a16="http://schemas.microsoft.com/office/drawing/2014/main" id="{D858F127-DE2D-603D-5345-63FA499C8F6F}"/>
              </a:ext>
            </a:extLst>
          </p:cNvPr>
          <p:cNvGrpSpPr/>
          <p:nvPr/>
        </p:nvGrpSpPr>
        <p:grpSpPr>
          <a:xfrm>
            <a:off x="1783081" y="1878576"/>
            <a:ext cx="1647252" cy="3382042"/>
            <a:chOff x="1783081" y="1878576"/>
            <a:chExt cx="1647252" cy="3382042"/>
          </a:xfrm>
        </p:grpSpPr>
        <p:sp>
          <p:nvSpPr>
            <p:cNvPr id="8" name="Rectangle: Rounded Corners 7">
              <a:extLst>
                <a:ext uri="{FF2B5EF4-FFF2-40B4-BE49-F238E27FC236}">
                  <a16:creationId xmlns:a16="http://schemas.microsoft.com/office/drawing/2014/main" id="{3EF88EB4-585B-9BFA-EA6A-B4B8705FD38B}"/>
                </a:ext>
              </a:extLst>
            </p:cNvPr>
            <p:cNvSpPr/>
            <p:nvPr/>
          </p:nvSpPr>
          <p:spPr>
            <a:xfrm>
              <a:off x="1783081" y="1878576"/>
              <a:ext cx="1647252" cy="3382042"/>
            </a:xfrm>
            <a:prstGeom prst="roundRect">
              <a:avLst>
                <a:gd name="adj" fmla="val 64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t>App</a:t>
              </a:r>
            </a:p>
          </p:txBody>
        </p:sp>
        <p:sp>
          <p:nvSpPr>
            <p:cNvPr id="11" name="Rectangle 10">
              <a:extLst>
                <a:ext uri="{FF2B5EF4-FFF2-40B4-BE49-F238E27FC236}">
                  <a16:creationId xmlns:a16="http://schemas.microsoft.com/office/drawing/2014/main" id="{C48E5EE4-F303-ED50-B6FE-F065853812B7}"/>
                </a:ext>
              </a:extLst>
            </p:cNvPr>
            <p:cNvSpPr/>
            <p:nvPr/>
          </p:nvSpPr>
          <p:spPr>
            <a:xfrm>
              <a:off x="1864179" y="2018590"/>
              <a:ext cx="1485056" cy="311085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Ticket</a:t>
              </a:r>
            </a:p>
            <a:p>
              <a:pPr algn="ctr"/>
              <a:r>
                <a:rPr lang="en-US" dirty="0"/>
                <a:t>App</a:t>
              </a:r>
            </a:p>
            <a:p>
              <a:pPr algn="ctr"/>
              <a:r>
                <a:rPr lang="en-US" dirty="0"/>
                <a:t>--------</a:t>
              </a:r>
            </a:p>
            <a:p>
              <a:pPr algn="ctr"/>
              <a:r>
                <a:rPr lang="en-US" dirty="0"/>
                <a:t>Field</a:t>
              </a:r>
            </a:p>
            <a:p>
              <a:pPr algn="ctr"/>
              <a:r>
                <a:rPr lang="en-US" dirty="0"/>
                <a:t>App</a:t>
              </a:r>
            </a:p>
          </p:txBody>
        </p:sp>
      </p:grpSp>
      <p:sp>
        <p:nvSpPr>
          <p:cNvPr id="12" name="TextBox 11">
            <a:extLst>
              <a:ext uri="{FF2B5EF4-FFF2-40B4-BE49-F238E27FC236}">
                <a16:creationId xmlns:a16="http://schemas.microsoft.com/office/drawing/2014/main" id="{CC0AFE1C-BB9E-0EB7-F3B1-D3D0D64E7122}"/>
              </a:ext>
            </a:extLst>
          </p:cNvPr>
          <p:cNvSpPr txBox="1"/>
          <p:nvPr/>
        </p:nvSpPr>
        <p:spPr>
          <a:xfrm>
            <a:off x="6504073" y="1878575"/>
            <a:ext cx="3875485" cy="3539430"/>
          </a:xfrm>
          <a:prstGeom prst="rect">
            <a:avLst/>
          </a:prstGeom>
          <a:noFill/>
        </p:spPr>
        <p:txBody>
          <a:bodyPr wrap="none" rtlCol="0">
            <a:spAutoFit/>
          </a:bodyPr>
          <a:lstStyle/>
          <a:p>
            <a:r>
              <a:rPr lang="en-US" sz="1600" b="1" dirty="0"/>
              <a:t>Keys to Technician Adoption </a:t>
            </a:r>
          </a:p>
          <a:p>
            <a:endParaRPr lang="en-US" sz="1600" dirty="0"/>
          </a:p>
          <a:p>
            <a:pPr marL="173038" indent="-173038">
              <a:buFont typeface="Arial" panose="020B0604020202020204" pitchFamily="34" charset="0"/>
              <a:buChar char="•"/>
            </a:pPr>
            <a:r>
              <a:rPr lang="en-US" sz="1600" dirty="0"/>
              <a:t>User-Proof Simplicity</a:t>
            </a:r>
          </a:p>
          <a:p>
            <a:pPr marL="173038" indent="-173038">
              <a:buFont typeface="Arial" panose="020B0604020202020204" pitchFamily="34" charset="0"/>
              <a:buChar char="•"/>
            </a:pPr>
            <a:endParaRPr lang="en-US" sz="800" dirty="0"/>
          </a:p>
          <a:p>
            <a:pPr marL="173038" indent="-173038">
              <a:buFont typeface="Arial" panose="020B0604020202020204" pitchFamily="34" charset="0"/>
              <a:buChar char="•"/>
            </a:pPr>
            <a:r>
              <a:rPr lang="en-US" sz="1600" dirty="0"/>
              <a:t>Session Length Controls (stay logged in)</a:t>
            </a:r>
          </a:p>
          <a:p>
            <a:pPr marL="173038" indent="-173038">
              <a:buFont typeface="Arial" panose="020B0604020202020204" pitchFamily="34" charset="0"/>
              <a:buChar char="•"/>
            </a:pPr>
            <a:endParaRPr lang="en-US" sz="800" dirty="0"/>
          </a:p>
          <a:p>
            <a:pPr marL="173038" indent="-173038">
              <a:buFont typeface="Arial" panose="020B0604020202020204" pitchFamily="34" charset="0"/>
              <a:buChar char="•"/>
            </a:pPr>
            <a:r>
              <a:rPr lang="en-US" sz="1600" dirty="0"/>
              <a:t>Lock State Driven Interface </a:t>
            </a:r>
          </a:p>
          <a:p>
            <a:r>
              <a:rPr lang="en-US" sz="1600" dirty="0"/>
              <a:t>    (what you’re able to do at this lock)</a:t>
            </a:r>
          </a:p>
          <a:p>
            <a:pPr marL="173038" indent="-173038">
              <a:buFont typeface="Arial" panose="020B0604020202020204" pitchFamily="34" charset="0"/>
              <a:buChar char="•"/>
            </a:pPr>
            <a:endParaRPr lang="en-US" sz="800" dirty="0"/>
          </a:p>
          <a:p>
            <a:pPr marL="173038" indent="-173038">
              <a:buFont typeface="Arial" panose="020B0604020202020204" pitchFamily="34" charset="0"/>
              <a:buChar char="•"/>
            </a:pPr>
            <a:r>
              <a:rPr lang="en-US" sz="1600" dirty="0"/>
              <a:t>&gt; 15 seconds to open</a:t>
            </a:r>
          </a:p>
          <a:p>
            <a:pPr marL="173038" indent="-173038">
              <a:buFont typeface="Arial" panose="020B0604020202020204" pitchFamily="34" charset="0"/>
              <a:buChar char="•"/>
            </a:pPr>
            <a:endParaRPr lang="en-US" sz="800" dirty="0"/>
          </a:p>
          <a:p>
            <a:pPr marL="173038" indent="-173038">
              <a:buFont typeface="Arial" panose="020B0604020202020204" pitchFamily="34" charset="0"/>
              <a:buChar char="•"/>
            </a:pPr>
            <a:r>
              <a:rPr lang="en-US" sz="1600" dirty="0"/>
              <a:t>Walk-Away Close Enforcement</a:t>
            </a:r>
          </a:p>
          <a:p>
            <a:pPr marL="173038" indent="-173038">
              <a:buFont typeface="Arial" panose="020B0604020202020204" pitchFamily="34" charset="0"/>
              <a:buChar char="•"/>
            </a:pPr>
            <a:endParaRPr lang="en-US" sz="800" dirty="0"/>
          </a:p>
          <a:p>
            <a:pPr marL="173038" indent="-173038">
              <a:buFont typeface="Arial" panose="020B0604020202020204" pitchFamily="34" charset="0"/>
              <a:buChar char="•"/>
            </a:pPr>
            <a:r>
              <a:rPr lang="en-US" sz="1600" dirty="0"/>
              <a:t>Request Volume Monitoring/Alerting</a:t>
            </a:r>
          </a:p>
          <a:p>
            <a:pPr marL="173038" indent="-173038">
              <a:buFont typeface="Arial" panose="020B0604020202020204" pitchFamily="34" charset="0"/>
              <a:buChar char="•"/>
            </a:pPr>
            <a:endParaRPr lang="en-US" sz="800" dirty="0"/>
          </a:p>
          <a:p>
            <a:pPr marL="173038" indent="-173038">
              <a:buFont typeface="Arial" panose="020B0604020202020204" pitchFamily="34" charset="0"/>
              <a:buChar char="•"/>
            </a:pPr>
            <a:r>
              <a:rPr lang="en-US" sz="1600" dirty="0"/>
              <a:t>Ticket Assignment Enforcement</a:t>
            </a:r>
          </a:p>
          <a:p>
            <a:r>
              <a:rPr lang="en-US" sz="1600" dirty="0"/>
              <a:t>    (with Track/Trace or Integrated App)</a:t>
            </a:r>
          </a:p>
        </p:txBody>
      </p:sp>
      <p:pic>
        <p:nvPicPr>
          <p:cNvPr id="23" name="Picture 22">
            <a:extLst>
              <a:ext uri="{FF2B5EF4-FFF2-40B4-BE49-F238E27FC236}">
                <a16:creationId xmlns:a16="http://schemas.microsoft.com/office/drawing/2014/main" id="{482295ED-B4DE-C846-E0F8-6DF9E10984CA}"/>
              </a:ext>
            </a:extLst>
          </p:cNvPr>
          <p:cNvPicPr>
            <a:picLocks noChangeAspect="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3325713" y="3118932"/>
            <a:ext cx="901330" cy="901330"/>
          </a:xfrm>
          <a:prstGeom prst="rect">
            <a:avLst/>
          </a:prstGeom>
        </p:spPr>
      </p:pic>
      <p:sp>
        <p:nvSpPr>
          <p:cNvPr id="24" name="TextBox 23">
            <a:extLst>
              <a:ext uri="{FF2B5EF4-FFF2-40B4-BE49-F238E27FC236}">
                <a16:creationId xmlns:a16="http://schemas.microsoft.com/office/drawing/2014/main" id="{1AB18617-6756-E564-5058-F1AE28F4248D}"/>
              </a:ext>
            </a:extLst>
          </p:cNvPr>
          <p:cNvSpPr txBox="1"/>
          <p:nvPr/>
        </p:nvSpPr>
        <p:spPr>
          <a:xfrm>
            <a:off x="1939561" y="1029080"/>
            <a:ext cx="3673634" cy="369332"/>
          </a:xfrm>
          <a:prstGeom prst="rect">
            <a:avLst/>
          </a:prstGeom>
          <a:noFill/>
        </p:spPr>
        <p:txBody>
          <a:bodyPr wrap="none" rtlCol="0">
            <a:spAutoFit/>
          </a:bodyPr>
          <a:lstStyle/>
          <a:p>
            <a:r>
              <a:rPr lang="en-US" b="1" dirty="0"/>
              <a:t>Flip Over to OTC to Open the Lock</a:t>
            </a:r>
          </a:p>
        </p:txBody>
      </p:sp>
    </p:spTree>
    <p:extLst>
      <p:ext uri="{BB962C8B-B14F-4D97-AF65-F5344CB8AC3E}">
        <p14:creationId xmlns:p14="http://schemas.microsoft.com/office/powerpoint/2010/main" val="1890216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D9DF4A-F83A-E82F-49E3-DCD000B0D7DE}"/>
              </a:ext>
            </a:extLst>
          </p:cNvPr>
          <p:cNvSpPr txBox="1"/>
          <p:nvPr/>
        </p:nvSpPr>
        <p:spPr>
          <a:xfrm>
            <a:off x="231494" y="208344"/>
            <a:ext cx="5612819" cy="369332"/>
          </a:xfrm>
          <a:prstGeom prst="rect">
            <a:avLst/>
          </a:prstGeom>
          <a:noFill/>
        </p:spPr>
        <p:txBody>
          <a:bodyPr wrap="none" rtlCol="0">
            <a:spAutoFit/>
          </a:bodyPr>
          <a:lstStyle/>
          <a:p>
            <a:r>
              <a:rPr lang="en-US" dirty="0">
                <a:solidFill>
                  <a:schemeClr val="accent2"/>
                </a:solidFill>
              </a:rPr>
              <a:t>Deployment Case </a:t>
            </a:r>
            <a:r>
              <a:rPr lang="en-US" dirty="0"/>
              <a:t>| Integrated with Track/Track Service </a:t>
            </a:r>
          </a:p>
        </p:txBody>
      </p:sp>
      <p:pic>
        <p:nvPicPr>
          <p:cNvPr id="4" name="Picture 3">
            <a:extLst>
              <a:ext uri="{FF2B5EF4-FFF2-40B4-BE49-F238E27FC236}">
                <a16:creationId xmlns:a16="http://schemas.microsoft.com/office/drawing/2014/main" id="{4C609C86-2DF4-12FC-F00B-BEFF036A78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1622" y="1609164"/>
            <a:ext cx="4697843" cy="742882"/>
          </a:xfrm>
          <a:prstGeom prst="rect">
            <a:avLst/>
          </a:prstGeom>
        </p:spPr>
      </p:pic>
      <p:grpSp>
        <p:nvGrpSpPr>
          <p:cNvPr id="26" name="Group 25">
            <a:extLst>
              <a:ext uri="{FF2B5EF4-FFF2-40B4-BE49-F238E27FC236}">
                <a16:creationId xmlns:a16="http://schemas.microsoft.com/office/drawing/2014/main" id="{6C33B558-D19F-7343-AABE-C9E9A774C024}"/>
              </a:ext>
            </a:extLst>
          </p:cNvPr>
          <p:cNvGrpSpPr/>
          <p:nvPr/>
        </p:nvGrpSpPr>
        <p:grpSpPr>
          <a:xfrm>
            <a:off x="1438872" y="1571468"/>
            <a:ext cx="3237302" cy="4309026"/>
            <a:chOff x="2191225" y="1213709"/>
            <a:chExt cx="4684136" cy="6234841"/>
          </a:xfrm>
        </p:grpSpPr>
        <p:grpSp>
          <p:nvGrpSpPr>
            <p:cNvPr id="23" name="Group 22">
              <a:extLst>
                <a:ext uri="{FF2B5EF4-FFF2-40B4-BE49-F238E27FC236}">
                  <a16:creationId xmlns:a16="http://schemas.microsoft.com/office/drawing/2014/main" id="{96692A79-5DD9-D09C-DABC-E9C62645F3FF}"/>
                </a:ext>
              </a:extLst>
            </p:cNvPr>
            <p:cNvGrpSpPr/>
            <p:nvPr/>
          </p:nvGrpSpPr>
          <p:grpSpPr>
            <a:xfrm>
              <a:off x="2191225" y="1213709"/>
              <a:ext cx="2712722" cy="5348417"/>
              <a:chOff x="7897544" y="2425680"/>
              <a:chExt cx="2712722" cy="5348417"/>
            </a:xfrm>
          </p:grpSpPr>
          <p:sp>
            <p:nvSpPr>
              <p:cNvPr id="20" name="Rectangle: Rounded Corners 19">
                <a:extLst>
                  <a:ext uri="{FF2B5EF4-FFF2-40B4-BE49-F238E27FC236}">
                    <a16:creationId xmlns:a16="http://schemas.microsoft.com/office/drawing/2014/main" id="{6BCA3613-F88B-D068-3580-333428550850}"/>
                  </a:ext>
                </a:extLst>
              </p:cNvPr>
              <p:cNvSpPr/>
              <p:nvPr/>
            </p:nvSpPr>
            <p:spPr>
              <a:xfrm>
                <a:off x="7897544" y="2425680"/>
                <a:ext cx="2712722" cy="5348417"/>
              </a:xfrm>
              <a:prstGeom prst="roundRect">
                <a:avLst>
                  <a:gd name="adj" fmla="val 64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t>App</a:t>
                </a:r>
              </a:p>
            </p:txBody>
          </p:sp>
          <p:pic>
            <p:nvPicPr>
              <p:cNvPr id="18" name="Picture 17">
                <a:extLst>
                  <a:ext uri="{FF2B5EF4-FFF2-40B4-BE49-F238E27FC236}">
                    <a16:creationId xmlns:a16="http://schemas.microsoft.com/office/drawing/2014/main" id="{C05A149F-CD70-E6B8-932C-714D5F6A9091}"/>
                  </a:ext>
                </a:extLst>
              </p:cNvPr>
              <p:cNvPicPr>
                <a:picLocks noChangeAspect="1"/>
              </p:cNvPicPr>
              <p:nvPr/>
            </p:nvPicPr>
            <p:blipFill>
              <a:blip r:embed="rId3">
                <a:extLst>
                  <a:ext uri="{28A0092B-C50C-407E-A947-70E740481C1C}">
                    <a14:useLocalDpi xmlns:a14="http://schemas.microsoft.com/office/drawing/2010/main" val="0"/>
                  </a:ext>
                </a:extLst>
              </a:blip>
              <a:srcRect t="3303" b="5650"/>
              <a:stretch>
                <a:fillRect/>
              </a:stretch>
            </p:blipFill>
            <p:spPr>
              <a:xfrm>
                <a:off x="8042550" y="2572412"/>
                <a:ext cx="2422710" cy="5054952"/>
              </a:xfrm>
              <a:prstGeom prst="rect">
                <a:avLst/>
              </a:prstGeom>
            </p:spPr>
          </p:pic>
        </p:grpSp>
        <p:grpSp>
          <p:nvGrpSpPr>
            <p:cNvPr id="25" name="Group 24">
              <a:extLst>
                <a:ext uri="{FF2B5EF4-FFF2-40B4-BE49-F238E27FC236}">
                  <a16:creationId xmlns:a16="http://schemas.microsoft.com/office/drawing/2014/main" id="{3D6E2AC3-F002-E048-6F42-57EA22518BB2}"/>
                </a:ext>
              </a:extLst>
            </p:cNvPr>
            <p:cNvGrpSpPr/>
            <p:nvPr/>
          </p:nvGrpSpPr>
          <p:grpSpPr>
            <a:xfrm>
              <a:off x="4030956" y="2221641"/>
              <a:ext cx="2844405" cy="5226909"/>
              <a:chOff x="5778733" y="2471098"/>
              <a:chExt cx="2844405" cy="5226909"/>
            </a:xfrm>
          </p:grpSpPr>
          <p:sp>
            <p:nvSpPr>
              <p:cNvPr id="10" name="Rectangle: Rounded Corners 9">
                <a:extLst>
                  <a:ext uri="{FF2B5EF4-FFF2-40B4-BE49-F238E27FC236}">
                    <a16:creationId xmlns:a16="http://schemas.microsoft.com/office/drawing/2014/main" id="{90F76CC4-4584-B6C4-F25F-DCFECA16A378}"/>
                  </a:ext>
                </a:extLst>
              </p:cNvPr>
              <p:cNvSpPr/>
              <p:nvPr/>
            </p:nvSpPr>
            <p:spPr>
              <a:xfrm>
                <a:off x="5778733" y="2471098"/>
                <a:ext cx="2844405" cy="5226909"/>
              </a:xfrm>
              <a:prstGeom prst="roundRect">
                <a:avLst>
                  <a:gd name="adj" fmla="val 64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t>App</a:t>
                </a:r>
              </a:p>
            </p:txBody>
          </p:sp>
          <p:pic>
            <p:nvPicPr>
              <p:cNvPr id="8" name="Picture 7">
                <a:extLst>
                  <a:ext uri="{FF2B5EF4-FFF2-40B4-BE49-F238E27FC236}">
                    <a16:creationId xmlns:a16="http://schemas.microsoft.com/office/drawing/2014/main" id="{A5367860-F7A6-70FE-AA59-1E96B21D6A7C}"/>
                  </a:ext>
                </a:extLst>
              </p:cNvPr>
              <p:cNvPicPr>
                <a:picLocks noChangeAspect="1"/>
              </p:cNvPicPr>
              <p:nvPr/>
            </p:nvPicPr>
            <p:blipFill>
              <a:blip r:embed="rId4">
                <a:extLst>
                  <a:ext uri="{28A0092B-C50C-407E-A947-70E740481C1C}">
                    <a14:useLocalDpi xmlns:a14="http://schemas.microsoft.com/office/drawing/2010/main" val="0"/>
                  </a:ext>
                </a:extLst>
              </a:blip>
              <a:srcRect b="-1516"/>
              <a:stretch>
                <a:fillRect/>
              </a:stretch>
            </p:blipFill>
            <p:spPr>
              <a:xfrm>
                <a:off x="5880375" y="2592606"/>
                <a:ext cx="2641120" cy="5105401"/>
              </a:xfrm>
              <a:prstGeom prst="rect">
                <a:avLst/>
              </a:prstGeom>
            </p:spPr>
          </p:pic>
          <p:pic>
            <p:nvPicPr>
              <p:cNvPr id="24" name="Picture 23">
                <a:extLst>
                  <a:ext uri="{FF2B5EF4-FFF2-40B4-BE49-F238E27FC236}">
                    <a16:creationId xmlns:a16="http://schemas.microsoft.com/office/drawing/2014/main" id="{6998DBD4-7DAC-1A88-E856-0AA097839815}"/>
                  </a:ext>
                </a:extLst>
              </p:cNvPr>
              <p:cNvPicPr>
                <a:picLocks noChangeAspect="1"/>
              </p:cNvPicPr>
              <p:nvPr/>
            </p:nvPicPr>
            <p:blipFill>
              <a:blip r:embed="rId3">
                <a:extLst>
                  <a:ext uri="{28A0092B-C50C-407E-A947-70E740481C1C}">
                    <a14:useLocalDpi xmlns:a14="http://schemas.microsoft.com/office/drawing/2010/main" val="0"/>
                  </a:ext>
                </a:extLst>
              </a:blip>
              <a:srcRect t="3302" b="60360"/>
              <a:stretch>
                <a:fillRect/>
              </a:stretch>
            </p:blipFill>
            <p:spPr>
              <a:xfrm>
                <a:off x="5880375" y="2592605"/>
                <a:ext cx="2641121" cy="2199313"/>
              </a:xfrm>
              <a:prstGeom prst="rect">
                <a:avLst/>
              </a:prstGeom>
            </p:spPr>
          </p:pic>
        </p:grpSp>
      </p:grpSp>
      <p:sp>
        <p:nvSpPr>
          <p:cNvPr id="27" name="Rectangle: Rounded Corners 26">
            <a:extLst>
              <a:ext uri="{FF2B5EF4-FFF2-40B4-BE49-F238E27FC236}">
                <a16:creationId xmlns:a16="http://schemas.microsoft.com/office/drawing/2014/main" id="{B4068E78-7A0E-26DB-58E1-DFACE131038B}"/>
              </a:ext>
            </a:extLst>
          </p:cNvPr>
          <p:cNvSpPr/>
          <p:nvPr/>
        </p:nvSpPr>
        <p:spPr>
          <a:xfrm>
            <a:off x="10052859" y="1793963"/>
            <a:ext cx="1400537" cy="373284"/>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Visit Site</a:t>
            </a:r>
          </a:p>
        </p:txBody>
      </p:sp>
      <p:grpSp>
        <p:nvGrpSpPr>
          <p:cNvPr id="34" name="Group 33">
            <a:extLst>
              <a:ext uri="{FF2B5EF4-FFF2-40B4-BE49-F238E27FC236}">
                <a16:creationId xmlns:a16="http://schemas.microsoft.com/office/drawing/2014/main" id="{F9A36FD3-02E3-5F77-ED5B-313C58D38066}"/>
              </a:ext>
            </a:extLst>
          </p:cNvPr>
          <p:cNvGrpSpPr/>
          <p:nvPr/>
        </p:nvGrpSpPr>
        <p:grpSpPr>
          <a:xfrm>
            <a:off x="5648101" y="2874872"/>
            <a:ext cx="5660365" cy="1815882"/>
            <a:chOff x="5601802" y="3336814"/>
            <a:chExt cx="5660365" cy="1815882"/>
          </a:xfrm>
        </p:grpSpPr>
        <p:sp>
          <p:nvSpPr>
            <p:cNvPr id="28" name="TextBox 27">
              <a:extLst>
                <a:ext uri="{FF2B5EF4-FFF2-40B4-BE49-F238E27FC236}">
                  <a16:creationId xmlns:a16="http://schemas.microsoft.com/office/drawing/2014/main" id="{A3C0AFE2-00F3-2080-D4B5-8A2B525D3874}"/>
                </a:ext>
              </a:extLst>
            </p:cNvPr>
            <p:cNvSpPr txBox="1"/>
            <p:nvPr/>
          </p:nvSpPr>
          <p:spPr>
            <a:xfrm>
              <a:off x="5613721" y="3336814"/>
              <a:ext cx="5648446" cy="1815882"/>
            </a:xfrm>
            <a:prstGeom prst="rect">
              <a:avLst/>
            </a:prstGeom>
            <a:noFill/>
          </p:spPr>
          <p:txBody>
            <a:bodyPr wrap="square" rtlCol="0">
              <a:spAutoFit/>
            </a:bodyPr>
            <a:lstStyle/>
            <a:p>
              <a:pPr marL="285750" indent="-285750">
                <a:buFont typeface="Arial" panose="020B0604020202020204" pitchFamily="34" charset="0"/>
                <a:buChar char="•"/>
              </a:pPr>
              <a:r>
                <a:rPr lang="en-US" sz="1600" dirty="0"/>
                <a:t>Request-less Automated Opening (Pulled on Service Start) </a:t>
              </a:r>
            </a:p>
            <a:p>
              <a:pPr marL="285750" indent="-285750">
                <a:buFont typeface="Arial" panose="020B0604020202020204" pitchFamily="34" charset="0"/>
                <a:buChar char="•"/>
              </a:pPr>
              <a:endParaRPr lang="en-US" sz="800" dirty="0"/>
            </a:p>
            <a:p>
              <a:pPr marL="285750" indent="-285750">
                <a:buFont typeface="Arial" panose="020B0604020202020204" pitchFamily="34" charset="0"/>
                <a:buChar char="•"/>
              </a:pPr>
              <a:r>
                <a:rPr lang="en-US" sz="1600" dirty="0"/>
                <a:t>Just-In-Time Code Reveal in Service Workflows</a:t>
              </a:r>
            </a:p>
            <a:p>
              <a:pPr marL="285750" indent="-285750">
                <a:buFont typeface="Arial" panose="020B0604020202020204" pitchFamily="34" charset="0"/>
                <a:buChar char="•"/>
              </a:pPr>
              <a:endParaRPr lang="en-US" sz="800" dirty="0"/>
            </a:p>
            <a:p>
              <a:pPr marL="285750" indent="-285750">
                <a:buFont typeface="Arial" panose="020B0604020202020204" pitchFamily="34" charset="0"/>
                <a:buChar char="•"/>
              </a:pPr>
              <a:r>
                <a:rPr lang="en-US" sz="1600" dirty="0"/>
                <a:t>Ticket Assignment Enforcement (no generic access)</a:t>
              </a:r>
            </a:p>
            <a:p>
              <a:pPr marL="285750" indent="-285750">
                <a:buFont typeface="Arial" panose="020B0604020202020204" pitchFamily="34" charset="0"/>
                <a:buChar char="•"/>
              </a:pPr>
              <a:endParaRPr lang="en-US" sz="800" dirty="0"/>
            </a:p>
            <a:p>
              <a:pPr marL="285750" indent="-285750">
                <a:buFont typeface="Arial" panose="020B0604020202020204" pitchFamily="34" charset="0"/>
                <a:buChar char="•"/>
              </a:pPr>
              <a:r>
                <a:rPr lang="en-US" sz="1600" dirty="0"/>
                <a:t>Primary/Secondary Lock Access</a:t>
              </a:r>
            </a:p>
            <a:p>
              <a:pPr marL="285750" indent="-285750">
                <a:buFont typeface="Arial" panose="020B0604020202020204" pitchFamily="34" charset="0"/>
                <a:buChar char="•"/>
              </a:pPr>
              <a:endParaRPr lang="en-US" sz="800" dirty="0"/>
            </a:p>
            <a:p>
              <a:pPr marL="285750" indent="-285750">
                <a:buFont typeface="Arial" panose="020B0604020202020204" pitchFamily="34" charset="0"/>
                <a:buChar char="•"/>
              </a:pPr>
              <a:r>
                <a:rPr lang="en-US" sz="1600" dirty="0"/>
                <a:t>Control what Services Require Openings</a:t>
              </a:r>
            </a:p>
          </p:txBody>
        </p:sp>
        <p:pic>
          <p:nvPicPr>
            <p:cNvPr id="29" name="Picture 28">
              <a:extLst>
                <a:ext uri="{FF2B5EF4-FFF2-40B4-BE49-F238E27FC236}">
                  <a16:creationId xmlns:a16="http://schemas.microsoft.com/office/drawing/2014/main" id="{62A52AEE-A921-AFE8-9C53-84B7FCA58C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01802" y="3366476"/>
              <a:ext cx="297408" cy="297408"/>
            </a:xfrm>
            <a:prstGeom prst="rect">
              <a:avLst/>
            </a:prstGeom>
          </p:spPr>
        </p:pic>
        <p:pic>
          <p:nvPicPr>
            <p:cNvPr id="30" name="Picture 29">
              <a:extLst>
                <a:ext uri="{FF2B5EF4-FFF2-40B4-BE49-F238E27FC236}">
                  <a16:creationId xmlns:a16="http://schemas.microsoft.com/office/drawing/2014/main" id="{DD5FC5FA-8216-87CE-9735-DA25D55D7F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01802" y="3723332"/>
              <a:ext cx="297408" cy="297408"/>
            </a:xfrm>
            <a:prstGeom prst="rect">
              <a:avLst/>
            </a:prstGeom>
          </p:spPr>
        </p:pic>
        <p:pic>
          <p:nvPicPr>
            <p:cNvPr id="31" name="Picture 30">
              <a:extLst>
                <a:ext uri="{FF2B5EF4-FFF2-40B4-BE49-F238E27FC236}">
                  <a16:creationId xmlns:a16="http://schemas.microsoft.com/office/drawing/2014/main" id="{9008F685-6DDE-41B7-B0D9-B58B363DC2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01802" y="4074282"/>
              <a:ext cx="297408" cy="297408"/>
            </a:xfrm>
            <a:prstGeom prst="rect">
              <a:avLst/>
            </a:prstGeom>
          </p:spPr>
        </p:pic>
        <p:pic>
          <p:nvPicPr>
            <p:cNvPr id="32" name="Picture 31">
              <a:extLst>
                <a:ext uri="{FF2B5EF4-FFF2-40B4-BE49-F238E27FC236}">
                  <a16:creationId xmlns:a16="http://schemas.microsoft.com/office/drawing/2014/main" id="{397ADE1F-6D21-C2FA-8E95-DFC7D6F84F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01802" y="4425232"/>
              <a:ext cx="297408" cy="297408"/>
            </a:xfrm>
            <a:prstGeom prst="rect">
              <a:avLst/>
            </a:prstGeom>
          </p:spPr>
        </p:pic>
        <p:pic>
          <p:nvPicPr>
            <p:cNvPr id="33" name="Picture 32">
              <a:extLst>
                <a:ext uri="{FF2B5EF4-FFF2-40B4-BE49-F238E27FC236}">
                  <a16:creationId xmlns:a16="http://schemas.microsoft.com/office/drawing/2014/main" id="{F84289A1-6F3F-AA76-E394-001EABD462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01802" y="4811750"/>
              <a:ext cx="297408" cy="297408"/>
            </a:xfrm>
            <a:prstGeom prst="rect">
              <a:avLst/>
            </a:prstGeom>
          </p:spPr>
        </p:pic>
      </p:grpSp>
      <p:sp>
        <p:nvSpPr>
          <p:cNvPr id="35" name="Rectangle: Rounded Corners 34">
            <a:extLst>
              <a:ext uri="{FF2B5EF4-FFF2-40B4-BE49-F238E27FC236}">
                <a16:creationId xmlns:a16="http://schemas.microsoft.com/office/drawing/2014/main" id="{54E08843-56DE-506F-0FE5-CD9594351C6E}"/>
              </a:ext>
            </a:extLst>
          </p:cNvPr>
          <p:cNvSpPr/>
          <p:nvPr/>
        </p:nvSpPr>
        <p:spPr>
          <a:xfrm>
            <a:off x="6616862" y="4890183"/>
            <a:ext cx="2432670" cy="5747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Schedule Demo</a:t>
            </a:r>
          </a:p>
        </p:txBody>
      </p:sp>
    </p:spTree>
    <p:extLst>
      <p:ext uri="{BB962C8B-B14F-4D97-AF65-F5344CB8AC3E}">
        <p14:creationId xmlns:p14="http://schemas.microsoft.com/office/powerpoint/2010/main" val="863754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91EA69-81B7-0ABC-7545-CB413F024850}"/>
              </a:ext>
            </a:extLst>
          </p:cNvPr>
          <p:cNvSpPr txBox="1"/>
          <p:nvPr/>
        </p:nvSpPr>
        <p:spPr>
          <a:xfrm>
            <a:off x="231494" y="208344"/>
            <a:ext cx="6160982" cy="369332"/>
          </a:xfrm>
          <a:prstGeom prst="rect">
            <a:avLst/>
          </a:prstGeom>
          <a:noFill/>
        </p:spPr>
        <p:txBody>
          <a:bodyPr wrap="none" rtlCol="0">
            <a:spAutoFit/>
          </a:bodyPr>
          <a:lstStyle/>
          <a:p>
            <a:r>
              <a:rPr lang="en-US" dirty="0">
                <a:solidFill>
                  <a:schemeClr val="accent2"/>
                </a:solidFill>
              </a:rPr>
              <a:t>Deployment Case </a:t>
            </a:r>
            <a:r>
              <a:rPr lang="en-US" dirty="0"/>
              <a:t>| Direct Internal/External App Access (API)</a:t>
            </a:r>
          </a:p>
        </p:txBody>
      </p:sp>
      <p:sp>
        <p:nvSpPr>
          <p:cNvPr id="5" name="Rectangle: Rounded Corners 4">
            <a:extLst>
              <a:ext uri="{FF2B5EF4-FFF2-40B4-BE49-F238E27FC236}">
                <a16:creationId xmlns:a16="http://schemas.microsoft.com/office/drawing/2014/main" id="{A3CD5EC1-F3D0-0B30-E0AA-B4965E8351E6}"/>
              </a:ext>
            </a:extLst>
          </p:cNvPr>
          <p:cNvSpPr/>
          <p:nvPr/>
        </p:nvSpPr>
        <p:spPr>
          <a:xfrm>
            <a:off x="2655895" y="1440300"/>
            <a:ext cx="1097280" cy="2303760"/>
          </a:xfrm>
          <a:prstGeom prst="roundRect">
            <a:avLst>
              <a:gd name="adj" fmla="val 648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App</a:t>
            </a:r>
          </a:p>
        </p:txBody>
      </p:sp>
      <p:pic>
        <p:nvPicPr>
          <p:cNvPr id="6" name="Picture 5">
            <a:extLst>
              <a:ext uri="{FF2B5EF4-FFF2-40B4-BE49-F238E27FC236}">
                <a16:creationId xmlns:a16="http://schemas.microsoft.com/office/drawing/2014/main" id="{AFBC5CE1-F8F3-6862-4D5D-1E961A5724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4118" y="2709146"/>
            <a:ext cx="1268777" cy="1773939"/>
          </a:xfrm>
          <a:prstGeom prst="rect">
            <a:avLst/>
          </a:prstGeom>
        </p:spPr>
      </p:pic>
      <p:sp>
        <p:nvSpPr>
          <p:cNvPr id="8" name="Rectangle: Rounded Corners 7">
            <a:extLst>
              <a:ext uri="{FF2B5EF4-FFF2-40B4-BE49-F238E27FC236}">
                <a16:creationId xmlns:a16="http://schemas.microsoft.com/office/drawing/2014/main" id="{99462FC6-4E81-2C27-FB4E-2C3FFFBCD342}"/>
              </a:ext>
            </a:extLst>
          </p:cNvPr>
          <p:cNvSpPr/>
          <p:nvPr/>
        </p:nvSpPr>
        <p:spPr>
          <a:xfrm>
            <a:off x="7867508" y="1618851"/>
            <a:ext cx="1635760" cy="1717040"/>
          </a:xfrm>
          <a:prstGeom prst="roundRect">
            <a:avLst>
              <a:gd name="adj" fmla="val 3165"/>
            </a:avLst>
          </a:prstGeom>
          <a:solidFill>
            <a:srgbClr val="00990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100" dirty="0">
                <a:solidFill>
                  <a:schemeClr val="tx1"/>
                </a:solidFill>
              </a:rPr>
              <a:t>Enterprise Hosted</a:t>
            </a:r>
          </a:p>
        </p:txBody>
      </p:sp>
      <p:sp>
        <p:nvSpPr>
          <p:cNvPr id="9" name="Rectangle: Rounded Corners 8">
            <a:extLst>
              <a:ext uri="{FF2B5EF4-FFF2-40B4-BE49-F238E27FC236}">
                <a16:creationId xmlns:a16="http://schemas.microsoft.com/office/drawing/2014/main" id="{D93B66D4-0497-56BF-756C-64ADB6C49D2B}"/>
              </a:ext>
            </a:extLst>
          </p:cNvPr>
          <p:cNvSpPr/>
          <p:nvPr/>
        </p:nvSpPr>
        <p:spPr>
          <a:xfrm>
            <a:off x="7999588" y="1750931"/>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400" dirty="0"/>
              <a:t>Lock System DB</a:t>
            </a:r>
          </a:p>
        </p:txBody>
      </p:sp>
      <p:sp>
        <p:nvSpPr>
          <p:cNvPr id="10" name="Rectangle: Rounded Corners 9">
            <a:extLst>
              <a:ext uri="{FF2B5EF4-FFF2-40B4-BE49-F238E27FC236}">
                <a16:creationId xmlns:a16="http://schemas.microsoft.com/office/drawing/2014/main" id="{15A69371-B7C6-E84F-3750-D3E71D2D8082}"/>
              </a:ext>
            </a:extLst>
          </p:cNvPr>
          <p:cNvSpPr/>
          <p:nvPr/>
        </p:nvSpPr>
        <p:spPr>
          <a:xfrm>
            <a:off x="7999588" y="2427841"/>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Keybox</a:t>
            </a:r>
          </a:p>
        </p:txBody>
      </p:sp>
      <p:sp>
        <p:nvSpPr>
          <p:cNvPr id="11" name="Rectangle: Rounded Corners 10">
            <a:extLst>
              <a:ext uri="{FF2B5EF4-FFF2-40B4-BE49-F238E27FC236}">
                <a16:creationId xmlns:a16="http://schemas.microsoft.com/office/drawing/2014/main" id="{A66C891D-7923-E636-85A4-E376BAD65B14}"/>
              </a:ext>
            </a:extLst>
          </p:cNvPr>
          <p:cNvSpPr/>
          <p:nvPr/>
        </p:nvSpPr>
        <p:spPr>
          <a:xfrm>
            <a:off x="7492731" y="1440300"/>
            <a:ext cx="2241578" cy="2303760"/>
          </a:xfrm>
          <a:prstGeom prst="roundRect">
            <a:avLst>
              <a:gd name="adj" fmla="val 2067"/>
            </a:avLst>
          </a:prstGeom>
          <a:no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1200" b="1" dirty="0">
                <a:solidFill>
                  <a:schemeClr val="tx2"/>
                </a:solidFill>
              </a:rPr>
              <a:t>CoorWorks Enterprise (AWS)</a:t>
            </a:r>
          </a:p>
        </p:txBody>
      </p:sp>
      <p:sp>
        <p:nvSpPr>
          <p:cNvPr id="13" name="Rectangle: Rounded Corners 12">
            <a:extLst>
              <a:ext uri="{FF2B5EF4-FFF2-40B4-BE49-F238E27FC236}">
                <a16:creationId xmlns:a16="http://schemas.microsoft.com/office/drawing/2014/main" id="{CA790F41-D502-815F-6EFF-0DDB8D609CA4}"/>
              </a:ext>
            </a:extLst>
          </p:cNvPr>
          <p:cNvSpPr/>
          <p:nvPr/>
        </p:nvSpPr>
        <p:spPr>
          <a:xfrm>
            <a:off x="3885256" y="1440300"/>
            <a:ext cx="3475396" cy="2303760"/>
          </a:xfrm>
          <a:prstGeom prst="roundRect">
            <a:avLst>
              <a:gd name="adj" fmla="val 2067"/>
            </a:avLst>
          </a:prstGeom>
          <a:no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1200" b="1" dirty="0">
                <a:solidFill>
                  <a:schemeClr val="tx2"/>
                </a:solidFill>
              </a:rPr>
              <a:t>OTC Anywhere Service</a:t>
            </a:r>
          </a:p>
        </p:txBody>
      </p:sp>
      <p:sp>
        <p:nvSpPr>
          <p:cNvPr id="14" name="Rectangle: Rounded Corners 13">
            <a:extLst>
              <a:ext uri="{FF2B5EF4-FFF2-40B4-BE49-F238E27FC236}">
                <a16:creationId xmlns:a16="http://schemas.microsoft.com/office/drawing/2014/main" id="{9E1C8D75-297C-C5F9-5721-6870108D9649}"/>
              </a:ext>
            </a:extLst>
          </p:cNvPr>
          <p:cNvSpPr/>
          <p:nvPr/>
        </p:nvSpPr>
        <p:spPr>
          <a:xfrm>
            <a:off x="3488238" y="2310875"/>
            <a:ext cx="617475" cy="562611"/>
          </a:xfrm>
          <a:prstGeom prst="roundRect">
            <a:avLst>
              <a:gd name="adj" fmla="val 3334"/>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t>FW</a:t>
            </a:r>
          </a:p>
        </p:txBody>
      </p:sp>
      <p:sp>
        <p:nvSpPr>
          <p:cNvPr id="12" name="Rectangle: Rounded Corners 11">
            <a:extLst>
              <a:ext uri="{FF2B5EF4-FFF2-40B4-BE49-F238E27FC236}">
                <a16:creationId xmlns:a16="http://schemas.microsoft.com/office/drawing/2014/main" id="{6DF23D75-E667-177B-ED27-596C34D058CD}"/>
              </a:ext>
            </a:extLst>
          </p:cNvPr>
          <p:cNvSpPr/>
          <p:nvPr/>
        </p:nvSpPr>
        <p:spPr>
          <a:xfrm>
            <a:off x="7117954" y="2306714"/>
            <a:ext cx="617475" cy="562611"/>
          </a:xfrm>
          <a:prstGeom prst="roundRect">
            <a:avLst>
              <a:gd name="adj" fmla="val 3334"/>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dirty="0"/>
              <a:t>FW</a:t>
            </a:r>
          </a:p>
        </p:txBody>
      </p:sp>
      <p:sp>
        <p:nvSpPr>
          <p:cNvPr id="15" name="TextBox 14">
            <a:extLst>
              <a:ext uri="{FF2B5EF4-FFF2-40B4-BE49-F238E27FC236}">
                <a16:creationId xmlns:a16="http://schemas.microsoft.com/office/drawing/2014/main" id="{C7FD9763-F296-EAFC-39C5-56638273F564}"/>
              </a:ext>
            </a:extLst>
          </p:cNvPr>
          <p:cNvSpPr txBox="1"/>
          <p:nvPr/>
        </p:nvSpPr>
        <p:spPr>
          <a:xfrm>
            <a:off x="5396313" y="5027979"/>
            <a:ext cx="5150734" cy="1446550"/>
          </a:xfrm>
          <a:prstGeom prst="rect">
            <a:avLst/>
          </a:prstGeom>
          <a:noFill/>
        </p:spPr>
        <p:txBody>
          <a:bodyPr wrap="square" rtlCol="0">
            <a:spAutoFit/>
          </a:bodyPr>
          <a:lstStyle/>
          <a:p>
            <a:pPr marL="173038" indent="-173038">
              <a:buFont typeface="Arial" panose="020B0604020202020204" pitchFamily="34" charset="0"/>
              <a:buChar char="•"/>
            </a:pPr>
            <a:r>
              <a:rPr lang="en-US" sz="1600" dirty="0"/>
              <a:t>Straightforward REST API model</a:t>
            </a:r>
          </a:p>
          <a:p>
            <a:pPr marL="173038" indent="-173038">
              <a:buFont typeface="Arial" panose="020B0604020202020204" pitchFamily="34" charset="0"/>
              <a:buChar char="•"/>
            </a:pPr>
            <a:endParaRPr lang="en-US" sz="800" dirty="0"/>
          </a:p>
          <a:p>
            <a:pPr marL="173038" indent="-173038">
              <a:buFont typeface="Arial" panose="020B0604020202020204" pitchFamily="34" charset="0"/>
              <a:buChar char="•"/>
            </a:pPr>
            <a:r>
              <a:rPr lang="en-US" sz="1600" dirty="0"/>
              <a:t>Dynamically Scalable API Architecture</a:t>
            </a:r>
          </a:p>
          <a:p>
            <a:pPr marL="173038" indent="-173038">
              <a:buFont typeface="Arial" panose="020B0604020202020204" pitchFamily="34" charset="0"/>
              <a:buChar char="•"/>
            </a:pPr>
            <a:endParaRPr lang="en-US" sz="800" dirty="0"/>
          </a:p>
          <a:p>
            <a:pPr marL="173038" indent="-173038">
              <a:buFont typeface="Arial" panose="020B0604020202020204" pitchFamily="34" charset="0"/>
              <a:buChar char="•"/>
            </a:pPr>
            <a:r>
              <a:rPr lang="en-US" sz="1600" dirty="0"/>
              <a:t>Appropriate for Modifiable Apps</a:t>
            </a:r>
          </a:p>
          <a:p>
            <a:pPr marL="173038" indent="-173038">
              <a:buFont typeface="Arial" panose="020B0604020202020204" pitchFamily="34" charset="0"/>
              <a:buChar char="•"/>
            </a:pPr>
            <a:endParaRPr lang="en-US" sz="800" dirty="0"/>
          </a:p>
          <a:p>
            <a:pPr marL="173038" indent="-173038">
              <a:buFont typeface="Arial" panose="020B0604020202020204" pitchFamily="34" charset="0"/>
              <a:buChar char="•"/>
            </a:pPr>
            <a:r>
              <a:rPr lang="en-US" sz="1600" dirty="0"/>
              <a:t>Code Delivery by SMS Options</a:t>
            </a:r>
          </a:p>
        </p:txBody>
      </p:sp>
      <p:pic>
        <p:nvPicPr>
          <p:cNvPr id="19" name="Picture 18">
            <a:extLst>
              <a:ext uri="{FF2B5EF4-FFF2-40B4-BE49-F238E27FC236}">
                <a16:creationId xmlns:a16="http://schemas.microsoft.com/office/drawing/2014/main" id="{1BDD9FFD-90D7-0701-6005-D7B7CD0EA4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7525" y="1655061"/>
            <a:ext cx="3190859" cy="1773939"/>
          </a:xfrm>
          <a:prstGeom prst="rect">
            <a:avLst/>
          </a:prstGeom>
        </p:spPr>
      </p:pic>
    </p:spTree>
    <p:extLst>
      <p:ext uri="{BB962C8B-B14F-4D97-AF65-F5344CB8AC3E}">
        <p14:creationId xmlns:p14="http://schemas.microsoft.com/office/powerpoint/2010/main" val="3140461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49218B-27AE-BD8C-688B-F513698473DE}"/>
              </a:ext>
            </a:extLst>
          </p:cNvPr>
          <p:cNvSpPr txBox="1"/>
          <p:nvPr/>
        </p:nvSpPr>
        <p:spPr>
          <a:xfrm>
            <a:off x="682906" y="717630"/>
            <a:ext cx="7495257" cy="369332"/>
          </a:xfrm>
          <a:prstGeom prst="rect">
            <a:avLst/>
          </a:prstGeom>
          <a:noFill/>
        </p:spPr>
        <p:txBody>
          <a:bodyPr wrap="none" rtlCol="0">
            <a:spAutoFit/>
          </a:bodyPr>
          <a:lstStyle/>
          <a:p>
            <a:r>
              <a:rPr lang="en-US" dirty="0">
                <a:solidFill>
                  <a:schemeClr val="accent2"/>
                </a:solidFill>
              </a:rPr>
              <a:t>Target Benefits </a:t>
            </a:r>
            <a:r>
              <a:rPr lang="en-US" dirty="0"/>
              <a:t>| More Time for Growing ATM Services vs Baby-Sitting Them</a:t>
            </a:r>
          </a:p>
        </p:txBody>
      </p:sp>
      <p:sp>
        <p:nvSpPr>
          <p:cNvPr id="3" name="Rectangle: Rounded Corners 2">
            <a:extLst>
              <a:ext uri="{FF2B5EF4-FFF2-40B4-BE49-F238E27FC236}">
                <a16:creationId xmlns:a16="http://schemas.microsoft.com/office/drawing/2014/main" id="{F197EB70-7C25-0D8A-1A79-5869EC20C200}"/>
              </a:ext>
            </a:extLst>
          </p:cNvPr>
          <p:cNvSpPr/>
          <p:nvPr/>
        </p:nvSpPr>
        <p:spPr>
          <a:xfrm>
            <a:off x="682906" y="2361236"/>
            <a:ext cx="4942390" cy="671331"/>
          </a:xfrm>
          <a:prstGeom prst="roundRect">
            <a:avLst>
              <a:gd name="adj" fmla="val 12013"/>
            </a:avLst>
          </a:prstGeom>
        </p:spPr>
        <p:style>
          <a:lnRef idx="0">
            <a:schemeClr val="accent1"/>
          </a:lnRef>
          <a:fillRef idx="3">
            <a:schemeClr val="accent1"/>
          </a:fillRef>
          <a:effectRef idx="3">
            <a:schemeClr val="accent1"/>
          </a:effectRef>
          <a:fontRef idx="minor">
            <a:schemeClr val="lt1"/>
          </a:fontRef>
        </p:style>
        <p:txBody>
          <a:bodyPr rtlCol="0" anchor="ctr"/>
          <a:lstStyle/>
          <a:p>
            <a:pPr marL="517525"/>
            <a:r>
              <a:rPr lang="en-US" sz="1600" dirty="0"/>
              <a:t>Full Access History/Auditability</a:t>
            </a:r>
          </a:p>
        </p:txBody>
      </p:sp>
      <p:sp>
        <p:nvSpPr>
          <p:cNvPr id="4" name="Rectangle: Rounded Corners 3">
            <a:extLst>
              <a:ext uri="{FF2B5EF4-FFF2-40B4-BE49-F238E27FC236}">
                <a16:creationId xmlns:a16="http://schemas.microsoft.com/office/drawing/2014/main" id="{40443C1F-D04D-E5E4-09F3-B84766125DE5}"/>
              </a:ext>
            </a:extLst>
          </p:cNvPr>
          <p:cNvSpPr/>
          <p:nvPr/>
        </p:nvSpPr>
        <p:spPr>
          <a:xfrm>
            <a:off x="682906" y="3985547"/>
            <a:ext cx="4942390" cy="671331"/>
          </a:xfrm>
          <a:prstGeom prst="roundRect">
            <a:avLst>
              <a:gd name="adj" fmla="val 10500"/>
            </a:avLst>
          </a:prstGeom>
        </p:spPr>
        <p:style>
          <a:lnRef idx="0">
            <a:schemeClr val="accent1"/>
          </a:lnRef>
          <a:fillRef idx="3">
            <a:schemeClr val="accent1"/>
          </a:fillRef>
          <a:effectRef idx="3">
            <a:schemeClr val="accent1"/>
          </a:effectRef>
          <a:fontRef idx="minor">
            <a:schemeClr val="lt1"/>
          </a:fontRef>
        </p:style>
        <p:txBody>
          <a:bodyPr rtlCol="0" anchor="ctr"/>
          <a:lstStyle/>
          <a:p>
            <a:pPr marL="517525"/>
            <a:r>
              <a:rPr lang="en-US" sz="1600" dirty="0"/>
              <a:t>Redeploy Dispatch Resources</a:t>
            </a:r>
          </a:p>
        </p:txBody>
      </p:sp>
      <p:sp>
        <p:nvSpPr>
          <p:cNvPr id="5" name="Rectangle: Rounded Corners 4">
            <a:extLst>
              <a:ext uri="{FF2B5EF4-FFF2-40B4-BE49-F238E27FC236}">
                <a16:creationId xmlns:a16="http://schemas.microsoft.com/office/drawing/2014/main" id="{FEA3BB83-17B5-43BC-EDF2-F1BC51F2AADE}"/>
              </a:ext>
            </a:extLst>
          </p:cNvPr>
          <p:cNvSpPr/>
          <p:nvPr/>
        </p:nvSpPr>
        <p:spPr>
          <a:xfrm>
            <a:off x="682906" y="3173392"/>
            <a:ext cx="4942390" cy="671331"/>
          </a:xfrm>
          <a:prstGeom prst="roundRect">
            <a:avLst>
              <a:gd name="adj" fmla="val 7473"/>
            </a:avLst>
          </a:prstGeom>
        </p:spPr>
        <p:style>
          <a:lnRef idx="0">
            <a:schemeClr val="accent1"/>
          </a:lnRef>
          <a:fillRef idx="3">
            <a:schemeClr val="accent1"/>
          </a:fillRef>
          <a:effectRef idx="3">
            <a:schemeClr val="accent1"/>
          </a:effectRef>
          <a:fontRef idx="minor">
            <a:schemeClr val="lt1"/>
          </a:fontRef>
        </p:style>
        <p:txBody>
          <a:bodyPr rtlCol="0" anchor="ctr"/>
          <a:lstStyle/>
          <a:p>
            <a:pPr marL="517525"/>
            <a:r>
              <a:rPr lang="en-US" sz="1600" dirty="0"/>
              <a:t>Real-Time Operations Monitorability</a:t>
            </a:r>
          </a:p>
        </p:txBody>
      </p:sp>
      <p:sp>
        <p:nvSpPr>
          <p:cNvPr id="6" name="Rectangle: Rounded Corners 5">
            <a:extLst>
              <a:ext uri="{FF2B5EF4-FFF2-40B4-BE49-F238E27FC236}">
                <a16:creationId xmlns:a16="http://schemas.microsoft.com/office/drawing/2014/main" id="{9A3F1ECE-1528-8ABE-E18C-CB421D205489}"/>
              </a:ext>
            </a:extLst>
          </p:cNvPr>
          <p:cNvSpPr/>
          <p:nvPr/>
        </p:nvSpPr>
        <p:spPr>
          <a:xfrm>
            <a:off x="682906" y="1537506"/>
            <a:ext cx="4942390" cy="671331"/>
          </a:xfrm>
          <a:prstGeom prst="roundRect">
            <a:avLst>
              <a:gd name="adj" fmla="val 11257"/>
            </a:avLst>
          </a:prstGeom>
        </p:spPr>
        <p:style>
          <a:lnRef idx="0">
            <a:schemeClr val="accent1"/>
          </a:lnRef>
          <a:fillRef idx="3">
            <a:schemeClr val="accent1"/>
          </a:fillRef>
          <a:effectRef idx="3">
            <a:schemeClr val="accent1"/>
          </a:effectRef>
          <a:fontRef idx="minor">
            <a:schemeClr val="lt1"/>
          </a:fontRef>
        </p:style>
        <p:txBody>
          <a:bodyPr rtlCol="0" anchor="ctr"/>
          <a:lstStyle/>
          <a:p>
            <a:pPr marL="517525"/>
            <a:r>
              <a:rPr lang="en-US" sz="1600" dirty="0"/>
              <a:t>Precision Access Control Design/Management</a:t>
            </a:r>
          </a:p>
        </p:txBody>
      </p:sp>
      <p:sp>
        <p:nvSpPr>
          <p:cNvPr id="7" name="Rectangle: Rounded Corners 6">
            <a:extLst>
              <a:ext uri="{FF2B5EF4-FFF2-40B4-BE49-F238E27FC236}">
                <a16:creationId xmlns:a16="http://schemas.microsoft.com/office/drawing/2014/main" id="{38715DFA-309B-C9EA-77A6-B565CEC4144C}"/>
              </a:ext>
            </a:extLst>
          </p:cNvPr>
          <p:cNvSpPr/>
          <p:nvPr/>
        </p:nvSpPr>
        <p:spPr>
          <a:xfrm>
            <a:off x="6298557" y="4797704"/>
            <a:ext cx="4942390" cy="671331"/>
          </a:xfrm>
          <a:prstGeom prst="roundRect">
            <a:avLst>
              <a:gd name="adj" fmla="val 7473"/>
            </a:avLst>
          </a:prstGeom>
        </p:spPr>
        <p:style>
          <a:lnRef idx="0">
            <a:schemeClr val="accent1"/>
          </a:lnRef>
          <a:fillRef idx="3">
            <a:schemeClr val="accent1"/>
          </a:fillRef>
          <a:effectRef idx="3">
            <a:schemeClr val="accent1"/>
          </a:effectRef>
          <a:fontRef idx="minor">
            <a:schemeClr val="lt1"/>
          </a:fontRef>
        </p:style>
        <p:txBody>
          <a:bodyPr rtlCol="0" anchor="ctr"/>
          <a:lstStyle/>
          <a:p>
            <a:pPr marL="517525"/>
            <a:r>
              <a:rPr lang="en-US" sz="1600" dirty="0"/>
              <a:t>Subcontractor + 3rd Party Extendable</a:t>
            </a:r>
          </a:p>
        </p:txBody>
      </p:sp>
      <p:sp>
        <p:nvSpPr>
          <p:cNvPr id="8" name="Rectangle: Rounded Corners 7">
            <a:extLst>
              <a:ext uri="{FF2B5EF4-FFF2-40B4-BE49-F238E27FC236}">
                <a16:creationId xmlns:a16="http://schemas.microsoft.com/office/drawing/2014/main" id="{600A32E5-3EEB-0A73-9E00-7D775A3BE3A6}"/>
              </a:ext>
            </a:extLst>
          </p:cNvPr>
          <p:cNvSpPr/>
          <p:nvPr/>
        </p:nvSpPr>
        <p:spPr>
          <a:xfrm>
            <a:off x="6298557" y="3173392"/>
            <a:ext cx="4942390" cy="671331"/>
          </a:xfrm>
          <a:prstGeom prst="roundRect">
            <a:avLst>
              <a:gd name="adj" fmla="val 10500"/>
            </a:avLst>
          </a:prstGeom>
        </p:spPr>
        <p:style>
          <a:lnRef idx="0">
            <a:schemeClr val="accent1"/>
          </a:lnRef>
          <a:fillRef idx="3">
            <a:schemeClr val="accent1"/>
          </a:fillRef>
          <a:effectRef idx="3">
            <a:schemeClr val="accent1"/>
          </a:effectRef>
          <a:fontRef idx="minor">
            <a:schemeClr val="lt1"/>
          </a:fontRef>
        </p:style>
        <p:txBody>
          <a:bodyPr rtlCol="0" anchor="ctr"/>
          <a:lstStyle/>
          <a:p>
            <a:pPr marL="517525"/>
            <a:r>
              <a:rPr lang="en-US" sz="1600" dirty="0"/>
              <a:t>Primary/Backup Access Channels </a:t>
            </a:r>
          </a:p>
        </p:txBody>
      </p:sp>
      <p:sp>
        <p:nvSpPr>
          <p:cNvPr id="9" name="Rectangle: Rounded Corners 8">
            <a:extLst>
              <a:ext uri="{FF2B5EF4-FFF2-40B4-BE49-F238E27FC236}">
                <a16:creationId xmlns:a16="http://schemas.microsoft.com/office/drawing/2014/main" id="{5118C5E5-4BCB-9BD8-BC87-A81C5488969F}"/>
              </a:ext>
            </a:extLst>
          </p:cNvPr>
          <p:cNvSpPr/>
          <p:nvPr/>
        </p:nvSpPr>
        <p:spPr>
          <a:xfrm>
            <a:off x="6298557" y="1537506"/>
            <a:ext cx="4942390" cy="671331"/>
          </a:xfrm>
          <a:prstGeom prst="roundRect">
            <a:avLst>
              <a:gd name="adj" fmla="val 12013"/>
            </a:avLst>
          </a:prstGeom>
        </p:spPr>
        <p:style>
          <a:lnRef idx="0">
            <a:schemeClr val="accent1"/>
          </a:lnRef>
          <a:fillRef idx="3">
            <a:schemeClr val="accent1"/>
          </a:fillRef>
          <a:effectRef idx="3">
            <a:schemeClr val="accent1"/>
          </a:effectRef>
          <a:fontRef idx="minor">
            <a:schemeClr val="lt1"/>
          </a:fontRef>
        </p:style>
        <p:txBody>
          <a:bodyPr rtlCol="0" anchor="ctr"/>
          <a:lstStyle/>
          <a:p>
            <a:pPr marL="517525"/>
            <a:r>
              <a:rPr lang="en-US" sz="1600" dirty="0"/>
              <a:t>Always Available Lock Operations</a:t>
            </a:r>
          </a:p>
        </p:txBody>
      </p:sp>
      <p:sp>
        <p:nvSpPr>
          <p:cNvPr id="10" name="Rectangle: Rounded Corners 9">
            <a:extLst>
              <a:ext uri="{FF2B5EF4-FFF2-40B4-BE49-F238E27FC236}">
                <a16:creationId xmlns:a16="http://schemas.microsoft.com/office/drawing/2014/main" id="{373E62FA-1A66-014E-559B-A3D600D876F2}"/>
              </a:ext>
            </a:extLst>
          </p:cNvPr>
          <p:cNvSpPr/>
          <p:nvPr/>
        </p:nvSpPr>
        <p:spPr>
          <a:xfrm>
            <a:off x="6298557" y="2361236"/>
            <a:ext cx="4942390" cy="671331"/>
          </a:xfrm>
          <a:prstGeom prst="roundRect">
            <a:avLst>
              <a:gd name="adj" fmla="val 13527"/>
            </a:avLst>
          </a:prstGeom>
        </p:spPr>
        <p:style>
          <a:lnRef idx="0">
            <a:schemeClr val="accent1"/>
          </a:lnRef>
          <a:fillRef idx="3">
            <a:schemeClr val="accent1"/>
          </a:fillRef>
          <a:effectRef idx="3">
            <a:schemeClr val="accent1"/>
          </a:effectRef>
          <a:fontRef idx="minor">
            <a:schemeClr val="lt1"/>
          </a:fontRef>
        </p:style>
        <p:txBody>
          <a:bodyPr rtlCol="0" anchor="ctr"/>
          <a:lstStyle/>
          <a:p>
            <a:pPr marL="517525"/>
            <a:r>
              <a:rPr lang="en-US" sz="1600" dirty="0"/>
              <a:t>Manage Across Multiple Lock Systems</a:t>
            </a:r>
          </a:p>
        </p:txBody>
      </p:sp>
      <p:sp>
        <p:nvSpPr>
          <p:cNvPr id="11" name="Rectangle: Rounded Corners 10">
            <a:extLst>
              <a:ext uri="{FF2B5EF4-FFF2-40B4-BE49-F238E27FC236}">
                <a16:creationId xmlns:a16="http://schemas.microsoft.com/office/drawing/2014/main" id="{55AA71B8-95BF-D9C0-82C5-3B26FA5C8D10}"/>
              </a:ext>
            </a:extLst>
          </p:cNvPr>
          <p:cNvSpPr/>
          <p:nvPr/>
        </p:nvSpPr>
        <p:spPr>
          <a:xfrm>
            <a:off x="682906" y="4797704"/>
            <a:ext cx="4942390" cy="671331"/>
          </a:xfrm>
          <a:prstGeom prst="roundRect">
            <a:avLst>
              <a:gd name="adj" fmla="val 12013"/>
            </a:avLst>
          </a:prstGeom>
        </p:spPr>
        <p:style>
          <a:lnRef idx="0">
            <a:schemeClr val="accent1"/>
          </a:lnRef>
          <a:fillRef idx="3">
            <a:schemeClr val="accent1"/>
          </a:fillRef>
          <a:effectRef idx="3">
            <a:schemeClr val="accent1"/>
          </a:effectRef>
          <a:fontRef idx="minor">
            <a:schemeClr val="lt1"/>
          </a:fontRef>
        </p:style>
        <p:txBody>
          <a:bodyPr rtlCol="0" anchor="ctr"/>
          <a:lstStyle/>
          <a:p>
            <a:pPr marL="517525"/>
            <a:r>
              <a:rPr lang="en-US" sz="1600" dirty="0"/>
              <a:t>Eliminate Off-Hours Support Coordination</a:t>
            </a:r>
          </a:p>
        </p:txBody>
      </p:sp>
      <p:sp>
        <p:nvSpPr>
          <p:cNvPr id="12" name="Rectangle: Rounded Corners 11">
            <a:extLst>
              <a:ext uri="{FF2B5EF4-FFF2-40B4-BE49-F238E27FC236}">
                <a16:creationId xmlns:a16="http://schemas.microsoft.com/office/drawing/2014/main" id="{1BF2ADB4-D387-CBB3-4C18-618DD4C0B9AD}"/>
              </a:ext>
            </a:extLst>
          </p:cNvPr>
          <p:cNvSpPr/>
          <p:nvPr/>
        </p:nvSpPr>
        <p:spPr>
          <a:xfrm>
            <a:off x="6298557" y="3985547"/>
            <a:ext cx="4942390" cy="671331"/>
          </a:xfrm>
          <a:prstGeom prst="roundRect">
            <a:avLst>
              <a:gd name="adj" fmla="val 10500"/>
            </a:avLst>
          </a:prstGeom>
        </p:spPr>
        <p:style>
          <a:lnRef idx="0">
            <a:schemeClr val="accent1"/>
          </a:lnRef>
          <a:fillRef idx="3">
            <a:schemeClr val="accent1"/>
          </a:fillRef>
          <a:effectRef idx="3">
            <a:schemeClr val="accent1"/>
          </a:effectRef>
          <a:fontRef idx="minor">
            <a:schemeClr val="lt1"/>
          </a:fontRef>
        </p:style>
        <p:txBody>
          <a:bodyPr rtlCol="0" anchor="ctr"/>
          <a:lstStyle/>
          <a:p>
            <a:pPr marL="517525"/>
            <a:r>
              <a:rPr lang="en-US" sz="1600" dirty="0"/>
              <a:t>Prevent Forced Lock Switching</a:t>
            </a:r>
          </a:p>
        </p:txBody>
      </p:sp>
      <p:pic>
        <p:nvPicPr>
          <p:cNvPr id="14" name="Picture 13">
            <a:extLst>
              <a:ext uri="{FF2B5EF4-FFF2-40B4-BE49-F238E27FC236}">
                <a16:creationId xmlns:a16="http://schemas.microsoft.com/office/drawing/2014/main" id="{960B9A74-63C7-F371-BF6B-32A012BBD5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506" y="1659606"/>
            <a:ext cx="427129" cy="427129"/>
          </a:xfrm>
          <a:prstGeom prst="rect">
            <a:avLst/>
          </a:prstGeom>
        </p:spPr>
      </p:pic>
      <p:pic>
        <p:nvPicPr>
          <p:cNvPr id="15" name="Picture 14">
            <a:extLst>
              <a:ext uri="{FF2B5EF4-FFF2-40B4-BE49-F238E27FC236}">
                <a16:creationId xmlns:a16="http://schemas.microsoft.com/office/drawing/2014/main" id="{91538527-7F9A-D920-043B-314BBD40F4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506" y="2483336"/>
            <a:ext cx="427129" cy="427129"/>
          </a:xfrm>
          <a:prstGeom prst="rect">
            <a:avLst/>
          </a:prstGeom>
        </p:spPr>
      </p:pic>
      <p:pic>
        <p:nvPicPr>
          <p:cNvPr id="16" name="Picture 15">
            <a:extLst>
              <a:ext uri="{FF2B5EF4-FFF2-40B4-BE49-F238E27FC236}">
                <a16:creationId xmlns:a16="http://schemas.microsoft.com/office/drawing/2014/main" id="{AFAB671C-B3CC-DD62-5D7A-6C5EEEB1A6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505" y="3295492"/>
            <a:ext cx="427129" cy="427129"/>
          </a:xfrm>
          <a:prstGeom prst="rect">
            <a:avLst/>
          </a:prstGeom>
        </p:spPr>
      </p:pic>
      <p:pic>
        <p:nvPicPr>
          <p:cNvPr id="17" name="Picture 16">
            <a:extLst>
              <a:ext uri="{FF2B5EF4-FFF2-40B4-BE49-F238E27FC236}">
                <a16:creationId xmlns:a16="http://schemas.microsoft.com/office/drawing/2014/main" id="{96E7A2F7-2993-10A4-83C8-4CBA1325B6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504" y="4107647"/>
            <a:ext cx="427129" cy="427129"/>
          </a:xfrm>
          <a:prstGeom prst="rect">
            <a:avLst/>
          </a:prstGeom>
        </p:spPr>
      </p:pic>
      <p:pic>
        <p:nvPicPr>
          <p:cNvPr id="18" name="Picture 17">
            <a:extLst>
              <a:ext uri="{FF2B5EF4-FFF2-40B4-BE49-F238E27FC236}">
                <a16:creationId xmlns:a16="http://schemas.microsoft.com/office/drawing/2014/main" id="{31846DA2-CB71-3AD8-58CC-7E3114A4B2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503" y="4919804"/>
            <a:ext cx="427129" cy="427129"/>
          </a:xfrm>
          <a:prstGeom prst="rect">
            <a:avLst/>
          </a:prstGeom>
        </p:spPr>
      </p:pic>
      <p:pic>
        <p:nvPicPr>
          <p:cNvPr id="25" name="Picture 24">
            <a:extLst>
              <a:ext uri="{FF2B5EF4-FFF2-40B4-BE49-F238E27FC236}">
                <a16:creationId xmlns:a16="http://schemas.microsoft.com/office/drawing/2014/main" id="{ECB99D74-094B-C070-70CE-B5229BF9ED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9825" y="1660263"/>
            <a:ext cx="427129" cy="427129"/>
          </a:xfrm>
          <a:prstGeom prst="rect">
            <a:avLst/>
          </a:prstGeom>
        </p:spPr>
      </p:pic>
      <p:pic>
        <p:nvPicPr>
          <p:cNvPr id="26" name="Picture 25">
            <a:extLst>
              <a:ext uri="{FF2B5EF4-FFF2-40B4-BE49-F238E27FC236}">
                <a16:creationId xmlns:a16="http://schemas.microsoft.com/office/drawing/2014/main" id="{CC87BC77-9BA4-DC4C-5876-D9D4D3DC4F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9825" y="2483993"/>
            <a:ext cx="427129" cy="427129"/>
          </a:xfrm>
          <a:prstGeom prst="rect">
            <a:avLst/>
          </a:prstGeom>
        </p:spPr>
      </p:pic>
      <p:pic>
        <p:nvPicPr>
          <p:cNvPr id="27" name="Picture 26">
            <a:extLst>
              <a:ext uri="{FF2B5EF4-FFF2-40B4-BE49-F238E27FC236}">
                <a16:creationId xmlns:a16="http://schemas.microsoft.com/office/drawing/2014/main" id="{8756884C-2A0C-7FA1-75A8-4EDB83A409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9825" y="3296149"/>
            <a:ext cx="427129" cy="427129"/>
          </a:xfrm>
          <a:prstGeom prst="rect">
            <a:avLst/>
          </a:prstGeom>
        </p:spPr>
      </p:pic>
      <p:pic>
        <p:nvPicPr>
          <p:cNvPr id="28" name="Picture 27">
            <a:extLst>
              <a:ext uri="{FF2B5EF4-FFF2-40B4-BE49-F238E27FC236}">
                <a16:creationId xmlns:a16="http://schemas.microsoft.com/office/drawing/2014/main" id="{7B04CDAB-17EB-432C-D2CD-CA43132594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9825" y="4108304"/>
            <a:ext cx="427129" cy="427129"/>
          </a:xfrm>
          <a:prstGeom prst="rect">
            <a:avLst/>
          </a:prstGeom>
        </p:spPr>
      </p:pic>
      <p:pic>
        <p:nvPicPr>
          <p:cNvPr id="29" name="Picture 28">
            <a:extLst>
              <a:ext uri="{FF2B5EF4-FFF2-40B4-BE49-F238E27FC236}">
                <a16:creationId xmlns:a16="http://schemas.microsoft.com/office/drawing/2014/main" id="{8BA3FA20-D76F-B0B1-835C-B5B3D95E8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9825" y="4920461"/>
            <a:ext cx="427129" cy="427129"/>
          </a:xfrm>
          <a:prstGeom prst="rect">
            <a:avLst/>
          </a:prstGeom>
        </p:spPr>
      </p:pic>
    </p:spTree>
    <p:extLst>
      <p:ext uri="{BB962C8B-B14F-4D97-AF65-F5344CB8AC3E}">
        <p14:creationId xmlns:p14="http://schemas.microsoft.com/office/powerpoint/2010/main" val="608490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C840EB-C331-1AA1-7E21-E022EFC56155}"/>
              </a:ext>
            </a:extLst>
          </p:cNvPr>
          <p:cNvSpPr txBox="1"/>
          <p:nvPr/>
        </p:nvSpPr>
        <p:spPr>
          <a:xfrm>
            <a:off x="4214491" y="2398854"/>
            <a:ext cx="3763018" cy="707886"/>
          </a:xfrm>
          <a:prstGeom prst="rect">
            <a:avLst/>
          </a:prstGeom>
          <a:noFill/>
        </p:spPr>
        <p:txBody>
          <a:bodyPr wrap="none" rtlCol="0">
            <a:spAutoFit/>
          </a:bodyPr>
          <a:lstStyle/>
          <a:p>
            <a:r>
              <a:rPr lang="en-US" sz="4000" dirty="0">
                <a:solidFill>
                  <a:srgbClr val="FF0000"/>
                </a:solidFill>
              </a:rPr>
              <a:t>{Source Images}</a:t>
            </a:r>
          </a:p>
        </p:txBody>
      </p:sp>
    </p:spTree>
    <p:extLst>
      <p:ext uri="{BB962C8B-B14F-4D97-AF65-F5344CB8AC3E}">
        <p14:creationId xmlns:p14="http://schemas.microsoft.com/office/powerpoint/2010/main" val="186674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9D7BA3A-BC51-3DE3-0D23-18DBC36092EE}"/>
              </a:ext>
            </a:extLst>
          </p:cNvPr>
          <p:cNvSpPr/>
          <p:nvPr/>
        </p:nvSpPr>
        <p:spPr>
          <a:xfrm>
            <a:off x="-2377440" y="-3108960"/>
            <a:ext cx="20970240" cy="16520160"/>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202B026-077D-BEB8-5634-ABD488249B41}"/>
              </a:ext>
            </a:extLst>
          </p:cNvPr>
          <p:cNvGrpSpPr/>
          <p:nvPr/>
        </p:nvGrpSpPr>
        <p:grpSpPr>
          <a:xfrm>
            <a:off x="-121914" y="-1265179"/>
            <a:ext cx="16496427" cy="13121899"/>
            <a:chOff x="1710045" y="929382"/>
            <a:chExt cx="4937970" cy="3927854"/>
          </a:xfrm>
        </p:grpSpPr>
        <p:sp>
          <p:nvSpPr>
            <p:cNvPr id="2" name="Rectangle: Rounded Corners 1">
              <a:extLst>
                <a:ext uri="{FF2B5EF4-FFF2-40B4-BE49-F238E27FC236}">
                  <a16:creationId xmlns:a16="http://schemas.microsoft.com/office/drawing/2014/main" id="{44C74109-E5BE-F312-5163-EB7E2DC6295F}"/>
                </a:ext>
              </a:extLst>
            </p:cNvPr>
            <p:cNvSpPr/>
            <p:nvPr/>
          </p:nvSpPr>
          <p:spPr>
            <a:xfrm>
              <a:off x="2484955" y="929382"/>
              <a:ext cx="4163060" cy="3106420"/>
            </a:xfrm>
            <a:prstGeom prst="roundRect">
              <a:avLst>
                <a:gd name="adj" fmla="val 264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Web</a:t>
              </a:r>
            </a:p>
          </p:txBody>
        </p:sp>
        <p:pic>
          <p:nvPicPr>
            <p:cNvPr id="4" name="Picture 3">
              <a:extLst>
                <a:ext uri="{FF2B5EF4-FFF2-40B4-BE49-F238E27FC236}">
                  <a16:creationId xmlns:a16="http://schemas.microsoft.com/office/drawing/2014/main" id="{242E5B71-660A-C5FD-FB75-6497A881220D}"/>
                </a:ext>
              </a:extLst>
            </p:cNvPr>
            <p:cNvPicPr>
              <a:picLocks noChangeAspect="1"/>
            </p:cNvPicPr>
            <p:nvPr/>
          </p:nvPicPr>
          <p:blipFill>
            <a:blip r:embed="rId2"/>
            <a:srcRect t="14366"/>
            <a:stretch>
              <a:fillRect/>
            </a:stretch>
          </p:blipFill>
          <p:spPr>
            <a:xfrm>
              <a:off x="2582586" y="1159086"/>
              <a:ext cx="3987430" cy="2794142"/>
            </a:xfrm>
            <a:prstGeom prst="rect">
              <a:avLst/>
            </a:prstGeom>
          </p:spPr>
        </p:pic>
        <p:pic>
          <p:nvPicPr>
            <p:cNvPr id="5" name="Picture 4">
              <a:extLst>
                <a:ext uri="{FF2B5EF4-FFF2-40B4-BE49-F238E27FC236}">
                  <a16:creationId xmlns:a16="http://schemas.microsoft.com/office/drawing/2014/main" id="{C5482DD4-8478-09E3-3287-FC57EC397769}"/>
                </a:ext>
              </a:extLst>
            </p:cNvPr>
            <p:cNvPicPr>
              <a:picLocks noChangeAspect="1"/>
            </p:cNvPicPr>
            <p:nvPr/>
          </p:nvPicPr>
          <p:blipFill>
            <a:blip r:embed="rId2"/>
            <a:srcRect t="-210" b="90393"/>
            <a:stretch>
              <a:fillRect/>
            </a:stretch>
          </p:blipFill>
          <p:spPr>
            <a:xfrm>
              <a:off x="2582586" y="1024318"/>
              <a:ext cx="3987430" cy="335880"/>
            </a:xfrm>
            <a:prstGeom prst="rect">
              <a:avLst/>
            </a:prstGeom>
          </p:spPr>
        </p:pic>
        <p:sp>
          <p:nvSpPr>
            <p:cNvPr id="6" name="Rectangle 5">
              <a:extLst>
                <a:ext uri="{FF2B5EF4-FFF2-40B4-BE49-F238E27FC236}">
                  <a16:creationId xmlns:a16="http://schemas.microsoft.com/office/drawing/2014/main" id="{EFF92671-C618-1973-1408-50CB22EB7075}"/>
                </a:ext>
              </a:extLst>
            </p:cNvPr>
            <p:cNvSpPr/>
            <p:nvPr/>
          </p:nvSpPr>
          <p:spPr>
            <a:xfrm>
              <a:off x="4659817" y="1046065"/>
              <a:ext cx="479811" cy="1130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7B73B45-FFD5-C1C6-C664-4D01CB16259A}"/>
                </a:ext>
              </a:extLst>
            </p:cNvPr>
            <p:cNvGrpSpPr/>
            <p:nvPr/>
          </p:nvGrpSpPr>
          <p:grpSpPr>
            <a:xfrm>
              <a:off x="1710045" y="1494966"/>
              <a:ext cx="1642274" cy="3362270"/>
              <a:chOff x="6316770" y="2328344"/>
              <a:chExt cx="1642274" cy="3362270"/>
            </a:xfrm>
          </p:grpSpPr>
          <p:sp>
            <p:nvSpPr>
              <p:cNvPr id="8" name="Rectangle: Rounded Corners 7">
                <a:extLst>
                  <a:ext uri="{FF2B5EF4-FFF2-40B4-BE49-F238E27FC236}">
                    <a16:creationId xmlns:a16="http://schemas.microsoft.com/office/drawing/2014/main" id="{2181D77C-5ECF-3CB6-5D93-1644C3A9DB11}"/>
                  </a:ext>
                </a:extLst>
              </p:cNvPr>
              <p:cNvSpPr/>
              <p:nvPr/>
            </p:nvSpPr>
            <p:spPr>
              <a:xfrm>
                <a:off x="6316770" y="2328344"/>
                <a:ext cx="1642274" cy="3362270"/>
              </a:xfrm>
              <a:prstGeom prst="roundRect">
                <a:avLst>
                  <a:gd name="adj" fmla="val 64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t>App</a:t>
                </a:r>
              </a:p>
            </p:txBody>
          </p:sp>
          <p:pic>
            <p:nvPicPr>
              <p:cNvPr id="9" name="Picture 8">
                <a:extLst>
                  <a:ext uri="{FF2B5EF4-FFF2-40B4-BE49-F238E27FC236}">
                    <a16:creationId xmlns:a16="http://schemas.microsoft.com/office/drawing/2014/main" id="{754F4877-E590-45D4-CD18-0080B14FEDE7}"/>
                  </a:ext>
                </a:extLst>
              </p:cNvPr>
              <p:cNvPicPr>
                <a:picLocks noChangeAspect="1"/>
              </p:cNvPicPr>
              <p:nvPr/>
            </p:nvPicPr>
            <p:blipFill>
              <a:blip r:embed="rId3">
                <a:extLst>
                  <a:ext uri="{28A0092B-C50C-407E-A947-70E740481C1C}">
                    <a14:useLocalDpi xmlns:a14="http://schemas.microsoft.com/office/drawing/2010/main" val="0"/>
                  </a:ext>
                </a:extLst>
              </a:blip>
              <a:srcRect b="6605"/>
              <a:stretch>
                <a:fillRect/>
              </a:stretch>
            </p:blipFill>
            <p:spPr>
              <a:xfrm>
                <a:off x="6397967" y="2448587"/>
                <a:ext cx="1485056" cy="3178439"/>
              </a:xfrm>
              <a:prstGeom prst="rect">
                <a:avLst/>
              </a:prstGeom>
            </p:spPr>
          </p:pic>
          <p:sp>
            <p:nvSpPr>
              <p:cNvPr id="10" name="Rectangle 9">
                <a:extLst>
                  <a:ext uri="{FF2B5EF4-FFF2-40B4-BE49-F238E27FC236}">
                    <a16:creationId xmlns:a16="http://schemas.microsoft.com/office/drawing/2014/main" id="{5249E21F-78E6-204C-6900-1E5C2C998B81}"/>
                  </a:ext>
                </a:extLst>
              </p:cNvPr>
              <p:cNvSpPr/>
              <p:nvPr/>
            </p:nvSpPr>
            <p:spPr>
              <a:xfrm>
                <a:off x="7662137" y="5360707"/>
                <a:ext cx="216982" cy="198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E436AE3-3E65-2DF2-A829-EFA221D5299C}"/>
                  </a:ext>
                </a:extLst>
              </p:cNvPr>
              <p:cNvPicPr>
                <a:picLocks noChangeAspect="1"/>
              </p:cNvPicPr>
              <p:nvPr/>
            </p:nvPicPr>
            <p:blipFill>
              <a:blip r:embed="rId3">
                <a:extLst>
                  <a:ext uri="{28A0092B-C50C-407E-A947-70E740481C1C}">
                    <a14:useLocalDpi xmlns:a14="http://schemas.microsoft.com/office/drawing/2010/main" val="0"/>
                  </a:ext>
                </a:extLst>
              </a:blip>
              <a:srcRect t="93395" b="-477"/>
              <a:stretch>
                <a:fillRect/>
              </a:stretch>
            </p:blipFill>
            <p:spPr>
              <a:xfrm>
                <a:off x="6397967" y="5403411"/>
                <a:ext cx="1485056" cy="241016"/>
              </a:xfrm>
              <a:prstGeom prst="rect">
                <a:avLst/>
              </a:prstGeom>
            </p:spPr>
          </p:pic>
        </p:grpSp>
      </p:grpSp>
    </p:spTree>
    <p:extLst>
      <p:ext uri="{BB962C8B-B14F-4D97-AF65-F5344CB8AC3E}">
        <p14:creationId xmlns:p14="http://schemas.microsoft.com/office/powerpoint/2010/main" val="2940854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046AF6C-04AD-FF78-B22D-C91740B1019B}"/>
              </a:ext>
            </a:extLst>
          </p:cNvPr>
          <p:cNvSpPr/>
          <p:nvPr/>
        </p:nvSpPr>
        <p:spPr>
          <a:xfrm>
            <a:off x="-213360" y="-1950720"/>
            <a:ext cx="11369040" cy="11490960"/>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FB162112-529F-95AA-6106-FC73477D53F7}"/>
              </a:ext>
            </a:extLst>
          </p:cNvPr>
          <p:cNvGrpSpPr/>
          <p:nvPr/>
        </p:nvGrpSpPr>
        <p:grpSpPr>
          <a:xfrm>
            <a:off x="777240" y="-243530"/>
            <a:ext cx="8456359" cy="7173984"/>
            <a:chOff x="1783081" y="1878576"/>
            <a:chExt cx="3986594" cy="3382042"/>
          </a:xfrm>
        </p:grpSpPr>
        <p:grpSp>
          <p:nvGrpSpPr>
            <p:cNvPr id="2" name="Group 1">
              <a:extLst>
                <a:ext uri="{FF2B5EF4-FFF2-40B4-BE49-F238E27FC236}">
                  <a16:creationId xmlns:a16="http://schemas.microsoft.com/office/drawing/2014/main" id="{5F102EF5-5979-2B5E-BB96-9BFE1F2D1723}"/>
                </a:ext>
              </a:extLst>
            </p:cNvPr>
            <p:cNvGrpSpPr/>
            <p:nvPr/>
          </p:nvGrpSpPr>
          <p:grpSpPr>
            <a:xfrm>
              <a:off x="4122423" y="1878576"/>
              <a:ext cx="1647252" cy="3382042"/>
              <a:chOff x="4122423" y="1878576"/>
              <a:chExt cx="1647252" cy="3382042"/>
            </a:xfrm>
          </p:grpSpPr>
          <p:sp>
            <p:nvSpPr>
              <p:cNvPr id="3" name="Rectangle: Rounded Corners 2">
                <a:extLst>
                  <a:ext uri="{FF2B5EF4-FFF2-40B4-BE49-F238E27FC236}">
                    <a16:creationId xmlns:a16="http://schemas.microsoft.com/office/drawing/2014/main" id="{2F28954B-561B-4E89-AAF7-C8E2C82BE191}"/>
                  </a:ext>
                </a:extLst>
              </p:cNvPr>
              <p:cNvSpPr/>
              <p:nvPr/>
            </p:nvSpPr>
            <p:spPr>
              <a:xfrm>
                <a:off x="4122423" y="1878576"/>
                <a:ext cx="1647252" cy="3382042"/>
              </a:xfrm>
              <a:prstGeom prst="roundRect">
                <a:avLst>
                  <a:gd name="adj" fmla="val 64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App</a:t>
                </a:r>
              </a:p>
            </p:txBody>
          </p:sp>
          <p:pic>
            <p:nvPicPr>
              <p:cNvPr id="4" name="Picture 3">
                <a:extLst>
                  <a:ext uri="{FF2B5EF4-FFF2-40B4-BE49-F238E27FC236}">
                    <a16:creationId xmlns:a16="http://schemas.microsoft.com/office/drawing/2014/main" id="{B8CF5DA4-77D3-FC0F-4A05-7EE29235D1E9}"/>
                  </a:ext>
                </a:extLst>
              </p:cNvPr>
              <p:cNvPicPr>
                <a:picLocks noChangeAspect="1"/>
              </p:cNvPicPr>
              <p:nvPr/>
            </p:nvPicPr>
            <p:blipFill>
              <a:blip r:embed="rId2">
                <a:extLst>
                  <a:ext uri="{28A0092B-C50C-407E-A947-70E740481C1C}">
                    <a14:useLocalDpi xmlns:a14="http://schemas.microsoft.com/office/drawing/2010/main" val="0"/>
                  </a:ext>
                </a:extLst>
              </a:blip>
              <a:srcRect b="6605"/>
              <a:stretch>
                <a:fillRect/>
              </a:stretch>
            </p:blipFill>
            <p:spPr>
              <a:xfrm>
                <a:off x="4208311" y="2018590"/>
                <a:ext cx="1485056" cy="3178439"/>
              </a:xfrm>
              <a:prstGeom prst="rect">
                <a:avLst/>
              </a:prstGeom>
            </p:spPr>
          </p:pic>
        </p:grpSp>
        <p:sp>
          <p:nvSpPr>
            <p:cNvPr id="5" name="Rectangle 4">
              <a:extLst>
                <a:ext uri="{FF2B5EF4-FFF2-40B4-BE49-F238E27FC236}">
                  <a16:creationId xmlns:a16="http://schemas.microsoft.com/office/drawing/2014/main" id="{B000EDE1-F2E8-ADB9-EFC2-9EAA77D4AB60}"/>
                </a:ext>
              </a:extLst>
            </p:cNvPr>
            <p:cNvSpPr/>
            <p:nvPr/>
          </p:nvSpPr>
          <p:spPr>
            <a:xfrm>
              <a:off x="5473604" y="4930710"/>
              <a:ext cx="216982" cy="198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pic>
          <p:nvPicPr>
            <p:cNvPr id="6" name="Picture 5">
              <a:extLst>
                <a:ext uri="{FF2B5EF4-FFF2-40B4-BE49-F238E27FC236}">
                  <a16:creationId xmlns:a16="http://schemas.microsoft.com/office/drawing/2014/main" id="{ECB08496-F6FF-6976-FE13-53F7C457B583}"/>
                </a:ext>
              </a:extLst>
            </p:cNvPr>
            <p:cNvPicPr>
              <a:picLocks noChangeAspect="1"/>
            </p:cNvPicPr>
            <p:nvPr/>
          </p:nvPicPr>
          <p:blipFill>
            <a:blip r:embed="rId2">
              <a:extLst>
                <a:ext uri="{28A0092B-C50C-407E-A947-70E740481C1C}">
                  <a14:useLocalDpi xmlns:a14="http://schemas.microsoft.com/office/drawing/2010/main" val="0"/>
                </a:ext>
              </a:extLst>
            </a:blip>
            <a:srcRect t="93395" b="-477"/>
            <a:stretch>
              <a:fillRect/>
            </a:stretch>
          </p:blipFill>
          <p:spPr>
            <a:xfrm>
              <a:off x="4209434" y="4978204"/>
              <a:ext cx="1485056" cy="241016"/>
            </a:xfrm>
            <a:prstGeom prst="rect">
              <a:avLst/>
            </a:prstGeom>
          </p:spPr>
        </p:pic>
        <p:grpSp>
          <p:nvGrpSpPr>
            <p:cNvPr id="7" name="Group 6">
              <a:extLst>
                <a:ext uri="{FF2B5EF4-FFF2-40B4-BE49-F238E27FC236}">
                  <a16:creationId xmlns:a16="http://schemas.microsoft.com/office/drawing/2014/main" id="{BF52B1C8-0DF9-D791-57EE-AE487ADC19F3}"/>
                </a:ext>
              </a:extLst>
            </p:cNvPr>
            <p:cNvGrpSpPr/>
            <p:nvPr/>
          </p:nvGrpSpPr>
          <p:grpSpPr>
            <a:xfrm>
              <a:off x="1783081" y="1878576"/>
              <a:ext cx="1647252" cy="3382042"/>
              <a:chOff x="1783081" y="1878576"/>
              <a:chExt cx="1647252" cy="3382042"/>
            </a:xfrm>
          </p:grpSpPr>
          <p:sp>
            <p:nvSpPr>
              <p:cNvPr id="8" name="Rectangle: Rounded Corners 7">
                <a:extLst>
                  <a:ext uri="{FF2B5EF4-FFF2-40B4-BE49-F238E27FC236}">
                    <a16:creationId xmlns:a16="http://schemas.microsoft.com/office/drawing/2014/main" id="{CE724422-1977-1760-EA54-36E8FD26D456}"/>
                  </a:ext>
                </a:extLst>
              </p:cNvPr>
              <p:cNvSpPr/>
              <p:nvPr/>
            </p:nvSpPr>
            <p:spPr>
              <a:xfrm>
                <a:off x="1783081" y="1878576"/>
                <a:ext cx="1647252" cy="3382042"/>
              </a:xfrm>
              <a:prstGeom prst="roundRect">
                <a:avLst>
                  <a:gd name="adj" fmla="val 64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App</a:t>
                </a:r>
              </a:p>
            </p:txBody>
          </p:sp>
          <p:sp>
            <p:nvSpPr>
              <p:cNvPr id="9" name="Rectangle 8">
                <a:extLst>
                  <a:ext uri="{FF2B5EF4-FFF2-40B4-BE49-F238E27FC236}">
                    <a16:creationId xmlns:a16="http://schemas.microsoft.com/office/drawing/2014/main" id="{18D900C3-177A-8B1D-C1AD-EFE3D870B900}"/>
                  </a:ext>
                </a:extLst>
              </p:cNvPr>
              <p:cNvSpPr/>
              <p:nvPr/>
            </p:nvSpPr>
            <p:spPr>
              <a:xfrm>
                <a:off x="1864179" y="2018590"/>
                <a:ext cx="1485056" cy="311085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Ticket</a:t>
                </a:r>
              </a:p>
              <a:p>
                <a:pPr algn="ctr"/>
                <a:r>
                  <a:rPr lang="en-US" sz="3200" dirty="0"/>
                  <a:t>App</a:t>
                </a:r>
              </a:p>
              <a:p>
                <a:pPr algn="ctr"/>
                <a:r>
                  <a:rPr lang="en-US" sz="3200" dirty="0"/>
                  <a:t>--------</a:t>
                </a:r>
              </a:p>
              <a:p>
                <a:pPr algn="ctr"/>
                <a:r>
                  <a:rPr lang="en-US" sz="3200" dirty="0"/>
                  <a:t>Field</a:t>
                </a:r>
              </a:p>
              <a:p>
                <a:pPr algn="ctr"/>
                <a:r>
                  <a:rPr lang="en-US" sz="3200" dirty="0"/>
                  <a:t>App</a:t>
                </a:r>
              </a:p>
            </p:txBody>
          </p:sp>
        </p:grpSp>
        <p:pic>
          <p:nvPicPr>
            <p:cNvPr id="10" name="Picture 9">
              <a:extLst>
                <a:ext uri="{FF2B5EF4-FFF2-40B4-BE49-F238E27FC236}">
                  <a16:creationId xmlns:a16="http://schemas.microsoft.com/office/drawing/2014/main" id="{5875BFCE-07A7-193E-2E5B-4602AA207588}"/>
                </a:ext>
              </a:extLst>
            </p:cNvPr>
            <p:cNvPicPr>
              <a:picLocks noChangeAspect="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3325713" y="3118932"/>
              <a:ext cx="901330" cy="901330"/>
            </a:xfrm>
            <a:prstGeom prst="rect">
              <a:avLst/>
            </a:prstGeom>
          </p:spPr>
        </p:pic>
      </p:grpSp>
    </p:spTree>
    <p:extLst>
      <p:ext uri="{BB962C8B-B14F-4D97-AF65-F5344CB8AC3E}">
        <p14:creationId xmlns:p14="http://schemas.microsoft.com/office/powerpoint/2010/main" val="1806186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4F64BAE-23C4-FFC7-7404-7AE70DDDEEDB}"/>
              </a:ext>
            </a:extLst>
          </p:cNvPr>
          <p:cNvSpPr/>
          <p:nvPr/>
        </p:nvSpPr>
        <p:spPr>
          <a:xfrm>
            <a:off x="-1005840" y="-3078480"/>
            <a:ext cx="10789920" cy="13350240"/>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C07DB6BF-CDAA-2C16-F02D-8EB9341D3E10}"/>
              </a:ext>
            </a:extLst>
          </p:cNvPr>
          <p:cNvGrpSpPr/>
          <p:nvPr/>
        </p:nvGrpSpPr>
        <p:grpSpPr>
          <a:xfrm>
            <a:off x="1371600" y="-2194561"/>
            <a:ext cx="5259856" cy="11145142"/>
            <a:chOff x="6353264" y="2354474"/>
            <a:chExt cx="1574463" cy="3336140"/>
          </a:xfrm>
        </p:grpSpPr>
        <p:sp>
          <p:nvSpPr>
            <p:cNvPr id="8" name="Rectangle: Rounded Corners 7">
              <a:extLst>
                <a:ext uri="{FF2B5EF4-FFF2-40B4-BE49-F238E27FC236}">
                  <a16:creationId xmlns:a16="http://schemas.microsoft.com/office/drawing/2014/main" id="{79C5A87D-FCA7-AD3D-182B-0DEA9174B602}"/>
                </a:ext>
              </a:extLst>
            </p:cNvPr>
            <p:cNvSpPr/>
            <p:nvPr/>
          </p:nvSpPr>
          <p:spPr>
            <a:xfrm>
              <a:off x="6353264" y="2354474"/>
              <a:ext cx="1574463" cy="3336140"/>
            </a:xfrm>
            <a:prstGeom prst="roundRect">
              <a:avLst>
                <a:gd name="adj" fmla="val 64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t>App</a:t>
              </a:r>
            </a:p>
          </p:txBody>
        </p:sp>
        <p:pic>
          <p:nvPicPr>
            <p:cNvPr id="9" name="Picture 8">
              <a:extLst>
                <a:ext uri="{FF2B5EF4-FFF2-40B4-BE49-F238E27FC236}">
                  <a16:creationId xmlns:a16="http://schemas.microsoft.com/office/drawing/2014/main" id="{6C950A5D-D5AB-145A-119A-B6BBFC39BA95}"/>
                </a:ext>
              </a:extLst>
            </p:cNvPr>
            <p:cNvPicPr>
              <a:picLocks noChangeAspect="1"/>
            </p:cNvPicPr>
            <p:nvPr/>
          </p:nvPicPr>
          <p:blipFill>
            <a:blip r:embed="rId2">
              <a:extLst>
                <a:ext uri="{28A0092B-C50C-407E-A947-70E740481C1C}">
                  <a14:useLocalDpi xmlns:a14="http://schemas.microsoft.com/office/drawing/2010/main" val="0"/>
                </a:ext>
              </a:extLst>
            </a:blip>
            <a:srcRect b="6605"/>
            <a:stretch>
              <a:fillRect/>
            </a:stretch>
          </p:blipFill>
          <p:spPr>
            <a:xfrm>
              <a:off x="6397967" y="2448587"/>
              <a:ext cx="1485056" cy="3178439"/>
            </a:xfrm>
            <a:prstGeom prst="rect">
              <a:avLst/>
            </a:prstGeom>
          </p:spPr>
        </p:pic>
        <p:sp>
          <p:nvSpPr>
            <p:cNvPr id="10" name="Rectangle 9">
              <a:extLst>
                <a:ext uri="{FF2B5EF4-FFF2-40B4-BE49-F238E27FC236}">
                  <a16:creationId xmlns:a16="http://schemas.microsoft.com/office/drawing/2014/main" id="{1A033B0A-3AC6-F43D-3E42-4ECA6161B194}"/>
                </a:ext>
              </a:extLst>
            </p:cNvPr>
            <p:cNvSpPr/>
            <p:nvPr/>
          </p:nvSpPr>
          <p:spPr>
            <a:xfrm>
              <a:off x="7662137" y="5360707"/>
              <a:ext cx="216982" cy="198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53F5698-3459-12B8-A04B-1F311841CAF5}"/>
                </a:ext>
              </a:extLst>
            </p:cNvPr>
            <p:cNvPicPr>
              <a:picLocks noChangeAspect="1"/>
            </p:cNvPicPr>
            <p:nvPr/>
          </p:nvPicPr>
          <p:blipFill>
            <a:blip r:embed="rId2">
              <a:extLst>
                <a:ext uri="{28A0092B-C50C-407E-A947-70E740481C1C}">
                  <a14:useLocalDpi xmlns:a14="http://schemas.microsoft.com/office/drawing/2010/main" val="0"/>
                </a:ext>
              </a:extLst>
            </a:blip>
            <a:srcRect t="93395" b="-477"/>
            <a:stretch>
              <a:fillRect/>
            </a:stretch>
          </p:blipFill>
          <p:spPr>
            <a:xfrm>
              <a:off x="6397967" y="5403411"/>
              <a:ext cx="1485056" cy="241016"/>
            </a:xfrm>
            <a:prstGeom prst="rect">
              <a:avLst/>
            </a:prstGeom>
          </p:spPr>
        </p:pic>
      </p:grpSp>
    </p:spTree>
    <p:extLst>
      <p:ext uri="{BB962C8B-B14F-4D97-AF65-F5344CB8AC3E}">
        <p14:creationId xmlns:p14="http://schemas.microsoft.com/office/powerpoint/2010/main" val="4124589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C2683D8-CF4F-4C1E-7C6C-91BBED446C03}"/>
              </a:ext>
            </a:extLst>
          </p:cNvPr>
          <p:cNvSpPr/>
          <p:nvPr/>
        </p:nvSpPr>
        <p:spPr>
          <a:xfrm>
            <a:off x="-1922585" y="-3516923"/>
            <a:ext cx="12614031" cy="12614031"/>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30DCEC39-1FF1-288F-3F20-F4E44F0ED70C}"/>
              </a:ext>
            </a:extLst>
          </p:cNvPr>
          <p:cNvGrpSpPr/>
          <p:nvPr/>
        </p:nvGrpSpPr>
        <p:grpSpPr>
          <a:xfrm>
            <a:off x="299428" y="-1209880"/>
            <a:ext cx="4125252" cy="8469057"/>
            <a:chOff x="1579588" y="487680"/>
            <a:chExt cx="3246412" cy="6664817"/>
          </a:xfrm>
        </p:grpSpPr>
        <p:sp>
          <p:nvSpPr>
            <p:cNvPr id="8" name="Rectangle: Rounded Corners 7">
              <a:extLst>
                <a:ext uri="{FF2B5EF4-FFF2-40B4-BE49-F238E27FC236}">
                  <a16:creationId xmlns:a16="http://schemas.microsoft.com/office/drawing/2014/main" id="{46FB5462-31D4-AA0F-2367-A648D61306E3}"/>
                </a:ext>
              </a:extLst>
            </p:cNvPr>
            <p:cNvSpPr/>
            <p:nvPr/>
          </p:nvSpPr>
          <p:spPr>
            <a:xfrm>
              <a:off x="1579588" y="487680"/>
              <a:ext cx="3246412" cy="6664817"/>
            </a:xfrm>
            <a:prstGeom prst="roundRect">
              <a:avLst>
                <a:gd name="adj" fmla="val 64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t>App</a:t>
              </a:r>
            </a:p>
          </p:txBody>
        </p:sp>
        <p:pic>
          <p:nvPicPr>
            <p:cNvPr id="9" name="Picture 8">
              <a:extLst>
                <a:ext uri="{FF2B5EF4-FFF2-40B4-BE49-F238E27FC236}">
                  <a16:creationId xmlns:a16="http://schemas.microsoft.com/office/drawing/2014/main" id="{67F9865C-C551-C296-C81E-BAB5069D2029}"/>
                </a:ext>
              </a:extLst>
            </p:cNvPr>
            <p:cNvPicPr>
              <a:picLocks noChangeAspect="1"/>
            </p:cNvPicPr>
            <p:nvPr/>
          </p:nvPicPr>
          <p:blipFill>
            <a:blip r:embed="rId2">
              <a:extLst>
                <a:ext uri="{28A0092B-C50C-407E-A947-70E740481C1C}">
                  <a14:useLocalDpi xmlns:a14="http://schemas.microsoft.com/office/drawing/2010/main" val="0"/>
                </a:ext>
              </a:extLst>
            </a:blip>
            <a:srcRect t="3303" b="5650"/>
            <a:stretch>
              <a:fillRect/>
            </a:stretch>
          </p:blipFill>
          <p:spPr>
            <a:xfrm>
              <a:off x="1719913" y="784851"/>
              <a:ext cx="2965762" cy="6073149"/>
            </a:xfrm>
            <a:prstGeom prst="rect">
              <a:avLst/>
            </a:prstGeom>
          </p:spPr>
        </p:pic>
      </p:grpSp>
      <p:grpSp>
        <p:nvGrpSpPr>
          <p:cNvPr id="14" name="Group 13">
            <a:extLst>
              <a:ext uri="{FF2B5EF4-FFF2-40B4-BE49-F238E27FC236}">
                <a16:creationId xmlns:a16="http://schemas.microsoft.com/office/drawing/2014/main" id="{50AEB03E-6FA2-9678-2622-49EFA77B1869}"/>
              </a:ext>
            </a:extLst>
          </p:cNvPr>
          <p:cNvGrpSpPr/>
          <p:nvPr/>
        </p:nvGrpSpPr>
        <p:grpSpPr>
          <a:xfrm>
            <a:off x="5049229" y="-1209881"/>
            <a:ext cx="4125251" cy="8469058"/>
            <a:chOff x="5094949" y="487679"/>
            <a:chExt cx="3246411" cy="6664817"/>
          </a:xfrm>
        </p:grpSpPr>
        <p:sp>
          <p:nvSpPr>
            <p:cNvPr id="12" name="Rectangle: Rounded Corners 11">
              <a:extLst>
                <a:ext uri="{FF2B5EF4-FFF2-40B4-BE49-F238E27FC236}">
                  <a16:creationId xmlns:a16="http://schemas.microsoft.com/office/drawing/2014/main" id="{8ACAB8FB-AD76-1B23-6448-119BA099C262}"/>
                </a:ext>
              </a:extLst>
            </p:cNvPr>
            <p:cNvSpPr/>
            <p:nvPr/>
          </p:nvSpPr>
          <p:spPr>
            <a:xfrm>
              <a:off x="5094949" y="487679"/>
              <a:ext cx="3246411" cy="6664817"/>
            </a:xfrm>
            <a:prstGeom prst="roundRect">
              <a:avLst>
                <a:gd name="adj" fmla="val 64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t>App</a:t>
              </a:r>
            </a:p>
          </p:txBody>
        </p:sp>
        <p:grpSp>
          <p:nvGrpSpPr>
            <p:cNvPr id="10" name="Group 9">
              <a:extLst>
                <a:ext uri="{FF2B5EF4-FFF2-40B4-BE49-F238E27FC236}">
                  <a16:creationId xmlns:a16="http://schemas.microsoft.com/office/drawing/2014/main" id="{26DA6806-FAB7-6655-9DCD-2B0D89B51456}"/>
                </a:ext>
              </a:extLst>
            </p:cNvPr>
            <p:cNvGrpSpPr/>
            <p:nvPr/>
          </p:nvGrpSpPr>
          <p:grpSpPr>
            <a:xfrm>
              <a:off x="5239593" y="753972"/>
              <a:ext cx="2965761" cy="6249781"/>
              <a:chOff x="5329245" y="753972"/>
              <a:chExt cx="3233130" cy="6249781"/>
            </a:xfrm>
          </p:grpSpPr>
          <p:pic>
            <p:nvPicPr>
              <p:cNvPr id="6" name="Picture 5">
                <a:extLst>
                  <a:ext uri="{FF2B5EF4-FFF2-40B4-BE49-F238E27FC236}">
                    <a16:creationId xmlns:a16="http://schemas.microsoft.com/office/drawing/2014/main" id="{A6A6FEEA-5233-7EA4-7573-E5FC48E2909F}"/>
                  </a:ext>
                </a:extLst>
              </p:cNvPr>
              <p:cNvPicPr>
                <a:picLocks noChangeAspect="1"/>
              </p:cNvPicPr>
              <p:nvPr/>
            </p:nvPicPr>
            <p:blipFill>
              <a:blip r:embed="rId3">
                <a:extLst>
                  <a:ext uri="{28A0092B-C50C-407E-A947-70E740481C1C}">
                    <a14:useLocalDpi xmlns:a14="http://schemas.microsoft.com/office/drawing/2010/main" val="0"/>
                  </a:ext>
                </a:extLst>
              </a:blip>
              <a:srcRect b="-1516"/>
              <a:stretch>
                <a:fillRect/>
              </a:stretch>
            </p:blipFill>
            <p:spPr>
              <a:xfrm>
                <a:off x="5329245" y="753973"/>
                <a:ext cx="3233129" cy="6249780"/>
              </a:xfrm>
              <a:prstGeom prst="rect">
                <a:avLst/>
              </a:prstGeom>
            </p:spPr>
          </p:pic>
          <p:pic>
            <p:nvPicPr>
              <p:cNvPr id="7" name="Picture 6">
                <a:extLst>
                  <a:ext uri="{FF2B5EF4-FFF2-40B4-BE49-F238E27FC236}">
                    <a16:creationId xmlns:a16="http://schemas.microsoft.com/office/drawing/2014/main" id="{225284CD-1EA7-4BF6-F16A-A657BCD6FAEA}"/>
                  </a:ext>
                </a:extLst>
              </p:cNvPr>
              <p:cNvPicPr>
                <a:picLocks noChangeAspect="1"/>
              </p:cNvPicPr>
              <p:nvPr/>
            </p:nvPicPr>
            <p:blipFill>
              <a:blip r:embed="rId2">
                <a:extLst>
                  <a:ext uri="{28A0092B-C50C-407E-A947-70E740481C1C}">
                    <a14:useLocalDpi xmlns:a14="http://schemas.microsoft.com/office/drawing/2010/main" val="0"/>
                  </a:ext>
                </a:extLst>
              </a:blip>
              <a:srcRect t="3302" b="60360"/>
              <a:stretch>
                <a:fillRect/>
              </a:stretch>
            </p:blipFill>
            <p:spPr>
              <a:xfrm>
                <a:off x="5329245" y="753972"/>
                <a:ext cx="3233130" cy="2692290"/>
              </a:xfrm>
              <a:prstGeom prst="rect">
                <a:avLst/>
              </a:prstGeom>
            </p:spPr>
          </p:pic>
        </p:grpSp>
      </p:grpSp>
    </p:spTree>
    <p:extLst>
      <p:ext uri="{BB962C8B-B14F-4D97-AF65-F5344CB8AC3E}">
        <p14:creationId xmlns:p14="http://schemas.microsoft.com/office/powerpoint/2010/main" val="1821418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5D2D5A-B44D-C5ED-9D5E-473BBEDE0E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428" y="977721"/>
            <a:ext cx="2721344" cy="3804844"/>
          </a:xfrm>
          <a:prstGeom prst="rect">
            <a:avLst/>
          </a:prstGeom>
        </p:spPr>
      </p:pic>
    </p:spTree>
    <p:extLst>
      <p:ext uri="{BB962C8B-B14F-4D97-AF65-F5344CB8AC3E}">
        <p14:creationId xmlns:p14="http://schemas.microsoft.com/office/powerpoint/2010/main" val="3334293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B300C05-3E89-DCE9-86A9-73D309E973E0}"/>
              </a:ext>
            </a:extLst>
          </p:cNvPr>
          <p:cNvGrpSpPr/>
          <p:nvPr/>
        </p:nvGrpSpPr>
        <p:grpSpPr>
          <a:xfrm>
            <a:off x="637676" y="47731"/>
            <a:ext cx="10916649" cy="6762538"/>
            <a:chOff x="970551" y="886549"/>
            <a:chExt cx="9423515" cy="5837586"/>
          </a:xfrm>
        </p:grpSpPr>
        <p:grpSp>
          <p:nvGrpSpPr>
            <p:cNvPr id="3" name="Group 2">
              <a:extLst>
                <a:ext uri="{FF2B5EF4-FFF2-40B4-BE49-F238E27FC236}">
                  <a16:creationId xmlns:a16="http://schemas.microsoft.com/office/drawing/2014/main" id="{8A579ACF-31C7-6D42-3A82-E750521FCC74}"/>
                </a:ext>
              </a:extLst>
            </p:cNvPr>
            <p:cNvGrpSpPr/>
            <p:nvPr/>
          </p:nvGrpSpPr>
          <p:grpSpPr>
            <a:xfrm>
              <a:off x="970551" y="886549"/>
              <a:ext cx="9423515" cy="5837586"/>
              <a:chOff x="775827" y="805526"/>
              <a:chExt cx="9423515" cy="5837586"/>
            </a:xfrm>
          </p:grpSpPr>
          <p:pic>
            <p:nvPicPr>
              <p:cNvPr id="7" name="Picture 6">
                <a:extLst>
                  <a:ext uri="{FF2B5EF4-FFF2-40B4-BE49-F238E27FC236}">
                    <a16:creationId xmlns:a16="http://schemas.microsoft.com/office/drawing/2014/main" id="{E8662D48-E8E9-C762-AC4B-C7EE514D1F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5463" y="943357"/>
                <a:ext cx="798238" cy="992271"/>
              </a:xfrm>
              <a:prstGeom prst="rect">
                <a:avLst/>
              </a:prstGeom>
            </p:spPr>
          </p:pic>
          <p:grpSp>
            <p:nvGrpSpPr>
              <p:cNvPr id="8" name="Group 7">
                <a:extLst>
                  <a:ext uri="{FF2B5EF4-FFF2-40B4-BE49-F238E27FC236}">
                    <a16:creationId xmlns:a16="http://schemas.microsoft.com/office/drawing/2014/main" id="{764400D2-3FA3-D428-60E9-F994013B67E7}"/>
                  </a:ext>
                </a:extLst>
              </p:cNvPr>
              <p:cNvGrpSpPr/>
              <p:nvPr/>
            </p:nvGrpSpPr>
            <p:grpSpPr>
              <a:xfrm>
                <a:off x="6574543" y="2144600"/>
                <a:ext cx="1635760" cy="1717040"/>
                <a:chOff x="6300781" y="3201671"/>
                <a:chExt cx="1635760" cy="1717040"/>
              </a:xfrm>
            </p:grpSpPr>
            <p:sp>
              <p:nvSpPr>
                <p:cNvPr id="29" name="Rectangle: Rounded Corners 28">
                  <a:extLst>
                    <a:ext uri="{FF2B5EF4-FFF2-40B4-BE49-F238E27FC236}">
                      <a16:creationId xmlns:a16="http://schemas.microsoft.com/office/drawing/2014/main" id="{D3DD3DDA-CCBA-0388-0F90-C903BBE76B8D}"/>
                    </a:ext>
                  </a:extLst>
                </p:cNvPr>
                <p:cNvSpPr/>
                <p:nvPr/>
              </p:nvSpPr>
              <p:spPr>
                <a:xfrm>
                  <a:off x="6300781" y="3201671"/>
                  <a:ext cx="1635760" cy="1717040"/>
                </a:xfrm>
                <a:prstGeom prst="roundRect">
                  <a:avLst>
                    <a:gd name="adj" fmla="val 3165"/>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100" b="1" dirty="0">
                      <a:solidFill>
                        <a:schemeClr val="tx1">
                          <a:lumMod val="50000"/>
                          <a:lumOff val="50000"/>
                        </a:schemeClr>
                      </a:solidFill>
                    </a:rPr>
                    <a:t>Enterprise Hosted</a:t>
                  </a:r>
                </a:p>
              </p:txBody>
            </p:sp>
            <p:sp>
              <p:nvSpPr>
                <p:cNvPr id="30" name="Rectangle: Rounded Corners 29">
                  <a:extLst>
                    <a:ext uri="{FF2B5EF4-FFF2-40B4-BE49-F238E27FC236}">
                      <a16:creationId xmlns:a16="http://schemas.microsoft.com/office/drawing/2014/main" id="{3AE36711-2234-21AC-E68A-3C0CDB937E75}"/>
                    </a:ext>
                  </a:extLst>
                </p:cNvPr>
                <p:cNvSpPr/>
                <p:nvPr/>
              </p:nvSpPr>
              <p:spPr>
                <a:xfrm>
                  <a:off x="6428959" y="3333751"/>
                  <a:ext cx="1371600" cy="562610"/>
                </a:xfrm>
                <a:prstGeom prst="roundRect">
                  <a:avLst>
                    <a:gd name="adj" fmla="val 5377"/>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50000"/>
                          <a:lumOff val="50000"/>
                        </a:schemeClr>
                      </a:solidFill>
                    </a:rPr>
                    <a:t>Lock System</a:t>
                  </a:r>
                </a:p>
              </p:txBody>
            </p:sp>
            <p:sp>
              <p:nvSpPr>
                <p:cNvPr id="31" name="Rectangle: Rounded Corners 30">
                  <a:extLst>
                    <a:ext uri="{FF2B5EF4-FFF2-40B4-BE49-F238E27FC236}">
                      <a16:creationId xmlns:a16="http://schemas.microsoft.com/office/drawing/2014/main" id="{910E8ABD-23FD-718F-987E-3BC8CD866FD7}"/>
                    </a:ext>
                  </a:extLst>
                </p:cNvPr>
                <p:cNvSpPr/>
                <p:nvPr/>
              </p:nvSpPr>
              <p:spPr>
                <a:xfrm>
                  <a:off x="6428959" y="4010661"/>
                  <a:ext cx="1371600" cy="562610"/>
                </a:xfrm>
                <a:prstGeom prst="roundRect">
                  <a:avLst>
                    <a:gd name="adj" fmla="val 5377"/>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50000"/>
                          <a:lumOff val="50000"/>
                        </a:schemeClr>
                      </a:solidFill>
                    </a:rPr>
                    <a:t>Keybox</a:t>
                  </a:r>
                </a:p>
              </p:txBody>
            </p:sp>
          </p:grpSp>
          <p:sp>
            <p:nvSpPr>
              <p:cNvPr id="9" name="Rectangle: Rounded Corners 8">
                <a:extLst>
                  <a:ext uri="{FF2B5EF4-FFF2-40B4-BE49-F238E27FC236}">
                    <a16:creationId xmlns:a16="http://schemas.microsoft.com/office/drawing/2014/main" id="{B4A8D822-C82D-8749-D963-A91ECA4FDCE7}"/>
                  </a:ext>
                </a:extLst>
              </p:cNvPr>
              <p:cNvSpPr/>
              <p:nvPr/>
            </p:nvSpPr>
            <p:spPr>
              <a:xfrm>
                <a:off x="4810605" y="2144600"/>
                <a:ext cx="1635760" cy="1717040"/>
              </a:xfrm>
              <a:prstGeom prst="roundRect">
                <a:avLst>
                  <a:gd name="adj" fmla="val 3165"/>
                </a:avLst>
              </a:prstGeom>
              <a:solidFill>
                <a:srgbClr val="00990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200" b="1" dirty="0">
                    <a:solidFill>
                      <a:schemeClr val="tx1"/>
                    </a:solidFill>
                  </a:rPr>
                  <a:t>Enterprise Hosted</a:t>
                </a:r>
              </a:p>
            </p:txBody>
          </p:sp>
          <p:sp>
            <p:nvSpPr>
              <p:cNvPr id="10" name="Rectangle: Rounded Corners 9">
                <a:extLst>
                  <a:ext uri="{FF2B5EF4-FFF2-40B4-BE49-F238E27FC236}">
                    <a16:creationId xmlns:a16="http://schemas.microsoft.com/office/drawing/2014/main" id="{367CB936-0EB1-187F-FE3A-CAC7E7E0A517}"/>
                  </a:ext>
                </a:extLst>
              </p:cNvPr>
              <p:cNvSpPr/>
              <p:nvPr/>
            </p:nvSpPr>
            <p:spPr>
              <a:xfrm>
                <a:off x="4938783" y="2276680"/>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1400" b="1" dirty="0"/>
                  <a:t>Lock System DB</a:t>
                </a:r>
              </a:p>
            </p:txBody>
          </p:sp>
          <p:sp>
            <p:nvSpPr>
              <p:cNvPr id="11" name="Rectangle: Rounded Corners 10">
                <a:extLst>
                  <a:ext uri="{FF2B5EF4-FFF2-40B4-BE49-F238E27FC236}">
                    <a16:creationId xmlns:a16="http://schemas.microsoft.com/office/drawing/2014/main" id="{B266B696-0BFD-E5E8-BAF2-10A6083A1A99}"/>
                  </a:ext>
                </a:extLst>
              </p:cNvPr>
              <p:cNvSpPr/>
              <p:nvPr/>
            </p:nvSpPr>
            <p:spPr>
              <a:xfrm>
                <a:off x="4938783" y="2953590"/>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Keybox</a:t>
                </a:r>
              </a:p>
            </p:txBody>
          </p:sp>
          <p:sp>
            <p:nvSpPr>
              <p:cNvPr id="12" name="Rectangle: Rounded Corners 11">
                <a:extLst>
                  <a:ext uri="{FF2B5EF4-FFF2-40B4-BE49-F238E27FC236}">
                    <a16:creationId xmlns:a16="http://schemas.microsoft.com/office/drawing/2014/main" id="{CFFF1E62-C386-528B-936F-DDB397E4C05A}"/>
                  </a:ext>
                </a:extLst>
              </p:cNvPr>
              <p:cNvSpPr/>
              <p:nvPr/>
            </p:nvSpPr>
            <p:spPr>
              <a:xfrm>
                <a:off x="2240178" y="2276680"/>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Lock System</a:t>
                </a:r>
              </a:p>
            </p:txBody>
          </p:sp>
          <p:sp>
            <p:nvSpPr>
              <p:cNvPr id="13" name="Rectangle: Rounded Corners 12">
                <a:extLst>
                  <a:ext uri="{FF2B5EF4-FFF2-40B4-BE49-F238E27FC236}">
                    <a16:creationId xmlns:a16="http://schemas.microsoft.com/office/drawing/2014/main" id="{B5F06DEB-DD87-8EE1-7191-93983AFEF63E}"/>
                  </a:ext>
                </a:extLst>
              </p:cNvPr>
              <p:cNvSpPr/>
              <p:nvPr/>
            </p:nvSpPr>
            <p:spPr>
              <a:xfrm>
                <a:off x="2240178" y="2953590"/>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Keybox</a:t>
                </a:r>
              </a:p>
            </p:txBody>
          </p:sp>
          <p:sp>
            <p:nvSpPr>
              <p:cNvPr id="14" name="Rectangle: Rounded Corners 13">
                <a:extLst>
                  <a:ext uri="{FF2B5EF4-FFF2-40B4-BE49-F238E27FC236}">
                    <a16:creationId xmlns:a16="http://schemas.microsoft.com/office/drawing/2014/main" id="{E0C23036-C9A3-0825-029A-901113E2EB06}"/>
                  </a:ext>
                </a:extLst>
              </p:cNvPr>
              <p:cNvSpPr/>
              <p:nvPr/>
            </p:nvSpPr>
            <p:spPr>
              <a:xfrm>
                <a:off x="4138463" y="805526"/>
                <a:ext cx="6060879" cy="3475860"/>
              </a:xfrm>
              <a:prstGeom prst="roundRect">
                <a:avLst>
                  <a:gd name="adj" fmla="val 2067"/>
                </a:avLst>
              </a:prstGeom>
              <a:no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1400" b="1" dirty="0">
                    <a:solidFill>
                      <a:schemeClr val="tx2"/>
                    </a:solidFill>
                  </a:rPr>
                  <a:t>CoorWorks Enterprise (AWS)</a:t>
                </a:r>
              </a:p>
            </p:txBody>
          </p:sp>
          <p:sp>
            <p:nvSpPr>
              <p:cNvPr id="15" name="Rectangle: Rounded Corners 14">
                <a:extLst>
                  <a:ext uri="{FF2B5EF4-FFF2-40B4-BE49-F238E27FC236}">
                    <a16:creationId xmlns:a16="http://schemas.microsoft.com/office/drawing/2014/main" id="{A1113A06-C1CF-596A-686B-098D790D5074}"/>
                  </a:ext>
                </a:extLst>
              </p:cNvPr>
              <p:cNvSpPr/>
              <p:nvPr/>
            </p:nvSpPr>
            <p:spPr>
              <a:xfrm>
                <a:off x="5315845" y="4095680"/>
                <a:ext cx="617475" cy="562611"/>
              </a:xfrm>
              <a:prstGeom prst="roundRect">
                <a:avLst>
                  <a:gd name="adj" fmla="val 3334"/>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FW</a:t>
                </a:r>
              </a:p>
            </p:txBody>
          </p:sp>
          <p:sp>
            <p:nvSpPr>
              <p:cNvPr id="16" name="TextBox 15">
                <a:extLst>
                  <a:ext uri="{FF2B5EF4-FFF2-40B4-BE49-F238E27FC236}">
                    <a16:creationId xmlns:a16="http://schemas.microsoft.com/office/drawing/2014/main" id="{130CE925-1D66-7375-D39C-05C96F8EE9E9}"/>
                  </a:ext>
                </a:extLst>
              </p:cNvPr>
              <p:cNvSpPr txBox="1"/>
              <p:nvPr/>
            </p:nvSpPr>
            <p:spPr>
              <a:xfrm>
                <a:off x="940401" y="3867202"/>
                <a:ext cx="2211848" cy="830997"/>
              </a:xfrm>
              <a:prstGeom prst="rect">
                <a:avLst/>
              </a:prstGeom>
              <a:noFill/>
            </p:spPr>
            <p:txBody>
              <a:bodyPr wrap="square" rtlCol="0">
                <a:spAutoFit/>
              </a:bodyPr>
              <a:lstStyle/>
              <a:p>
                <a:r>
                  <a:rPr lang="en-US" sz="1400" b="1" dirty="0"/>
                  <a:t>No Changes in Operations</a:t>
                </a:r>
              </a:p>
              <a:p>
                <a:pPr marL="111125" indent="-111125">
                  <a:buFont typeface="Arial" panose="020B0604020202020204" pitchFamily="34" charset="0"/>
                  <a:buChar char="•"/>
                </a:pPr>
                <a:r>
                  <a:rPr lang="en-US" sz="1400" dirty="0"/>
                  <a:t>Lock System Administration</a:t>
                </a:r>
              </a:p>
              <a:p>
                <a:pPr marL="111125" indent="-111125">
                  <a:buFont typeface="Arial" panose="020B0604020202020204" pitchFamily="34" charset="0"/>
                  <a:buChar char="•"/>
                </a:pPr>
                <a:r>
                  <a:rPr lang="en-US" sz="1400" dirty="0"/>
                  <a:t>Manual Dispatching</a:t>
                </a:r>
              </a:p>
              <a:p>
                <a:pPr marL="111125" indent="-111125">
                  <a:buFont typeface="Arial" panose="020B0604020202020204" pitchFamily="34" charset="0"/>
                  <a:buChar char="•"/>
                </a:pPr>
                <a:r>
                  <a:rPr lang="en-US" sz="1400" dirty="0"/>
                  <a:t>Key Management</a:t>
                </a:r>
              </a:p>
            </p:txBody>
          </p:sp>
          <p:sp>
            <p:nvSpPr>
              <p:cNvPr id="17" name="TextBox 16">
                <a:extLst>
                  <a:ext uri="{FF2B5EF4-FFF2-40B4-BE49-F238E27FC236}">
                    <a16:creationId xmlns:a16="http://schemas.microsoft.com/office/drawing/2014/main" id="{827E4A1C-29DA-854C-5490-4A773A38A583}"/>
                  </a:ext>
                </a:extLst>
              </p:cNvPr>
              <p:cNvSpPr txBox="1"/>
              <p:nvPr/>
            </p:nvSpPr>
            <p:spPr>
              <a:xfrm>
                <a:off x="8248628" y="2526858"/>
                <a:ext cx="1847241" cy="1015663"/>
              </a:xfrm>
              <a:prstGeom prst="rect">
                <a:avLst/>
              </a:prstGeom>
              <a:noFill/>
            </p:spPr>
            <p:txBody>
              <a:bodyPr wrap="square" rtlCol="0">
                <a:spAutoFit/>
              </a:bodyPr>
              <a:lstStyle/>
              <a:p>
                <a:pPr marL="111125" indent="-111125">
                  <a:buFont typeface="Arial" panose="020B0604020202020204" pitchFamily="34" charset="0"/>
                  <a:buChar char="•"/>
                </a:pPr>
                <a:r>
                  <a:rPr lang="en-US" sz="1400" dirty="0"/>
                  <a:t>Redundant Secondary Architecture</a:t>
                </a:r>
              </a:p>
              <a:p>
                <a:pPr marL="111125" indent="-111125">
                  <a:buFont typeface="Arial" panose="020B0604020202020204" pitchFamily="34" charset="0"/>
                  <a:buChar char="•"/>
                </a:pPr>
                <a:r>
                  <a:rPr lang="en-US" sz="1400" dirty="0"/>
                  <a:t>Redundant Keybox Authentication</a:t>
                </a:r>
              </a:p>
              <a:p>
                <a:pPr marL="111125" indent="-111125">
                  <a:buFont typeface="Arial" panose="020B0604020202020204" pitchFamily="34" charset="0"/>
                  <a:buChar char="•"/>
                </a:pPr>
                <a:endParaRPr lang="en-US" sz="1400" dirty="0"/>
              </a:p>
            </p:txBody>
          </p:sp>
          <p:sp>
            <p:nvSpPr>
              <p:cNvPr id="18" name="Rectangle: Rounded Corners 17">
                <a:extLst>
                  <a:ext uri="{FF2B5EF4-FFF2-40B4-BE49-F238E27FC236}">
                    <a16:creationId xmlns:a16="http://schemas.microsoft.com/office/drawing/2014/main" id="{69D18399-8DDF-00B5-D5B2-AF693E4D66E7}"/>
                  </a:ext>
                </a:extLst>
              </p:cNvPr>
              <p:cNvSpPr/>
              <p:nvPr/>
            </p:nvSpPr>
            <p:spPr>
              <a:xfrm>
                <a:off x="775827" y="1876451"/>
                <a:ext cx="3188329" cy="3187030"/>
              </a:xfrm>
              <a:prstGeom prst="roundRect">
                <a:avLst>
                  <a:gd name="adj" fmla="val 2067"/>
                </a:avLst>
              </a:prstGeom>
              <a:noFill/>
              <a:ln>
                <a:solidFill>
                  <a:schemeClr val="tx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1400" b="1" dirty="0">
                    <a:solidFill>
                      <a:schemeClr val="tx2"/>
                    </a:solidFill>
                  </a:rPr>
                  <a:t>Internal Ops</a:t>
                </a:r>
              </a:p>
            </p:txBody>
          </p:sp>
          <p:pic>
            <p:nvPicPr>
              <p:cNvPr id="19" name="Picture 18">
                <a:extLst>
                  <a:ext uri="{FF2B5EF4-FFF2-40B4-BE49-F238E27FC236}">
                    <a16:creationId xmlns:a16="http://schemas.microsoft.com/office/drawing/2014/main" id="{E2DC137D-6EDF-147B-09AB-9317FCBAE9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079" y="2339221"/>
                <a:ext cx="964589" cy="1228738"/>
              </a:xfrm>
              <a:prstGeom prst="rect">
                <a:avLst/>
              </a:prstGeom>
            </p:spPr>
          </p:pic>
          <p:sp>
            <p:nvSpPr>
              <p:cNvPr id="20" name="TextBox 19">
                <a:extLst>
                  <a:ext uri="{FF2B5EF4-FFF2-40B4-BE49-F238E27FC236}">
                    <a16:creationId xmlns:a16="http://schemas.microsoft.com/office/drawing/2014/main" id="{098467C0-76DC-770C-BC3C-445BC126D797}"/>
                  </a:ext>
                </a:extLst>
              </p:cNvPr>
              <p:cNvSpPr txBox="1"/>
              <p:nvPr/>
            </p:nvSpPr>
            <p:spPr>
              <a:xfrm>
                <a:off x="6023701" y="931660"/>
                <a:ext cx="2514278" cy="1015663"/>
              </a:xfrm>
              <a:prstGeom prst="rect">
                <a:avLst/>
              </a:prstGeom>
              <a:noFill/>
            </p:spPr>
            <p:txBody>
              <a:bodyPr wrap="none" rtlCol="0">
                <a:spAutoFit/>
              </a:bodyPr>
              <a:lstStyle/>
              <a:p>
                <a:r>
                  <a:rPr lang="en-US" sz="1400" b="1" dirty="0"/>
                  <a:t>CoorWorks Support</a:t>
                </a:r>
              </a:p>
              <a:p>
                <a:pPr marL="285750" indent="-285750">
                  <a:buFont typeface="Arial" panose="020B0604020202020204" pitchFamily="34" charset="0"/>
                  <a:buChar char="•"/>
                </a:pPr>
                <a:r>
                  <a:rPr lang="en-US" sz="1400" dirty="0"/>
                  <a:t>Automated Monitoring/Alerting</a:t>
                </a:r>
              </a:p>
              <a:p>
                <a:pPr marL="285750" indent="-285750">
                  <a:buFont typeface="Arial" panose="020B0604020202020204" pitchFamily="34" charset="0"/>
                  <a:buChar char="•"/>
                </a:pPr>
                <a:r>
                  <a:rPr lang="en-US" sz="1400" dirty="0"/>
                  <a:t>Solution Configuration</a:t>
                </a:r>
              </a:p>
              <a:p>
                <a:pPr marL="285750" indent="-285750">
                  <a:buFont typeface="Arial" panose="020B0604020202020204" pitchFamily="34" charset="0"/>
                  <a:buChar char="•"/>
                </a:pPr>
                <a:r>
                  <a:rPr lang="en-US" sz="1400" dirty="0"/>
                  <a:t>Lock System Expertise</a:t>
                </a:r>
              </a:p>
              <a:p>
                <a:pPr marL="285750" indent="-285750">
                  <a:buFont typeface="Arial" panose="020B0604020202020204" pitchFamily="34" charset="0"/>
                  <a:buChar char="•"/>
                </a:pPr>
                <a:r>
                  <a:rPr lang="en-US" sz="1400" dirty="0"/>
                  <a:t>Last Tier Functional Support</a:t>
                </a:r>
              </a:p>
            </p:txBody>
          </p:sp>
          <p:grpSp>
            <p:nvGrpSpPr>
              <p:cNvPr id="21" name="Group 20">
                <a:extLst>
                  <a:ext uri="{FF2B5EF4-FFF2-40B4-BE49-F238E27FC236}">
                    <a16:creationId xmlns:a16="http://schemas.microsoft.com/office/drawing/2014/main" id="{20BC2330-E1BA-F25A-6C7A-93BEFF59B5D0}"/>
                  </a:ext>
                </a:extLst>
              </p:cNvPr>
              <p:cNvGrpSpPr/>
              <p:nvPr/>
            </p:nvGrpSpPr>
            <p:grpSpPr>
              <a:xfrm>
                <a:off x="4517607" y="1220010"/>
                <a:ext cx="798238" cy="727313"/>
                <a:chOff x="4477816" y="1092998"/>
                <a:chExt cx="798238" cy="727313"/>
              </a:xfrm>
            </p:grpSpPr>
            <p:sp>
              <p:nvSpPr>
                <p:cNvPr id="27" name="Rectangle: Rounded Corners 26">
                  <a:extLst>
                    <a:ext uri="{FF2B5EF4-FFF2-40B4-BE49-F238E27FC236}">
                      <a16:creationId xmlns:a16="http://schemas.microsoft.com/office/drawing/2014/main" id="{0815D2D9-D4F9-9947-0550-B41A26F9ECCA}"/>
                    </a:ext>
                  </a:extLst>
                </p:cNvPr>
                <p:cNvSpPr/>
                <p:nvPr/>
              </p:nvSpPr>
              <p:spPr>
                <a:xfrm>
                  <a:off x="4477816" y="1092998"/>
                  <a:ext cx="798238" cy="727313"/>
                </a:xfrm>
                <a:prstGeom prst="roundRect">
                  <a:avLst>
                    <a:gd name="adj" fmla="val 3334"/>
                  </a:avLst>
                </a:prstGeom>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lang="en-US" sz="1400" b="1" dirty="0">
                    <a:solidFill>
                      <a:schemeClr val="bg1"/>
                    </a:solidFill>
                  </a:endParaRPr>
                </a:p>
                <a:p>
                  <a:pPr algn="ctr"/>
                  <a:endParaRPr lang="en-US" sz="1400" b="1" dirty="0">
                    <a:solidFill>
                      <a:schemeClr val="bg1"/>
                    </a:solidFill>
                  </a:endParaRPr>
                </a:p>
                <a:p>
                  <a:pPr algn="ctr"/>
                  <a:r>
                    <a:rPr lang="en-US" sz="1400" b="1" dirty="0">
                      <a:solidFill>
                        <a:schemeClr val="bg1"/>
                      </a:solidFill>
                    </a:rPr>
                    <a:t>Monitors</a:t>
                  </a:r>
                  <a:endParaRPr lang="en-US" sz="1200" b="1" dirty="0">
                    <a:solidFill>
                      <a:schemeClr val="bg1"/>
                    </a:solidFill>
                  </a:endParaRPr>
                </a:p>
              </p:txBody>
            </p:sp>
            <p:pic>
              <p:nvPicPr>
                <p:cNvPr id="28" name="Picture 27">
                  <a:extLst>
                    <a:ext uri="{FF2B5EF4-FFF2-40B4-BE49-F238E27FC236}">
                      <a16:creationId xmlns:a16="http://schemas.microsoft.com/office/drawing/2014/main" id="{F81F8157-FA5C-0D8B-452B-680796F125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0945" y="1157395"/>
                  <a:ext cx="431981" cy="431981"/>
                </a:xfrm>
                <a:prstGeom prst="rect">
                  <a:avLst/>
                </a:prstGeom>
              </p:spPr>
            </p:pic>
          </p:grpSp>
          <p:sp>
            <p:nvSpPr>
              <p:cNvPr id="22" name="Rectangle: Rounded Corners 21">
                <a:extLst>
                  <a:ext uri="{FF2B5EF4-FFF2-40B4-BE49-F238E27FC236}">
                    <a16:creationId xmlns:a16="http://schemas.microsoft.com/office/drawing/2014/main" id="{BA8AB8C3-21C6-522D-321D-D2EDF12EE2F3}"/>
                  </a:ext>
                </a:extLst>
              </p:cNvPr>
              <p:cNvSpPr/>
              <p:nvPr/>
            </p:nvSpPr>
            <p:spPr>
              <a:xfrm>
                <a:off x="4138462" y="4419217"/>
                <a:ext cx="6060879" cy="2223895"/>
              </a:xfrm>
              <a:prstGeom prst="roundRect">
                <a:avLst>
                  <a:gd name="adj" fmla="val 2067"/>
                </a:avLst>
              </a:prstGeom>
              <a:no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sz="1400" b="1" dirty="0">
                    <a:solidFill>
                      <a:schemeClr val="tx2"/>
                    </a:solidFill>
                  </a:rPr>
                  <a:t>Redundant OTC Anywhere Services</a:t>
                </a:r>
              </a:p>
            </p:txBody>
          </p:sp>
          <p:grpSp>
            <p:nvGrpSpPr>
              <p:cNvPr id="23" name="Group 22">
                <a:extLst>
                  <a:ext uri="{FF2B5EF4-FFF2-40B4-BE49-F238E27FC236}">
                    <a16:creationId xmlns:a16="http://schemas.microsoft.com/office/drawing/2014/main" id="{3575F6DE-47B6-0795-2337-DF4A36C27A96}"/>
                  </a:ext>
                </a:extLst>
              </p:cNvPr>
              <p:cNvGrpSpPr/>
              <p:nvPr/>
            </p:nvGrpSpPr>
            <p:grpSpPr>
              <a:xfrm>
                <a:off x="4493229" y="4769651"/>
                <a:ext cx="3556714" cy="1523026"/>
                <a:chOff x="4517607" y="4840800"/>
                <a:chExt cx="4020372" cy="1721570"/>
              </a:xfrm>
            </p:grpSpPr>
            <p:sp>
              <p:nvSpPr>
                <p:cNvPr id="25" name="Rectangle: Rounded Corners 24">
                  <a:extLst>
                    <a:ext uri="{FF2B5EF4-FFF2-40B4-BE49-F238E27FC236}">
                      <a16:creationId xmlns:a16="http://schemas.microsoft.com/office/drawing/2014/main" id="{089C29AF-A015-7D32-FFB2-8814E1A3E1E9}"/>
                    </a:ext>
                  </a:extLst>
                </p:cNvPr>
                <p:cNvSpPr/>
                <p:nvPr/>
              </p:nvSpPr>
              <p:spPr>
                <a:xfrm>
                  <a:off x="6705708" y="4840800"/>
                  <a:ext cx="1832271" cy="1721570"/>
                </a:xfrm>
                <a:prstGeom prst="roundRect">
                  <a:avLst>
                    <a:gd name="adj" fmla="val 3165"/>
                  </a:avLst>
                </a:prstGeom>
                <a:solidFill>
                  <a:srgbClr val="00990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wrap="none" rtlCol="0" anchor="b"/>
                <a:lstStyle/>
                <a:p>
                  <a:pPr algn="ctr"/>
                  <a:r>
                    <a:rPr lang="en-US" sz="1400" b="1" dirty="0">
                      <a:solidFill>
                        <a:schemeClr val="tx1"/>
                      </a:solidFill>
                    </a:rPr>
                    <a:t>Secondary OTC</a:t>
                  </a:r>
                </a:p>
              </p:txBody>
            </p:sp>
            <p:sp>
              <p:nvSpPr>
                <p:cNvPr id="26" name="Rectangle: Rounded Corners 25">
                  <a:extLst>
                    <a:ext uri="{FF2B5EF4-FFF2-40B4-BE49-F238E27FC236}">
                      <a16:creationId xmlns:a16="http://schemas.microsoft.com/office/drawing/2014/main" id="{30E3E1AD-7217-F24D-574D-796FC5AD9941}"/>
                    </a:ext>
                  </a:extLst>
                </p:cNvPr>
                <p:cNvSpPr/>
                <p:nvPr/>
              </p:nvSpPr>
              <p:spPr>
                <a:xfrm>
                  <a:off x="4517607" y="4841332"/>
                  <a:ext cx="1832271" cy="1721036"/>
                </a:xfrm>
                <a:prstGeom prst="roundRect">
                  <a:avLst>
                    <a:gd name="adj" fmla="val 3165"/>
                  </a:avLst>
                </a:prstGeom>
                <a:solidFill>
                  <a:srgbClr val="009900"/>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tx1"/>
                      </a:solidFill>
                    </a:rPr>
                    <a:t>Primary OTC</a:t>
                  </a:r>
                </a:p>
              </p:txBody>
            </p:sp>
          </p:grpSp>
          <p:sp>
            <p:nvSpPr>
              <p:cNvPr id="24" name="Rectangle: Rounded Corners 23">
                <a:extLst>
                  <a:ext uri="{FF2B5EF4-FFF2-40B4-BE49-F238E27FC236}">
                    <a16:creationId xmlns:a16="http://schemas.microsoft.com/office/drawing/2014/main" id="{20C1E625-B26A-3F33-6C30-FCBCBED6EF77}"/>
                  </a:ext>
                </a:extLst>
              </p:cNvPr>
              <p:cNvSpPr/>
              <p:nvPr/>
            </p:nvSpPr>
            <p:spPr>
              <a:xfrm>
                <a:off x="3811357" y="2276678"/>
                <a:ext cx="617475" cy="562611"/>
              </a:xfrm>
              <a:prstGeom prst="roundRect">
                <a:avLst>
                  <a:gd name="adj" fmla="val 3334"/>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FW</a:t>
                </a:r>
              </a:p>
            </p:txBody>
          </p:sp>
        </p:grpSp>
        <p:pic>
          <p:nvPicPr>
            <p:cNvPr id="4" name="Picture 3">
              <a:extLst>
                <a:ext uri="{FF2B5EF4-FFF2-40B4-BE49-F238E27FC236}">
                  <a16:creationId xmlns:a16="http://schemas.microsoft.com/office/drawing/2014/main" id="{AC063E3B-9021-2DCA-14C6-9C076AC59D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47347" y="5077064"/>
              <a:ext cx="1726444" cy="959806"/>
            </a:xfrm>
            <a:prstGeom prst="rect">
              <a:avLst/>
            </a:prstGeom>
          </p:spPr>
        </p:pic>
        <p:pic>
          <p:nvPicPr>
            <p:cNvPr id="5" name="Picture 4">
              <a:extLst>
                <a:ext uri="{FF2B5EF4-FFF2-40B4-BE49-F238E27FC236}">
                  <a16:creationId xmlns:a16="http://schemas.microsoft.com/office/drawing/2014/main" id="{05BA41E2-8F58-4851-261D-878AA825EA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0965" y="5077064"/>
              <a:ext cx="1726444" cy="959806"/>
            </a:xfrm>
            <a:prstGeom prst="rect">
              <a:avLst/>
            </a:prstGeom>
          </p:spPr>
        </p:pic>
        <p:sp>
          <p:nvSpPr>
            <p:cNvPr id="6" name="TextBox 5">
              <a:extLst>
                <a:ext uri="{FF2B5EF4-FFF2-40B4-BE49-F238E27FC236}">
                  <a16:creationId xmlns:a16="http://schemas.microsoft.com/office/drawing/2014/main" id="{BFDDF8AA-9962-F9C5-1470-09E9123E57BB}"/>
                </a:ext>
              </a:extLst>
            </p:cNvPr>
            <p:cNvSpPr txBox="1"/>
            <p:nvPr/>
          </p:nvSpPr>
          <p:spPr>
            <a:xfrm>
              <a:off x="8350151" y="4850674"/>
              <a:ext cx="1847241" cy="646331"/>
            </a:xfrm>
            <a:prstGeom prst="rect">
              <a:avLst/>
            </a:prstGeom>
            <a:noFill/>
          </p:spPr>
          <p:txBody>
            <a:bodyPr wrap="square" rtlCol="0">
              <a:spAutoFit/>
            </a:bodyPr>
            <a:lstStyle/>
            <a:p>
              <a:pPr marL="111125" indent="-111125">
                <a:buFont typeface="Arial" panose="020B0604020202020204" pitchFamily="34" charset="0"/>
                <a:buChar char="•"/>
              </a:pPr>
              <a:r>
                <a:rPr lang="en-US" sz="1400" dirty="0"/>
                <a:t>Service Failover</a:t>
              </a:r>
            </a:p>
            <a:p>
              <a:pPr marL="111125" indent="-111125">
                <a:buFont typeface="Arial" panose="020B0604020202020204" pitchFamily="34" charset="0"/>
                <a:buChar char="•"/>
              </a:pPr>
              <a:r>
                <a:rPr lang="en-US" sz="1400" dirty="0"/>
                <a:t>Geographically Flexible</a:t>
              </a:r>
            </a:p>
            <a:p>
              <a:pPr marL="111125" indent="-111125">
                <a:buFont typeface="Arial" panose="020B0604020202020204" pitchFamily="34" charset="0"/>
                <a:buChar char="•"/>
              </a:pPr>
              <a:endParaRPr lang="en-US" sz="1400" dirty="0"/>
            </a:p>
          </p:txBody>
        </p:sp>
      </p:grpSp>
    </p:spTree>
    <p:extLst>
      <p:ext uri="{BB962C8B-B14F-4D97-AF65-F5344CB8AC3E}">
        <p14:creationId xmlns:p14="http://schemas.microsoft.com/office/powerpoint/2010/main" val="3153148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FAD161B1-FA7F-4AA3-2292-54845A3DF740}"/>
              </a:ext>
            </a:extLst>
          </p:cNvPr>
          <p:cNvSpPr/>
          <p:nvPr/>
        </p:nvSpPr>
        <p:spPr>
          <a:xfrm>
            <a:off x="0" y="-1781908"/>
            <a:ext cx="17209477" cy="9073662"/>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3EDA2B67-621D-4CB1-0838-41217488B41D}"/>
              </a:ext>
            </a:extLst>
          </p:cNvPr>
          <p:cNvGrpSpPr/>
          <p:nvPr/>
        </p:nvGrpSpPr>
        <p:grpSpPr>
          <a:xfrm>
            <a:off x="530401" y="-937846"/>
            <a:ext cx="15362599" cy="7758955"/>
            <a:chOff x="530401" y="844550"/>
            <a:chExt cx="11683510" cy="5900814"/>
          </a:xfrm>
        </p:grpSpPr>
        <p:sp>
          <p:nvSpPr>
            <p:cNvPr id="3" name="Rectangle: Rounded Corners 2">
              <a:extLst>
                <a:ext uri="{FF2B5EF4-FFF2-40B4-BE49-F238E27FC236}">
                  <a16:creationId xmlns:a16="http://schemas.microsoft.com/office/drawing/2014/main" id="{5D59B247-0ACD-A130-2152-C51754AD61BE}"/>
                </a:ext>
              </a:extLst>
            </p:cNvPr>
            <p:cNvSpPr/>
            <p:nvPr/>
          </p:nvSpPr>
          <p:spPr>
            <a:xfrm>
              <a:off x="5052283" y="1216660"/>
              <a:ext cx="2068067" cy="2037080"/>
            </a:xfrm>
            <a:prstGeom prst="roundRect">
              <a:avLst>
                <a:gd name="adj" fmla="val 3165"/>
              </a:avLst>
            </a:prstGeom>
            <a:solidFill>
              <a:srgbClr val="009900"/>
            </a:solidFill>
            <a:ln w="28575">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b="1" dirty="0">
                  <a:solidFill>
                    <a:schemeClr val="tx1"/>
                  </a:solidFill>
                </a:rPr>
                <a:t>Primary OTC Service</a:t>
              </a:r>
            </a:p>
          </p:txBody>
        </p:sp>
        <p:sp>
          <p:nvSpPr>
            <p:cNvPr id="4" name="Rectangle: Rounded Corners 3">
              <a:extLst>
                <a:ext uri="{FF2B5EF4-FFF2-40B4-BE49-F238E27FC236}">
                  <a16:creationId xmlns:a16="http://schemas.microsoft.com/office/drawing/2014/main" id="{DA980307-2CF1-7CEB-E504-8BFA82862C54}"/>
                </a:ext>
              </a:extLst>
            </p:cNvPr>
            <p:cNvSpPr/>
            <p:nvPr/>
          </p:nvSpPr>
          <p:spPr>
            <a:xfrm>
              <a:off x="5052283" y="3342640"/>
              <a:ext cx="2068067" cy="1943120"/>
            </a:xfrm>
            <a:prstGeom prst="roundRect">
              <a:avLst>
                <a:gd name="adj" fmla="val 3165"/>
              </a:avLst>
            </a:prstGeom>
            <a:solidFill>
              <a:srgbClr val="009900"/>
            </a:solidFill>
            <a:ln w="28575">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b="1" dirty="0">
                  <a:solidFill>
                    <a:schemeClr val="tx1"/>
                  </a:solidFill>
                </a:rPr>
                <a:t>Secondary OTC Service</a:t>
              </a:r>
            </a:p>
          </p:txBody>
        </p:sp>
        <p:sp>
          <p:nvSpPr>
            <p:cNvPr id="5" name="Rectangle: Rounded Corners 4">
              <a:extLst>
                <a:ext uri="{FF2B5EF4-FFF2-40B4-BE49-F238E27FC236}">
                  <a16:creationId xmlns:a16="http://schemas.microsoft.com/office/drawing/2014/main" id="{A238BC26-B014-F4F8-A435-AAB5511FA3F8}"/>
                </a:ext>
              </a:extLst>
            </p:cNvPr>
            <p:cNvSpPr/>
            <p:nvPr/>
          </p:nvSpPr>
          <p:spPr>
            <a:xfrm>
              <a:off x="7326223" y="1219200"/>
              <a:ext cx="1635760" cy="1717040"/>
            </a:xfrm>
            <a:prstGeom prst="roundRect">
              <a:avLst>
                <a:gd name="adj" fmla="val 3165"/>
              </a:avLst>
            </a:prstGeom>
            <a:solidFill>
              <a:srgbClr val="009900"/>
            </a:solidFill>
            <a:ln w="28575">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b="1" dirty="0">
                  <a:solidFill>
                    <a:schemeClr val="tx1"/>
                  </a:solidFill>
                </a:rPr>
                <a:t>Enterprise Hosted</a:t>
              </a:r>
            </a:p>
          </p:txBody>
        </p:sp>
        <p:sp>
          <p:nvSpPr>
            <p:cNvPr id="6" name="TextBox 5">
              <a:extLst>
                <a:ext uri="{FF2B5EF4-FFF2-40B4-BE49-F238E27FC236}">
                  <a16:creationId xmlns:a16="http://schemas.microsoft.com/office/drawing/2014/main" id="{A902CE02-9B4E-4771-0FA1-ECEFE1C507C4}"/>
                </a:ext>
              </a:extLst>
            </p:cNvPr>
            <p:cNvSpPr txBox="1"/>
            <p:nvPr/>
          </p:nvSpPr>
          <p:spPr>
            <a:xfrm>
              <a:off x="530401" y="3067705"/>
              <a:ext cx="2806636" cy="2808830"/>
            </a:xfrm>
            <a:prstGeom prst="rect">
              <a:avLst/>
            </a:prstGeom>
            <a:noFill/>
          </p:spPr>
          <p:txBody>
            <a:bodyPr wrap="none" rtlCol="0">
              <a:spAutoFit/>
            </a:bodyPr>
            <a:lstStyle/>
            <a:p>
              <a:r>
                <a:rPr lang="en-US" b="1" dirty="0"/>
                <a:t>User Permission Controls</a:t>
              </a:r>
            </a:p>
            <a:p>
              <a:pPr marL="285750" indent="-285750">
                <a:buFont typeface="Arial" panose="020B0604020202020204" pitchFamily="34" charset="0"/>
                <a:buChar char="•"/>
              </a:pPr>
              <a:r>
                <a:rPr lang="en-US" dirty="0"/>
                <a:t>Lock System (Kaba/S&amp;G/IG)</a:t>
              </a:r>
            </a:p>
            <a:p>
              <a:pPr marL="285750" indent="-285750">
                <a:buFont typeface="Arial" panose="020B0604020202020204" pitchFamily="34" charset="0"/>
                <a:buChar char="•"/>
              </a:pPr>
              <a:r>
                <a:rPr lang="en-US" dirty="0"/>
                <a:t>Lock Operating Mode (RTE/FLM)</a:t>
              </a:r>
            </a:p>
            <a:p>
              <a:pPr marL="285750" indent="-285750">
                <a:buFont typeface="Arial" panose="020B0604020202020204" pitchFamily="34" charset="0"/>
                <a:buChar char="•"/>
              </a:pPr>
              <a:r>
                <a:rPr lang="en-US" dirty="0"/>
                <a:t>Lock Region Access Control</a:t>
              </a:r>
            </a:p>
            <a:p>
              <a:pPr marL="285750" indent="-285750">
                <a:buFont typeface="Arial" panose="020B0604020202020204" pitchFamily="34" charset="0"/>
                <a:buChar char="•"/>
              </a:pPr>
              <a:r>
                <a:rPr lang="en-US" dirty="0"/>
                <a:t>Individual Lock Access Control</a:t>
              </a:r>
            </a:p>
            <a:p>
              <a:pPr marL="285750" indent="-285750">
                <a:buFont typeface="Arial" panose="020B0604020202020204" pitchFamily="34" charset="0"/>
                <a:buChar char="•"/>
              </a:pPr>
              <a:r>
                <a:rPr lang="en-US" dirty="0"/>
                <a:t>Time-of-Day Access Controls</a:t>
              </a:r>
            </a:p>
            <a:p>
              <a:pPr marL="285750" indent="-285750">
                <a:buFont typeface="Arial" panose="020B0604020202020204" pitchFamily="34" charset="0"/>
                <a:buChar char="•"/>
              </a:pPr>
              <a:r>
                <a:rPr lang="en-US" dirty="0"/>
                <a:t>Permitted Lock Functions</a:t>
              </a:r>
            </a:p>
            <a:p>
              <a:pPr marL="285750" indent="-285750">
                <a:buFont typeface="Arial" panose="020B0604020202020204" pitchFamily="34" charset="0"/>
                <a:buChar char="•"/>
              </a:pPr>
              <a:r>
                <a:rPr lang="en-US" dirty="0"/>
                <a:t>Geofence Open Enforcement</a:t>
              </a:r>
            </a:p>
            <a:p>
              <a:pPr marL="285750" indent="-285750">
                <a:buFont typeface="Arial" panose="020B0604020202020204" pitchFamily="34" charset="0"/>
                <a:buChar char="•"/>
              </a:pPr>
              <a:r>
                <a:rPr lang="en-US" dirty="0"/>
                <a:t>Geofence Close Enforcement</a:t>
              </a:r>
            </a:p>
            <a:p>
              <a:pPr marL="285750" indent="-285750">
                <a:buFont typeface="Arial" panose="020B0604020202020204" pitchFamily="34" charset="0"/>
                <a:buChar char="•"/>
              </a:pPr>
              <a:r>
                <a:rPr lang="en-US" dirty="0"/>
                <a:t>Open Thresholds/Auto-Lockouts</a:t>
              </a:r>
            </a:p>
            <a:p>
              <a:pPr marL="285750" indent="-285750">
                <a:buFont typeface="Arial" panose="020B0604020202020204" pitchFamily="34" charset="0"/>
                <a:buChar char="•"/>
              </a:pPr>
              <a:r>
                <a:rPr lang="en-US" dirty="0"/>
                <a:t>Login Methods (Phone, ID, Key)</a:t>
              </a:r>
            </a:p>
            <a:p>
              <a:pPr marL="285750" indent="-285750">
                <a:buFont typeface="Arial" panose="020B0604020202020204" pitchFamily="34" charset="0"/>
                <a:buChar char="•"/>
              </a:pPr>
              <a:r>
                <a:rPr lang="en-US" dirty="0"/>
                <a:t>Service Ticket Authorizations</a:t>
              </a:r>
            </a:p>
            <a:p>
              <a:pPr marL="285750" indent="-285750">
                <a:buFont typeface="Arial" panose="020B0604020202020204" pitchFamily="34" charset="0"/>
                <a:buChar char="•"/>
              </a:pPr>
              <a:r>
                <a:rPr lang="en-US" dirty="0"/>
                <a:t>App/Device Authorization</a:t>
              </a:r>
            </a:p>
          </p:txBody>
        </p:sp>
        <p:sp>
          <p:nvSpPr>
            <p:cNvPr id="7" name="Rectangle: Rounded Corners 6">
              <a:extLst>
                <a:ext uri="{FF2B5EF4-FFF2-40B4-BE49-F238E27FC236}">
                  <a16:creationId xmlns:a16="http://schemas.microsoft.com/office/drawing/2014/main" id="{72F32958-B0F5-9E0A-27A6-173E4FA93C28}"/>
                </a:ext>
              </a:extLst>
            </p:cNvPr>
            <p:cNvSpPr/>
            <p:nvPr/>
          </p:nvSpPr>
          <p:spPr>
            <a:xfrm>
              <a:off x="7454401" y="1351280"/>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sz="2000" dirty="0"/>
                <a:t>Lock System DB</a:t>
              </a:r>
            </a:p>
          </p:txBody>
        </p:sp>
        <p:sp>
          <p:nvSpPr>
            <p:cNvPr id="8" name="Rectangle: Rounded Corners 7">
              <a:extLst>
                <a:ext uri="{FF2B5EF4-FFF2-40B4-BE49-F238E27FC236}">
                  <a16:creationId xmlns:a16="http://schemas.microsoft.com/office/drawing/2014/main" id="{A08756B2-0473-980B-C065-48D7208ED3EC}"/>
                </a:ext>
              </a:extLst>
            </p:cNvPr>
            <p:cNvSpPr/>
            <p:nvPr/>
          </p:nvSpPr>
          <p:spPr>
            <a:xfrm>
              <a:off x="8190226" y="4356531"/>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Lock System</a:t>
              </a:r>
            </a:p>
          </p:txBody>
        </p:sp>
        <p:sp>
          <p:nvSpPr>
            <p:cNvPr id="9" name="Rectangle: Rounded Corners 8">
              <a:extLst>
                <a:ext uri="{FF2B5EF4-FFF2-40B4-BE49-F238E27FC236}">
                  <a16:creationId xmlns:a16="http://schemas.microsoft.com/office/drawing/2014/main" id="{C21042C1-53EF-1295-D7B5-E94F3D19B3AF}"/>
                </a:ext>
              </a:extLst>
            </p:cNvPr>
            <p:cNvSpPr/>
            <p:nvPr/>
          </p:nvSpPr>
          <p:spPr>
            <a:xfrm>
              <a:off x="3704760" y="3636030"/>
              <a:ext cx="1097280" cy="474940"/>
            </a:xfrm>
            <a:prstGeom prst="roundRect">
              <a:avLst>
                <a:gd name="adj" fmla="val 59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Web</a:t>
              </a:r>
            </a:p>
          </p:txBody>
        </p:sp>
        <p:sp>
          <p:nvSpPr>
            <p:cNvPr id="10" name="Rectangle: Rounded Corners 9">
              <a:extLst>
                <a:ext uri="{FF2B5EF4-FFF2-40B4-BE49-F238E27FC236}">
                  <a16:creationId xmlns:a16="http://schemas.microsoft.com/office/drawing/2014/main" id="{1E894146-33F3-0030-BB21-E70BED390810}"/>
                </a:ext>
              </a:extLst>
            </p:cNvPr>
            <p:cNvSpPr/>
            <p:nvPr/>
          </p:nvSpPr>
          <p:spPr>
            <a:xfrm>
              <a:off x="3704760" y="4226580"/>
              <a:ext cx="1097280" cy="474940"/>
            </a:xfrm>
            <a:prstGeom prst="roundRect">
              <a:avLst>
                <a:gd name="adj" fmla="val 59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IVR</a:t>
              </a:r>
            </a:p>
          </p:txBody>
        </p:sp>
        <p:sp>
          <p:nvSpPr>
            <p:cNvPr id="11" name="Rectangle: Rounded Corners 10">
              <a:extLst>
                <a:ext uri="{FF2B5EF4-FFF2-40B4-BE49-F238E27FC236}">
                  <a16:creationId xmlns:a16="http://schemas.microsoft.com/office/drawing/2014/main" id="{C9844192-A803-A9B3-BDCF-60794753628A}"/>
                </a:ext>
              </a:extLst>
            </p:cNvPr>
            <p:cNvSpPr/>
            <p:nvPr/>
          </p:nvSpPr>
          <p:spPr>
            <a:xfrm>
              <a:off x="7326223" y="4260840"/>
              <a:ext cx="2328996" cy="1028720"/>
            </a:xfrm>
            <a:prstGeom prst="roundRect">
              <a:avLst>
                <a:gd name="adj" fmla="val 3165"/>
              </a:avLst>
            </a:prstGeom>
            <a:no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b="1" dirty="0">
                  <a:solidFill>
                    <a:srgbClr val="02092F"/>
                  </a:solidFill>
                </a:rPr>
                <a:t>On-Premise</a:t>
              </a:r>
            </a:p>
          </p:txBody>
        </p:sp>
        <p:sp>
          <p:nvSpPr>
            <p:cNvPr id="12" name="Rectangle: Rounded Corners 11">
              <a:extLst>
                <a:ext uri="{FF2B5EF4-FFF2-40B4-BE49-F238E27FC236}">
                  <a16:creationId xmlns:a16="http://schemas.microsoft.com/office/drawing/2014/main" id="{02199E88-AECC-8BFC-25C7-74175695931D}"/>
                </a:ext>
              </a:extLst>
            </p:cNvPr>
            <p:cNvSpPr/>
            <p:nvPr/>
          </p:nvSpPr>
          <p:spPr>
            <a:xfrm>
              <a:off x="7454401" y="2028190"/>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Keybox</a:t>
              </a:r>
            </a:p>
          </p:txBody>
        </p:sp>
        <p:sp>
          <p:nvSpPr>
            <p:cNvPr id="13" name="Rectangle: Rounded Corners 12">
              <a:extLst>
                <a:ext uri="{FF2B5EF4-FFF2-40B4-BE49-F238E27FC236}">
                  <a16:creationId xmlns:a16="http://schemas.microsoft.com/office/drawing/2014/main" id="{F73124AD-A95C-F9D6-F89E-327367F649A6}"/>
                </a:ext>
              </a:extLst>
            </p:cNvPr>
            <p:cNvSpPr/>
            <p:nvPr/>
          </p:nvSpPr>
          <p:spPr>
            <a:xfrm>
              <a:off x="7458303" y="3179115"/>
              <a:ext cx="1371600" cy="562610"/>
            </a:xfrm>
            <a:prstGeom prst="roundRect">
              <a:avLst>
                <a:gd name="adj" fmla="val 53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Lock System</a:t>
              </a:r>
            </a:p>
          </p:txBody>
        </p:sp>
        <p:sp>
          <p:nvSpPr>
            <p:cNvPr id="14" name="Rectangle: Rounded Corners 13">
              <a:extLst>
                <a:ext uri="{FF2B5EF4-FFF2-40B4-BE49-F238E27FC236}">
                  <a16:creationId xmlns:a16="http://schemas.microsoft.com/office/drawing/2014/main" id="{011ACA73-7FC0-13E3-3F5B-D2C3449B6D31}"/>
                </a:ext>
              </a:extLst>
            </p:cNvPr>
            <p:cNvSpPr/>
            <p:nvPr/>
          </p:nvSpPr>
          <p:spPr>
            <a:xfrm>
              <a:off x="7326223" y="3082595"/>
              <a:ext cx="1635760" cy="1028720"/>
            </a:xfrm>
            <a:prstGeom prst="roundRect">
              <a:avLst>
                <a:gd name="adj" fmla="val 3165"/>
              </a:avLst>
            </a:prstGeom>
            <a:no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b="1" dirty="0">
                  <a:solidFill>
                    <a:schemeClr val="tx1"/>
                  </a:solidFill>
                </a:rPr>
                <a:t>3</a:t>
              </a:r>
              <a:r>
                <a:rPr lang="en-US" b="1" baseline="30000" dirty="0">
                  <a:solidFill>
                    <a:schemeClr val="tx1"/>
                  </a:solidFill>
                </a:rPr>
                <a:t>rd</a:t>
              </a:r>
              <a:r>
                <a:rPr lang="en-US" b="1" dirty="0">
                  <a:solidFill>
                    <a:schemeClr val="tx1"/>
                  </a:solidFill>
                </a:rPr>
                <a:t> Party</a:t>
              </a:r>
            </a:p>
          </p:txBody>
        </p:sp>
        <p:sp>
          <p:nvSpPr>
            <p:cNvPr id="15" name="TextBox 14">
              <a:extLst>
                <a:ext uri="{FF2B5EF4-FFF2-40B4-BE49-F238E27FC236}">
                  <a16:creationId xmlns:a16="http://schemas.microsoft.com/office/drawing/2014/main" id="{8578EDAF-6A7B-0C35-A6E3-FAAF10774B7C}"/>
                </a:ext>
              </a:extLst>
            </p:cNvPr>
            <p:cNvSpPr txBox="1"/>
            <p:nvPr/>
          </p:nvSpPr>
          <p:spPr>
            <a:xfrm>
              <a:off x="9090161" y="1315064"/>
              <a:ext cx="3123750" cy="1123532"/>
            </a:xfrm>
            <a:prstGeom prst="rect">
              <a:avLst/>
            </a:prstGeom>
            <a:noFill/>
          </p:spPr>
          <p:txBody>
            <a:bodyPr wrap="none" rtlCol="0">
              <a:spAutoFit/>
            </a:bodyPr>
            <a:lstStyle/>
            <a:p>
              <a:pPr marL="111125" indent="-111125">
                <a:buFont typeface="Arial" panose="020B0604020202020204" pitchFamily="34" charset="0"/>
                <a:buChar char="•"/>
              </a:pPr>
              <a:r>
                <a:rPr lang="en-US" dirty="0"/>
                <a:t>Dedicated / Fully Isolated AWS Host(s)</a:t>
              </a:r>
            </a:p>
            <a:p>
              <a:pPr marL="111125" indent="-111125">
                <a:buFont typeface="Arial" panose="020B0604020202020204" pitchFamily="34" charset="0"/>
                <a:buChar char="•"/>
              </a:pPr>
              <a:r>
                <a:rPr lang="en-US" dirty="0"/>
                <a:t>Redundant Accessibility</a:t>
              </a:r>
            </a:p>
            <a:p>
              <a:pPr marL="111125" indent="-111125">
                <a:buFont typeface="Arial" panose="020B0604020202020204" pitchFamily="34" charset="0"/>
                <a:buChar char="•"/>
              </a:pPr>
              <a:r>
                <a:rPr lang="en-US" dirty="0"/>
                <a:t>5-Min Differential Backup</a:t>
              </a:r>
            </a:p>
            <a:p>
              <a:pPr marL="111125" indent="-111125">
                <a:buFont typeface="Arial" panose="020B0604020202020204" pitchFamily="34" charset="0"/>
                <a:buChar char="•"/>
              </a:pPr>
              <a:r>
                <a:rPr lang="en-US" dirty="0"/>
                <a:t>Nightly Full Backups</a:t>
              </a:r>
            </a:p>
            <a:p>
              <a:pPr marL="111125" indent="-111125">
                <a:buFont typeface="Arial" panose="020B0604020202020204" pitchFamily="34" charset="0"/>
                <a:buChar char="•"/>
              </a:pPr>
              <a:r>
                <a:rPr lang="en-US" dirty="0"/>
                <a:t>Offsite DR Backups</a:t>
              </a:r>
            </a:p>
          </p:txBody>
        </p:sp>
        <p:sp>
          <p:nvSpPr>
            <p:cNvPr id="16" name="TextBox 15">
              <a:extLst>
                <a:ext uri="{FF2B5EF4-FFF2-40B4-BE49-F238E27FC236}">
                  <a16:creationId xmlns:a16="http://schemas.microsoft.com/office/drawing/2014/main" id="{21233C78-A39A-05FD-9B98-870B5B962CC8}"/>
                </a:ext>
              </a:extLst>
            </p:cNvPr>
            <p:cNvSpPr txBox="1"/>
            <p:nvPr/>
          </p:nvSpPr>
          <p:spPr>
            <a:xfrm>
              <a:off x="3870645" y="844550"/>
              <a:ext cx="820705" cy="257476"/>
            </a:xfrm>
            <a:prstGeom prst="rect">
              <a:avLst/>
            </a:prstGeom>
            <a:noFill/>
          </p:spPr>
          <p:txBody>
            <a:bodyPr wrap="none" rtlCol="0">
              <a:spAutoFit/>
            </a:bodyPr>
            <a:lstStyle/>
            <a:p>
              <a:r>
                <a:rPr lang="en-US" sz="1600" b="1" dirty="0"/>
                <a:t>Channels</a:t>
              </a:r>
            </a:p>
          </p:txBody>
        </p:sp>
        <p:sp>
          <p:nvSpPr>
            <p:cNvPr id="17" name="TextBox 16">
              <a:extLst>
                <a:ext uri="{FF2B5EF4-FFF2-40B4-BE49-F238E27FC236}">
                  <a16:creationId xmlns:a16="http://schemas.microsoft.com/office/drawing/2014/main" id="{A5A9E6CC-AB68-250A-0B89-6F03507A666D}"/>
                </a:ext>
              </a:extLst>
            </p:cNvPr>
            <p:cNvSpPr txBox="1"/>
            <p:nvPr/>
          </p:nvSpPr>
          <p:spPr>
            <a:xfrm>
              <a:off x="7627079" y="875030"/>
              <a:ext cx="1120411" cy="257476"/>
            </a:xfrm>
            <a:prstGeom prst="rect">
              <a:avLst/>
            </a:prstGeom>
            <a:noFill/>
          </p:spPr>
          <p:txBody>
            <a:bodyPr wrap="none" rtlCol="0">
              <a:spAutoFit/>
            </a:bodyPr>
            <a:lstStyle/>
            <a:p>
              <a:r>
                <a:rPr lang="en-US" sz="1600" b="1" dirty="0"/>
                <a:t>Lock Systems</a:t>
              </a:r>
            </a:p>
          </p:txBody>
        </p:sp>
        <p:sp>
          <p:nvSpPr>
            <p:cNvPr id="18" name="Rectangle: Rounded Corners 17">
              <a:extLst>
                <a:ext uri="{FF2B5EF4-FFF2-40B4-BE49-F238E27FC236}">
                  <a16:creationId xmlns:a16="http://schemas.microsoft.com/office/drawing/2014/main" id="{3A46552E-AFA0-96F0-5240-2C2DC53FCB4A}"/>
                </a:ext>
              </a:extLst>
            </p:cNvPr>
            <p:cNvSpPr/>
            <p:nvPr/>
          </p:nvSpPr>
          <p:spPr>
            <a:xfrm>
              <a:off x="7454401" y="4356530"/>
              <a:ext cx="617475" cy="562611"/>
            </a:xfrm>
            <a:prstGeom prst="roundRect">
              <a:avLst>
                <a:gd name="adj" fmla="val 333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Link</a:t>
              </a:r>
            </a:p>
          </p:txBody>
        </p:sp>
        <p:sp>
          <p:nvSpPr>
            <p:cNvPr id="19" name="Left Brace 18">
              <a:extLst>
                <a:ext uri="{FF2B5EF4-FFF2-40B4-BE49-F238E27FC236}">
                  <a16:creationId xmlns:a16="http://schemas.microsoft.com/office/drawing/2014/main" id="{0E1B6A64-5362-CB7E-E6A1-CA930AFAD21E}"/>
                </a:ext>
              </a:extLst>
            </p:cNvPr>
            <p:cNvSpPr/>
            <p:nvPr/>
          </p:nvSpPr>
          <p:spPr>
            <a:xfrm>
              <a:off x="3370862" y="1351280"/>
              <a:ext cx="168037" cy="3934480"/>
            </a:xfrm>
            <a:prstGeom prst="leftBrace">
              <a:avLst>
                <a:gd name="adj1" fmla="val 8333"/>
                <a:gd name="adj2" fmla="val 17205"/>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800"/>
            </a:p>
          </p:txBody>
        </p:sp>
        <p:sp>
          <p:nvSpPr>
            <p:cNvPr id="20" name="Rectangle: Rounded Corners 19">
              <a:extLst>
                <a:ext uri="{FF2B5EF4-FFF2-40B4-BE49-F238E27FC236}">
                  <a16:creationId xmlns:a16="http://schemas.microsoft.com/office/drawing/2014/main" id="{02BB752D-093C-BFBE-DD30-F275DB63F25F}"/>
                </a:ext>
              </a:extLst>
            </p:cNvPr>
            <p:cNvSpPr/>
            <p:nvPr/>
          </p:nvSpPr>
          <p:spPr>
            <a:xfrm>
              <a:off x="5059013" y="5426988"/>
              <a:ext cx="2054606" cy="4749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API Access</a:t>
              </a:r>
            </a:p>
          </p:txBody>
        </p:sp>
        <p:sp>
          <p:nvSpPr>
            <p:cNvPr id="21" name="Rectangle: Rounded Corners 20">
              <a:extLst>
                <a:ext uri="{FF2B5EF4-FFF2-40B4-BE49-F238E27FC236}">
                  <a16:creationId xmlns:a16="http://schemas.microsoft.com/office/drawing/2014/main" id="{761794DE-B515-7365-0AC2-05E6968BE92F}"/>
                </a:ext>
              </a:extLst>
            </p:cNvPr>
            <p:cNvSpPr/>
            <p:nvPr/>
          </p:nvSpPr>
          <p:spPr>
            <a:xfrm>
              <a:off x="3704760" y="4810820"/>
              <a:ext cx="1097280" cy="474940"/>
            </a:xfrm>
            <a:prstGeom prst="roundRect">
              <a:avLst>
                <a:gd name="adj" fmla="val 59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SMS</a:t>
              </a:r>
            </a:p>
          </p:txBody>
        </p:sp>
        <p:sp>
          <p:nvSpPr>
            <p:cNvPr id="22" name="TextBox 21">
              <a:extLst>
                <a:ext uri="{FF2B5EF4-FFF2-40B4-BE49-F238E27FC236}">
                  <a16:creationId xmlns:a16="http://schemas.microsoft.com/office/drawing/2014/main" id="{DFED1137-4575-E63C-D22F-8A39D1D84A53}"/>
                </a:ext>
              </a:extLst>
            </p:cNvPr>
            <p:cNvSpPr txBox="1"/>
            <p:nvPr/>
          </p:nvSpPr>
          <p:spPr>
            <a:xfrm>
              <a:off x="9026072" y="3290500"/>
              <a:ext cx="2975624" cy="491545"/>
            </a:xfrm>
            <a:prstGeom prst="rect">
              <a:avLst/>
            </a:prstGeom>
            <a:noFill/>
          </p:spPr>
          <p:txBody>
            <a:bodyPr wrap="square" rtlCol="0">
              <a:spAutoFit/>
            </a:bodyPr>
            <a:lstStyle/>
            <a:p>
              <a:pPr marL="111125" indent="-111125">
                <a:buFont typeface="Arial" panose="020B0604020202020204" pitchFamily="34" charset="0"/>
                <a:buChar char="•"/>
              </a:pPr>
              <a:r>
                <a:rPr lang="en-US" dirty="0"/>
                <a:t>Accessible Anywhere OTC is Deployed</a:t>
              </a:r>
            </a:p>
          </p:txBody>
        </p:sp>
        <p:sp>
          <p:nvSpPr>
            <p:cNvPr id="23" name="TextBox 22">
              <a:extLst>
                <a:ext uri="{FF2B5EF4-FFF2-40B4-BE49-F238E27FC236}">
                  <a16:creationId xmlns:a16="http://schemas.microsoft.com/office/drawing/2014/main" id="{2DF4F293-C075-E5DB-E446-B8063AC48BEE}"/>
                </a:ext>
              </a:extLst>
            </p:cNvPr>
            <p:cNvSpPr txBox="1"/>
            <p:nvPr/>
          </p:nvSpPr>
          <p:spPr>
            <a:xfrm>
              <a:off x="5021247" y="6043156"/>
              <a:ext cx="3050629" cy="702208"/>
            </a:xfrm>
            <a:prstGeom prst="rect">
              <a:avLst/>
            </a:prstGeom>
            <a:noFill/>
          </p:spPr>
          <p:txBody>
            <a:bodyPr wrap="square" rtlCol="0">
              <a:spAutoFit/>
            </a:bodyPr>
            <a:lstStyle/>
            <a:p>
              <a:pPr marL="111125" indent="-111125">
                <a:buFont typeface="Arial" panose="020B0604020202020204" pitchFamily="34" charset="0"/>
                <a:buChar char="•"/>
              </a:pPr>
              <a:r>
                <a:rPr lang="en-US" dirty="0"/>
                <a:t>Calls from Logistics/Service Platforms</a:t>
              </a:r>
            </a:p>
            <a:p>
              <a:pPr marL="111125" indent="-111125">
                <a:buFont typeface="Arial" panose="020B0604020202020204" pitchFamily="34" charset="0"/>
                <a:buChar char="•"/>
              </a:pPr>
              <a:r>
                <a:rPr lang="en-US" dirty="0"/>
                <a:t>Metered Usage</a:t>
              </a:r>
            </a:p>
          </p:txBody>
        </p:sp>
        <p:sp>
          <p:nvSpPr>
            <p:cNvPr id="24" name="TextBox 23">
              <a:extLst>
                <a:ext uri="{FF2B5EF4-FFF2-40B4-BE49-F238E27FC236}">
                  <a16:creationId xmlns:a16="http://schemas.microsoft.com/office/drawing/2014/main" id="{4DE80F0D-04A5-B659-E9F2-5BA5A63B9DDF}"/>
                </a:ext>
              </a:extLst>
            </p:cNvPr>
            <p:cNvSpPr txBox="1"/>
            <p:nvPr/>
          </p:nvSpPr>
          <p:spPr>
            <a:xfrm>
              <a:off x="9783398" y="4260840"/>
              <a:ext cx="2430513" cy="912870"/>
            </a:xfrm>
            <a:prstGeom prst="rect">
              <a:avLst/>
            </a:prstGeom>
            <a:noFill/>
          </p:spPr>
          <p:txBody>
            <a:bodyPr wrap="square" rtlCol="0">
              <a:spAutoFit/>
            </a:bodyPr>
            <a:lstStyle/>
            <a:p>
              <a:pPr marL="111125" indent="-111125">
                <a:buFont typeface="Arial" panose="020B0604020202020204" pitchFamily="34" charset="0"/>
                <a:buChar char="•"/>
              </a:pPr>
              <a:r>
                <a:rPr lang="en-US" dirty="0"/>
                <a:t>In-Network Appliance </a:t>
              </a:r>
            </a:p>
            <a:p>
              <a:pPr marL="111125" indent="-111125">
                <a:buFont typeface="Arial" panose="020B0604020202020204" pitchFamily="34" charset="0"/>
                <a:buChar char="•"/>
              </a:pPr>
              <a:r>
                <a:rPr lang="en-US" dirty="0"/>
                <a:t>Outbound Connectivity Only</a:t>
              </a:r>
            </a:p>
            <a:p>
              <a:pPr marL="111125" indent="-111125">
                <a:buFont typeface="Arial" panose="020B0604020202020204" pitchFamily="34" charset="0"/>
                <a:buChar char="•"/>
              </a:pPr>
              <a:r>
                <a:rPr lang="en-US" dirty="0"/>
                <a:t>Additional One-Time Purchase/Configuration</a:t>
              </a:r>
            </a:p>
          </p:txBody>
        </p:sp>
        <p:grpSp>
          <p:nvGrpSpPr>
            <p:cNvPr id="25" name="Group 24">
              <a:extLst>
                <a:ext uri="{FF2B5EF4-FFF2-40B4-BE49-F238E27FC236}">
                  <a16:creationId xmlns:a16="http://schemas.microsoft.com/office/drawing/2014/main" id="{587B8FDF-EE24-E635-A997-1F3577406AF3}"/>
                </a:ext>
              </a:extLst>
            </p:cNvPr>
            <p:cNvGrpSpPr/>
            <p:nvPr/>
          </p:nvGrpSpPr>
          <p:grpSpPr>
            <a:xfrm>
              <a:off x="788356" y="977721"/>
              <a:ext cx="1870700" cy="1887251"/>
              <a:chOff x="471443" y="973014"/>
              <a:chExt cx="1870700" cy="1887251"/>
            </a:xfrm>
          </p:grpSpPr>
          <p:pic>
            <p:nvPicPr>
              <p:cNvPr id="32" name="Picture 31">
                <a:extLst>
                  <a:ext uri="{FF2B5EF4-FFF2-40B4-BE49-F238E27FC236}">
                    <a16:creationId xmlns:a16="http://schemas.microsoft.com/office/drawing/2014/main" id="{4919FFEB-FCC6-CE8A-ADBB-740DC39E91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515" y="973014"/>
                <a:ext cx="1268777" cy="1773939"/>
              </a:xfrm>
              <a:prstGeom prst="rect">
                <a:avLst/>
              </a:prstGeom>
            </p:spPr>
          </p:pic>
          <p:sp>
            <p:nvSpPr>
              <p:cNvPr id="33" name="TextBox 32">
                <a:extLst>
                  <a:ext uri="{FF2B5EF4-FFF2-40B4-BE49-F238E27FC236}">
                    <a16:creationId xmlns:a16="http://schemas.microsoft.com/office/drawing/2014/main" id="{A2D52FE9-CF33-D6A4-1C39-F71080A9FCAD}"/>
                  </a:ext>
                </a:extLst>
              </p:cNvPr>
              <p:cNvSpPr txBox="1"/>
              <p:nvPr/>
            </p:nvSpPr>
            <p:spPr>
              <a:xfrm>
                <a:off x="471443" y="2555975"/>
                <a:ext cx="1870700" cy="304290"/>
              </a:xfrm>
              <a:prstGeom prst="rect">
                <a:avLst/>
              </a:prstGeom>
              <a:noFill/>
            </p:spPr>
            <p:txBody>
              <a:bodyPr wrap="none" rtlCol="0">
                <a:spAutoFit/>
              </a:bodyPr>
              <a:lstStyle/>
              <a:p>
                <a:r>
                  <a:rPr lang="en-US" sz="2000" b="1" dirty="0"/>
                  <a:t>Loader / Technician</a:t>
                </a:r>
              </a:p>
            </p:txBody>
          </p:sp>
        </p:grpSp>
        <p:grpSp>
          <p:nvGrpSpPr>
            <p:cNvPr id="26" name="Group 25">
              <a:extLst>
                <a:ext uri="{FF2B5EF4-FFF2-40B4-BE49-F238E27FC236}">
                  <a16:creationId xmlns:a16="http://schemas.microsoft.com/office/drawing/2014/main" id="{55E78731-26CC-F09B-915E-486FB046F62F}"/>
                </a:ext>
              </a:extLst>
            </p:cNvPr>
            <p:cNvGrpSpPr/>
            <p:nvPr/>
          </p:nvGrpSpPr>
          <p:grpSpPr>
            <a:xfrm>
              <a:off x="3704760" y="1216660"/>
              <a:ext cx="1097280" cy="2303760"/>
              <a:chOff x="3345941" y="1216660"/>
              <a:chExt cx="1097280" cy="2303760"/>
            </a:xfrm>
          </p:grpSpPr>
          <p:sp>
            <p:nvSpPr>
              <p:cNvPr id="29" name="Rectangle: Rounded Corners 28">
                <a:extLst>
                  <a:ext uri="{FF2B5EF4-FFF2-40B4-BE49-F238E27FC236}">
                    <a16:creationId xmlns:a16="http://schemas.microsoft.com/office/drawing/2014/main" id="{53A08DF3-5561-FB6A-042C-613F3E7EBAA4}"/>
                  </a:ext>
                </a:extLst>
              </p:cNvPr>
              <p:cNvSpPr/>
              <p:nvPr/>
            </p:nvSpPr>
            <p:spPr>
              <a:xfrm>
                <a:off x="3345941" y="1216660"/>
                <a:ext cx="1097280" cy="2303760"/>
              </a:xfrm>
              <a:prstGeom prst="roundRect">
                <a:avLst>
                  <a:gd name="adj" fmla="val 6482"/>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a:t>App</a:t>
                </a:r>
              </a:p>
            </p:txBody>
          </p:sp>
          <p:pic>
            <p:nvPicPr>
              <p:cNvPr id="30" name="Picture 29">
                <a:extLst>
                  <a:ext uri="{FF2B5EF4-FFF2-40B4-BE49-F238E27FC236}">
                    <a16:creationId xmlns:a16="http://schemas.microsoft.com/office/drawing/2014/main" id="{A2A8B096-0D6B-BCF3-37A3-9BB715EE0361}"/>
                  </a:ext>
                </a:extLst>
              </p:cNvPr>
              <p:cNvPicPr>
                <a:picLocks noChangeAspect="1"/>
              </p:cNvPicPr>
              <p:nvPr/>
            </p:nvPicPr>
            <p:blipFill>
              <a:blip r:embed="rId4">
                <a:extLst>
                  <a:ext uri="{28A0092B-C50C-407E-A947-70E740481C1C}">
                    <a14:useLocalDpi xmlns:a14="http://schemas.microsoft.com/office/drawing/2010/main" val="0"/>
                  </a:ext>
                </a:extLst>
              </a:blip>
              <a:srcRect b="6605"/>
              <a:stretch>
                <a:fillRect/>
              </a:stretch>
            </p:blipFill>
            <p:spPr>
              <a:xfrm>
                <a:off x="3377096" y="1260975"/>
                <a:ext cx="1034970" cy="2215129"/>
              </a:xfrm>
              <a:prstGeom prst="rect">
                <a:avLst/>
              </a:prstGeom>
            </p:spPr>
          </p:pic>
          <p:sp>
            <p:nvSpPr>
              <p:cNvPr id="31" name="Rectangle 30">
                <a:extLst>
                  <a:ext uri="{FF2B5EF4-FFF2-40B4-BE49-F238E27FC236}">
                    <a16:creationId xmlns:a16="http://schemas.microsoft.com/office/drawing/2014/main" id="{28B78331-99D3-9053-2812-CB8611182740}"/>
                  </a:ext>
                </a:extLst>
              </p:cNvPr>
              <p:cNvSpPr/>
              <p:nvPr/>
            </p:nvSpPr>
            <p:spPr>
              <a:xfrm>
                <a:off x="4258125" y="3290500"/>
                <a:ext cx="151220" cy="138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grpSp>
        <p:pic>
          <p:nvPicPr>
            <p:cNvPr id="27" name="Picture 26">
              <a:extLst>
                <a:ext uri="{FF2B5EF4-FFF2-40B4-BE49-F238E27FC236}">
                  <a16:creationId xmlns:a16="http://schemas.microsoft.com/office/drawing/2014/main" id="{CB7C308D-7CD0-347F-140B-11AC854F65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77971" y="1616212"/>
              <a:ext cx="2042379" cy="1135448"/>
            </a:xfrm>
            <a:prstGeom prst="rect">
              <a:avLst/>
            </a:prstGeom>
          </p:spPr>
        </p:pic>
        <p:pic>
          <p:nvPicPr>
            <p:cNvPr id="28" name="Picture 27">
              <a:extLst>
                <a:ext uri="{FF2B5EF4-FFF2-40B4-BE49-F238E27FC236}">
                  <a16:creationId xmlns:a16="http://schemas.microsoft.com/office/drawing/2014/main" id="{7A076EFC-2D03-B6AC-5C37-71D6EA855A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77971" y="3693116"/>
              <a:ext cx="2042379" cy="1135448"/>
            </a:xfrm>
            <a:prstGeom prst="rect">
              <a:avLst/>
            </a:prstGeom>
          </p:spPr>
        </p:pic>
      </p:grpSp>
    </p:spTree>
    <p:extLst>
      <p:ext uri="{BB962C8B-B14F-4D97-AF65-F5344CB8AC3E}">
        <p14:creationId xmlns:p14="http://schemas.microsoft.com/office/powerpoint/2010/main" val="793738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01488-2428-7007-8F70-87810EEAFF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A929CB2-4B66-0215-0B3C-1FA85D380241}"/>
              </a:ext>
            </a:extLst>
          </p:cNvPr>
          <p:cNvSpPr txBox="1"/>
          <p:nvPr/>
        </p:nvSpPr>
        <p:spPr>
          <a:xfrm>
            <a:off x="3483980" y="3429000"/>
            <a:ext cx="3266151" cy="369332"/>
          </a:xfrm>
          <a:prstGeom prst="rect">
            <a:avLst/>
          </a:prstGeom>
          <a:noFill/>
        </p:spPr>
        <p:txBody>
          <a:bodyPr wrap="none" rtlCol="0">
            <a:spAutoFit/>
          </a:bodyPr>
          <a:lstStyle/>
          <a:p>
            <a:r>
              <a:rPr lang="en-US" dirty="0">
                <a:solidFill>
                  <a:srgbClr val="FF0000"/>
                </a:solidFill>
              </a:rPr>
              <a:t>{Do Not Include Past this point}</a:t>
            </a:r>
          </a:p>
        </p:txBody>
      </p:sp>
    </p:spTree>
    <p:extLst>
      <p:ext uri="{BB962C8B-B14F-4D97-AF65-F5344CB8AC3E}">
        <p14:creationId xmlns:p14="http://schemas.microsoft.com/office/powerpoint/2010/main" val="2117919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187217-CF15-5AFC-4498-3681BADA0B88}"/>
              </a:ext>
            </a:extLst>
          </p:cNvPr>
          <p:cNvSpPr txBox="1"/>
          <p:nvPr/>
        </p:nvSpPr>
        <p:spPr>
          <a:xfrm>
            <a:off x="589280" y="151179"/>
            <a:ext cx="8138160" cy="6555641"/>
          </a:xfrm>
          <a:prstGeom prst="rect">
            <a:avLst/>
          </a:prstGeom>
          <a:noFill/>
        </p:spPr>
        <p:txBody>
          <a:bodyPr wrap="square">
            <a:spAutoFit/>
          </a:bodyPr>
          <a:lstStyle/>
          <a:p>
            <a:r>
              <a:rPr lang="en-US" sz="1400" dirty="0"/>
              <a:t>Reduce Call Support</a:t>
            </a:r>
          </a:p>
          <a:p>
            <a:r>
              <a:rPr lang="en-US" sz="1400" dirty="0"/>
              <a:t>Move your lock support operation to a fully secured, self-service model and restructure your cost model</a:t>
            </a:r>
          </a:p>
          <a:p>
            <a:endParaRPr lang="en-US" sz="1400" dirty="0"/>
          </a:p>
          <a:p>
            <a:r>
              <a:rPr lang="en-US" sz="1400" dirty="0"/>
              <a:t>Reduce Wait Time</a:t>
            </a:r>
          </a:p>
          <a:p>
            <a:r>
              <a:rPr lang="en-US" sz="1400" dirty="0"/>
              <a:t>Eliminate all code retrieval delays and increase the stops per day your field organization can reliably deliver</a:t>
            </a:r>
          </a:p>
          <a:p>
            <a:endParaRPr lang="en-US" sz="1400" dirty="0"/>
          </a:p>
          <a:p>
            <a:r>
              <a:rPr lang="en-US" sz="1400" dirty="0"/>
              <a:t>Reduce Downtime</a:t>
            </a:r>
          </a:p>
          <a:p>
            <a:r>
              <a:rPr lang="en-US" sz="1400" dirty="0"/>
              <a:t>Move to an enterprise solution to  increase the reliability/availability of mission-critical lock operations</a:t>
            </a:r>
          </a:p>
          <a:p>
            <a:endParaRPr lang="en-US" sz="1400" dirty="0"/>
          </a:p>
          <a:p>
            <a:r>
              <a:rPr lang="en-US" sz="1400" dirty="0"/>
              <a:t>Isolated Access </a:t>
            </a:r>
          </a:p>
          <a:p>
            <a:r>
              <a:rPr lang="en-US" sz="1400" dirty="0"/>
              <a:t>Provide code access to your lock system from outside your corporate network to further maximize security</a:t>
            </a:r>
          </a:p>
          <a:p>
            <a:endParaRPr lang="en-US" sz="1400" dirty="0"/>
          </a:p>
          <a:p>
            <a:r>
              <a:rPr lang="en-US" sz="1400" dirty="0"/>
              <a:t>Usage Restrictions</a:t>
            </a:r>
          </a:p>
          <a:p>
            <a:r>
              <a:rPr lang="en-US" sz="1400" dirty="0"/>
              <a:t>An extra layers of user restrictions based on time, lock permission, user location, lock proximity and more</a:t>
            </a:r>
          </a:p>
          <a:p>
            <a:endParaRPr lang="en-US" sz="1400" dirty="0"/>
          </a:p>
          <a:p>
            <a:r>
              <a:rPr lang="en-US" sz="1400" dirty="0"/>
              <a:t>Classes of Service</a:t>
            </a:r>
          </a:p>
          <a:p>
            <a:r>
              <a:rPr lang="en-US" sz="1400" dirty="0"/>
              <a:t>Define custom classes of service for users/groups to control who, what, where and why locks can be accessed</a:t>
            </a:r>
          </a:p>
          <a:p>
            <a:endParaRPr lang="en-US" sz="1400" dirty="0"/>
          </a:p>
          <a:p>
            <a:r>
              <a:rPr lang="en-US" sz="1400" dirty="0"/>
              <a:t>Duress Features</a:t>
            </a:r>
          </a:p>
          <a:p>
            <a:r>
              <a:rPr lang="en-US" sz="1400" dirty="0"/>
              <a:t>Introduce in-field duress signaling with multi-tiered and multi-channel alerting across your operation</a:t>
            </a:r>
          </a:p>
          <a:p>
            <a:endParaRPr lang="en-US" sz="1400" dirty="0"/>
          </a:p>
          <a:p>
            <a:r>
              <a:rPr lang="en-US" sz="1400" dirty="0"/>
              <a:t>Close Detection</a:t>
            </a:r>
          </a:p>
          <a:p>
            <a:r>
              <a:rPr lang="en-US" sz="1400" dirty="0"/>
              <a:t>Not only dispatch open codes but also know who left what lock open and dynamically reassign to close</a:t>
            </a:r>
          </a:p>
          <a:p>
            <a:endParaRPr lang="en-US" sz="1400" dirty="0"/>
          </a:p>
          <a:p>
            <a:r>
              <a:rPr lang="en-US" sz="1400" dirty="0"/>
              <a:t>Backup Channels</a:t>
            </a:r>
          </a:p>
          <a:p>
            <a:r>
              <a:rPr lang="en-US" sz="1400" dirty="0"/>
              <a:t>Set primary and backup channels for your teams to access codes no matter what situation they're in</a:t>
            </a:r>
          </a:p>
        </p:txBody>
      </p:sp>
    </p:spTree>
    <p:extLst>
      <p:ext uri="{BB962C8B-B14F-4D97-AF65-F5344CB8AC3E}">
        <p14:creationId xmlns:p14="http://schemas.microsoft.com/office/powerpoint/2010/main" val="685667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8173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31C8046D-4F9F-62E0-ADEB-2D170396C975}"/>
              </a:ext>
            </a:extLst>
          </p:cNvPr>
          <p:cNvSpPr txBox="1"/>
          <p:nvPr/>
        </p:nvSpPr>
        <p:spPr>
          <a:xfrm>
            <a:off x="965200" y="1526689"/>
            <a:ext cx="9052560" cy="3754874"/>
          </a:xfrm>
          <a:prstGeom prst="rect">
            <a:avLst/>
          </a:prstGeom>
          <a:noFill/>
        </p:spPr>
        <p:txBody>
          <a:bodyPr wrap="square">
            <a:spAutoFit/>
          </a:bodyPr>
          <a:lstStyle/>
          <a:p>
            <a:r>
              <a:rPr lang="en-US" sz="1400" dirty="0"/>
              <a:t>Cash-in-Transit Operators</a:t>
            </a:r>
          </a:p>
          <a:p>
            <a:r>
              <a:rPr lang="en-US" sz="1400" dirty="0"/>
              <a:t>Time is money in CIT, and with the help of OTC Anywhere CIT and VIT operators can eliminate the inefficiencies of carriers waiting for access to their ATMs in either an on-demand capacity or batch opening ahead of planned routes -- all to reduce the Mean Time to Replenish and thereby increase the effective number of stops per day per team.</a:t>
            </a:r>
          </a:p>
          <a:p>
            <a:endParaRPr lang="en-US" sz="1400" dirty="0"/>
          </a:p>
          <a:p>
            <a:r>
              <a:rPr lang="en-US" sz="1400" dirty="0"/>
              <a:t>ATM CIT carriers request lock open access as needed (minimizing out of truck time)</a:t>
            </a:r>
          </a:p>
          <a:p>
            <a:endParaRPr lang="en-US" sz="1400" dirty="0"/>
          </a:p>
          <a:p>
            <a:r>
              <a:rPr lang="en-US" sz="1400" dirty="0"/>
              <a:t>OTC Batch users receive pre-populated route sheets containing the open codes they need for the day (even using existing route templates)</a:t>
            </a:r>
          </a:p>
          <a:p>
            <a:endParaRPr lang="en-US" sz="1400" dirty="0"/>
          </a:p>
          <a:p>
            <a:r>
              <a:rPr lang="en-US" sz="1400" dirty="0"/>
              <a:t>Automatically detect locks left open after service completion*</a:t>
            </a:r>
          </a:p>
          <a:p>
            <a:endParaRPr lang="en-US" sz="1400" dirty="0"/>
          </a:p>
          <a:p>
            <a:r>
              <a:rPr lang="en-US" sz="1400" dirty="0"/>
              <a:t>Introduce in-field duress reporting and alerting to maximize safety </a:t>
            </a:r>
          </a:p>
          <a:p>
            <a:endParaRPr lang="en-US" sz="1400" dirty="0"/>
          </a:p>
          <a:p>
            <a:r>
              <a:rPr lang="en-US" sz="1400" dirty="0"/>
              <a:t>Dynamic lock access reassignment and full lock history tracking</a:t>
            </a:r>
          </a:p>
          <a:p>
            <a:endParaRPr lang="en-US" sz="1400" dirty="0"/>
          </a:p>
          <a:p>
            <a:r>
              <a:rPr lang="en-US" sz="1400" dirty="0"/>
              <a:t>Location &amp; Workflow driven code dispatching to minimize theft*</a:t>
            </a:r>
          </a:p>
        </p:txBody>
      </p:sp>
    </p:spTree>
    <p:extLst>
      <p:ext uri="{BB962C8B-B14F-4D97-AF65-F5344CB8AC3E}">
        <p14:creationId xmlns:p14="http://schemas.microsoft.com/office/powerpoint/2010/main" val="3271484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A2FCE-452C-1B4E-A4EC-6CCE1004F0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945EF7-4020-8BEE-A439-194E7E1CD53E}"/>
              </a:ext>
            </a:extLst>
          </p:cNvPr>
          <p:cNvSpPr txBox="1"/>
          <p:nvPr/>
        </p:nvSpPr>
        <p:spPr>
          <a:xfrm>
            <a:off x="640080" y="589280"/>
            <a:ext cx="4507772" cy="369332"/>
          </a:xfrm>
          <a:prstGeom prst="rect">
            <a:avLst/>
          </a:prstGeom>
          <a:noFill/>
        </p:spPr>
        <p:txBody>
          <a:bodyPr wrap="none" rtlCol="0">
            <a:spAutoFit/>
          </a:bodyPr>
          <a:lstStyle/>
          <a:p>
            <a:r>
              <a:rPr lang="en-US" dirty="0"/>
              <a:t>Deployment Case | ATM FLM/SLM Servicing</a:t>
            </a:r>
          </a:p>
        </p:txBody>
      </p:sp>
      <p:sp>
        <p:nvSpPr>
          <p:cNvPr id="4" name="TextBox 3">
            <a:extLst>
              <a:ext uri="{FF2B5EF4-FFF2-40B4-BE49-F238E27FC236}">
                <a16:creationId xmlns:a16="http://schemas.microsoft.com/office/drawing/2014/main" id="{A2B893CA-9CC8-1839-788D-09A13EAE145D}"/>
              </a:ext>
            </a:extLst>
          </p:cNvPr>
          <p:cNvSpPr txBox="1"/>
          <p:nvPr/>
        </p:nvSpPr>
        <p:spPr>
          <a:xfrm>
            <a:off x="1259840" y="1866265"/>
            <a:ext cx="9133840" cy="3323987"/>
          </a:xfrm>
          <a:prstGeom prst="rect">
            <a:avLst/>
          </a:prstGeom>
          <a:noFill/>
        </p:spPr>
        <p:txBody>
          <a:bodyPr wrap="square">
            <a:spAutoFit/>
          </a:bodyPr>
          <a:lstStyle/>
          <a:p>
            <a:r>
              <a:rPr lang="en-US" sz="1400" dirty="0"/>
              <a:t>Front-Line ATM Maintenance</a:t>
            </a:r>
          </a:p>
          <a:p>
            <a:r>
              <a:rPr lang="en-US" sz="1400" dirty="0"/>
              <a:t>Drastically reduce manual dispatch support costs and expensive technician wait-times with on-demand ATM lock code access to keep your customers online and within your Service Level Agreements.</a:t>
            </a:r>
          </a:p>
          <a:p>
            <a:endParaRPr lang="en-US" sz="1400" dirty="0"/>
          </a:p>
          <a:p>
            <a:r>
              <a:rPr lang="en-US" sz="1400" dirty="0"/>
              <a:t>Front-Line Maintenance technicians self-serve ATM lock codes </a:t>
            </a:r>
          </a:p>
          <a:p>
            <a:endParaRPr lang="en-US" sz="1400" dirty="0"/>
          </a:p>
          <a:p>
            <a:r>
              <a:rPr lang="en-US" sz="1400" dirty="0"/>
              <a:t>Minimize live call support coverage to just the edge cases</a:t>
            </a:r>
          </a:p>
          <a:p>
            <a:endParaRPr lang="en-US" sz="1400" dirty="0"/>
          </a:p>
          <a:p>
            <a:r>
              <a:rPr lang="en-US" sz="1400" dirty="0"/>
              <a:t>Establish primary and secondary code access channels (e.g. IVR)</a:t>
            </a:r>
          </a:p>
          <a:p>
            <a:endParaRPr lang="en-US" sz="1400" dirty="0"/>
          </a:p>
          <a:p>
            <a:r>
              <a:rPr lang="en-US" sz="1400" dirty="0"/>
              <a:t>Introduce extra security layers to further isolate/mitigate risk</a:t>
            </a:r>
          </a:p>
          <a:p>
            <a:endParaRPr lang="en-US" sz="1400" dirty="0"/>
          </a:p>
          <a:p>
            <a:r>
              <a:rPr lang="en-US" sz="1400" dirty="0"/>
              <a:t>Automatically detect and reassign "not-closed" locks</a:t>
            </a:r>
          </a:p>
          <a:p>
            <a:endParaRPr lang="en-US" sz="1400" dirty="0"/>
          </a:p>
          <a:p>
            <a:r>
              <a:rPr lang="en-US" sz="1400" dirty="0"/>
              <a:t>Dynamically dispatch codes based on location proximity*</a:t>
            </a:r>
          </a:p>
        </p:txBody>
      </p:sp>
    </p:spTree>
    <p:extLst>
      <p:ext uri="{BB962C8B-B14F-4D97-AF65-F5344CB8AC3E}">
        <p14:creationId xmlns:p14="http://schemas.microsoft.com/office/powerpoint/2010/main" val="826168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22A5AC8-109C-5664-E664-6F2A910536B1}"/>
              </a:ext>
            </a:extLst>
          </p:cNvPr>
          <p:cNvSpPr txBox="1"/>
          <p:nvPr/>
        </p:nvSpPr>
        <p:spPr>
          <a:xfrm>
            <a:off x="1463040" y="1075909"/>
            <a:ext cx="7518400" cy="3970318"/>
          </a:xfrm>
          <a:prstGeom prst="rect">
            <a:avLst/>
          </a:prstGeom>
          <a:noFill/>
        </p:spPr>
        <p:txBody>
          <a:bodyPr wrap="square">
            <a:spAutoFit/>
          </a:bodyPr>
          <a:lstStyle/>
          <a:p>
            <a:r>
              <a:rPr lang="en-US" sz="1400" dirty="0"/>
              <a:t>Centralized Route Dispatch Support</a:t>
            </a:r>
          </a:p>
          <a:p>
            <a:r>
              <a:rPr lang="en-US" sz="1400" dirty="0"/>
              <a:t>Even with users being able to securely self-serve lock codes, your ATM/Safe centric business still requires periodic manual lock support and supervisor lock/route reconciliation.  OTC Anywhere extends beyond basic lock management functions to extend core functionality to more effectively centralize route dispatch support functions that require right now access to critical lock, key and user information -- All to trim cost and increase efficiency.</a:t>
            </a:r>
          </a:p>
          <a:p>
            <a:endParaRPr lang="en-US" sz="1400" dirty="0"/>
          </a:p>
          <a:p>
            <a:r>
              <a:rPr lang="en-US" sz="1400" dirty="0"/>
              <a:t>Operationally join multiple Cencon instances into a single architecture</a:t>
            </a:r>
          </a:p>
          <a:p>
            <a:endParaRPr lang="en-US" sz="1400" dirty="0"/>
          </a:p>
          <a:p>
            <a:r>
              <a:rPr lang="en-US" sz="1400" dirty="0"/>
              <a:t>Centralize regional support resources tied to regional Cencon instances</a:t>
            </a:r>
          </a:p>
          <a:p>
            <a:endParaRPr lang="en-US" sz="1400" dirty="0"/>
          </a:p>
          <a:p>
            <a:r>
              <a:rPr lang="en-US" sz="1400" dirty="0"/>
              <a:t>Maintain detailed transactional logs on all lock support cases</a:t>
            </a:r>
          </a:p>
          <a:p>
            <a:endParaRPr lang="en-US" sz="1400" dirty="0"/>
          </a:p>
          <a:p>
            <a:r>
              <a:rPr lang="en-US" sz="1400" dirty="0"/>
              <a:t>Allow permitted supervisors to open locks on behalf of users</a:t>
            </a:r>
          </a:p>
          <a:p>
            <a:endParaRPr lang="en-US" sz="1400" dirty="0"/>
          </a:p>
          <a:p>
            <a:r>
              <a:rPr lang="en-US" sz="1400" dirty="0"/>
              <a:t>Extend code access/distribution to third party carriers and vendors*</a:t>
            </a:r>
          </a:p>
          <a:p>
            <a:endParaRPr lang="en-US" sz="1400" dirty="0"/>
          </a:p>
          <a:p>
            <a:r>
              <a:rPr lang="en-US" sz="1400" dirty="0"/>
              <a:t>Reduce time per incident and total incident volumes</a:t>
            </a:r>
          </a:p>
        </p:txBody>
      </p:sp>
    </p:spTree>
    <p:extLst>
      <p:ext uri="{BB962C8B-B14F-4D97-AF65-F5344CB8AC3E}">
        <p14:creationId xmlns:p14="http://schemas.microsoft.com/office/powerpoint/2010/main" val="4239460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B3BEA2-D688-7686-4117-2EEC3393EEC9}"/>
              </a:ext>
            </a:extLst>
          </p:cNvPr>
          <p:cNvSpPr txBox="1"/>
          <p:nvPr/>
        </p:nvSpPr>
        <p:spPr>
          <a:xfrm>
            <a:off x="2722880" y="1027787"/>
            <a:ext cx="7487920" cy="3970318"/>
          </a:xfrm>
          <a:prstGeom prst="rect">
            <a:avLst/>
          </a:prstGeom>
          <a:noFill/>
        </p:spPr>
        <p:txBody>
          <a:bodyPr wrap="square">
            <a:spAutoFit/>
          </a:bodyPr>
          <a:lstStyle/>
          <a:p>
            <a:r>
              <a:rPr lang="en-US" sz="1400" dirty="0"/>
              <a:t>Cencon Lock Management Hosting</a:t>
            </a:r>
          </a:p>
          <a:p>
            <a:r>
              <a:rPr lang="en-US" sz="1400" dirty="0"/>
              <a:t>For larger operations, with regional and national ATM support footprints we provide a fully managed, professional enterprise hosting solution for your single or multiple architecture Cencon Lock Systems to ensure it's always available, fully redundant service to your support operations</a:t>
            </a:r>
          </a:p>
          <a:p>
            <a:endParaRPr lang="en-US" sz="1400" dirty="0"/>
          </a:p>
          <a:p>
            <a:endParaRPr lang="en-US" sz="1400" dirty="0"/>
          </a:p>
          <a:p>
            <a:r>
              <a:rPr lang="en-US" sz="1400" dirty="0"/>
              <a:t>End-to-end enterprise system redundancy, failover and availability</a:t>
            </a:r>
          </a:p>
          <a:p>
            <a:endParaRPr lang="en-US" sz="1400" dirty="0"/>
          </a:p>
          <a:p>
            <a:r>
              <a:rPr lang="en-US" sz="1400" dirty="0" err="1"/>
              <a:t>Cecon</a:t>
            </a:r>
            <a:r>
              <a:rPr lang="en-US" sz="1400" dirty="0"/>
              <a:t> replication across multiple secured data centers (or premise locations)</a:t>
            </a:r>
          </a:p>
          <a:p>
            <a:endParaRPr lang="en-US" sz="1400" dirty="0"/>
          </a:p>
          <a:p>
            <a:r>
              <a:rPr lang="en-US" sz="1400" dirty="0"/>
              <a:t>Specialized support resources for lock installs, key reassigns, etc</a:t>
            </a:r>
          </a:p>
          <a:p>
            <a:endParaRPr lang="en-US" sz="1400" dirty="0"/>
          </a:p>
          <a:p>
            <a:r>
              <a:rPr lang="en-US" sz="1400" dirty="0"/>
              <a:t>Direct accessibility to deep Cencon management experience </a:t>
            </a:r>
          </a:p>
          <a:p>
            <a:endParaRPr lang="en-US" sz="1400" dirty="0"/>
          </a:p>
          <a:p>
            <a:r>
              <a:rPr lang="en-US" sz="1400" dirty="0"/>
              <a:t>Dedicated task management for any/all lock management coordination*</a:t>
            </a:r>
          </a:p>
          <a:p>
            <a:endParaRPr lang="en-US" sz="1400" dirty="0"/>
          </a:p>
          <a:p>
            <a:r>
              <a:rPr lang="en-US" sz="1400" dirty="0"/>
              <a:t>Cost effective alternative to coordinating with internal IT</a:t>
            </a:r>
          </a:p>
        </p:txBody>
      </p:sp>
    </p:spTree>
    <p:extLst>
      <p:ext uri="{BB962C8B-B14F-4D97-AF65-F5344CB8AC3E}">
        <p14:creationId xmlns:p14="http://schemas.microsoft.com/office/powerpoint/2010/main" val="51904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988E5-4EDA-EF4D-E045-E1BE17433F5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128169-E1AD-C81C-FFB5-EFC6D5D8FAEE}"/>
              </a:ext>
            </a:extLst>
          </p:cNvPr>
          <p:cNvSpPr txBox="1"/>
          <p:nvPr/>
        </p:nvSpPr>
        <p:spPr>
          <a:xfrm>
            <a:off x="640080" y="589280"/>
            <a:ext cx="5774401" cy="369332"/>
          </a:xfrm>
          <a:prstGeom prst="rect">
            <a:avLst/>
          </a:prstGeom>
          <a:noFill/>
        </p:spPr>
        <p:txBody>
          <a:bodyPr wrap="none" rtlCol="0">
            <a:spAutoFit/>
          </a:bodyPr>
          <a:lstStyle/>
          <a:p>
            <a:r>
              <a:rPr lang="en-US" dirty="0"/>
              <a:t>Deployment Case | API Integration into Operational Apps</a:t>
            </a:r>
          </a:p>
        </p:txBody>
      </p:sp>
      <p:sp>
        <p:nvSpPr>
          <p:cNvPr id="3" name="TextBox 2">
            <a:extLst>
              <a:ext uri="{FF2B5EF4-FFF2-40B4-BE49-F238E27FC236}">
                <a16:creationId xmlns:a16="http://schemas.microsoft.com/office/drawing/2014/main" id="{DED328C4-E57A-79BD-04C0-18E556E90797}"/>
              </a:ext>
            </a:extLst>
          </p:cNvPr>
          <p:cNvSpPr txBox="1"/>
          <p:nvPr/>
        </p:nvSpPr>
        <p:spPr>
          <a:xfrm>
            <a:off x="1371600" y="1534160"/>
            <a:ext cx="6283002" cy="369332"/>
          </a:xfrm>
          <a:prstGeom prst="rect">
            <a:avLst/>
          </a:prstGeom>
          <a:noFill/>
        </p:spPr>
        <p:txBody>
          <a:bodyPr wrap="none" rtlCol="0">
            <a:spAutoFit/>
          </a:bodyPr>
          <a:lstStyle/>
          <a:p>
            <a:r>
              <a:rPr lang="en-US" dirty="0"/>
              <a:t>Service Platform or logistics app – OTC Anywhere provides full</a:t>
            </a:r>
          </a:p>
        </p:txBody>
      </p:sp>
    </p:spTree>
    <p:extLst>
      <p:ext uri="{BB962C8B-B14F-4D97-AF65-F5344CB8AC3E}">
        <p14:creationId xmlns:p14="http://schemas.microsoft.com/office/powerpoint/2010/main" val="293268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2825</TotalTime>
  <Words>1474</Words>
  <Application>Microsoft Office PowerPoint</Application>
  <PresentationFormat>Widescreen</PresentationFormat>
  <Paragraphs>336</Paragraphs>
  <Slides>23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Mike Borek</dc:creator>
  <cp:lastModifiedBy>Mike Borek</cp:lastModifiedBy>
  <cp:revision>20</cp:revision>
  <dcterms:created xsi:type="dcterms:W3CDTF">2026-04-26T18:19:34Z</dcterms:created>
  <dcterms:modified xsi:type="dcterms:W3CDTF">2026-04-28T17:25:06Z</dcterms:modified>
</cp:coreProperties>
</file>